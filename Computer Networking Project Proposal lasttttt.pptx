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6"/>
  </p:notesMasterIdLst>
  <p:sldIdLst>
    <p:sldId id="256" r:id="rId2"/>
    <p:sldId id="257" r:id="rId3"/>
    <p:sldId id="264" r:id="rId4"/>
    <p:sldId id="258" r:id="rId5"/>
    <p:sldId id="275" r:id="rId6"/>
    <p:sldId id="285" r:id="rId7"/>
    <p:sldId id="286" r:id="rId8"/>
    <p:sldId id="287" r:id="rId9"/>
    <p:sldId id="266" r:id="rId10"/>
    <p:sldId id="261" r:id="rId11"/>
    <p:sldId id="276" r:id="rId12"/>
    <p:sldId id="270" r:id="rId13"/>
    <p:sldId id="283" r:id="rId14"/>
    <p:sldId id="288" r:id="rId15"/>
    <p:sldId id="291" r:id="rId16"/>
    <p:sldId id="263" r:id="rId17"/>
    <p:sldId id="281" r:id="rId18"/>
    <p:sldId id="289" r:id="rId19"/>
    <p:sldId id="303" r:id="rId20"/>
    <p:sldId id="304" r:id="rId21"/>
    <p:sldId id="305" r:id="rId22"/>
    <p:sldId id="260" r:id="rId23"/>
    <p:sldId id="292" r:id="rId24"/>
    <p:sldId id="299" r:id="rId25"/>
    <p:sldId id="300" r:id="rId26"/>
    <p:sldId id="301" r:id="rId27"/>
    <p:sldId id="294" r:id="rId28"/>
    <p:sldId id="295" r:id="rId29"/>
    <p:sldId id="298" r:id="rId30"/>
    <p:sldId id="297" r:id="rId31"/>
    <p:sldId id="296" r:id="rId32"/>
    <p:sldId id="290" r:id="rId33"/>
    <p:sldId id="302" r:id="rId34"/>
    <p:sldId id="306" r:id="rId3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7"/>
    </p:embeddedFont>
    <p:embeddedFont>
      <p:font typeface="Doppio One" panose="020B0604020202020204" charset="0"/>
      <p:regular r:id="rId38"/>
    </p:embeddedFont>
    <p:embeddedFont>
      <p:font typeface="Encode Sans" panose="020B0604020202020204" charset="0"/>
      <p:regular r:id="rId39"/>
      <p:bold r:id="rId40"/>
    </p:embeddedFont>
    <p:embeddedFont>
      <p:font typeface="Nunito Light" pitchFamily="2" charset="0"/>
      <p:regular r:id="rId41"/>
      <p: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  <p:embeddedFont>
      <p:font typeface="Poppins" panose="00000500000000000000" pitchFamily="2" charset="0"/>
      <p:regular r:id="rId47"/>
      <p:bold r:id="rId48"/>
      <p:italic r:id="rId49"/>
      <p:boldItalic r:id="rId50"/>
    </p:embeddedFont>
    <p:embeddedFont>
      <p:font typeface="Roboto Condensed Light" panose="02000000000000000000" pitchFamily="2" charset="0"/>
      <p:regular r:id="rId51"/>
      <p: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ED7FC-0E5D-80D1-DFDD-1BBC56CA801F}" v="755" dt="2025-12-20T23:54:57.806"/>
  </p1510:revLst>
</p1510:revInfo>
</file>

<file path=ppt/tableStyles.xml><?xml version="1.0" encoding="utf-8"?>
<a:tblStyleLst xmlns:a="http://schemas.openxmlformats.org/drawingml/2006/main" def="{31988482-2AD6-472E-B716-1CEAD55E5BF9}">
  <a:tblStyle styleId="{31988482-2AD6-472E-B716-1CEAD55E5B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>
        <p:scale>
          <a:sx n="66" d="100"/>
          <a:sy n="66" d="100"/>
        </p:scale>
        <p:origin x="1958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502afc7aa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502afc7aa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91225d7f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91225d7f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b00cf9bf66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b00cf9bf66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91225d7f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91225d7f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b00cf9bf66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b00cf9bf66_0_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>
          <a:extLst>
            <a:ext uri="{FF2B5EF4-FFF2-40B4-BE49-F238E27FC236}">
              <a16:creationId xmlns:a16="http://schemas.microsoft.com/office/drawing/2014/main" id="{55116516-0BCF-1411-9E74-BCABFEC1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b00cf9bf66_0_921:notes">
            <a:extLst>
              <a:ext uri="{FF2B5EF4-FFF2-40B4-BE49-F238E27FC236}">
                <a16:creationId xmlns:a16="http://schemas.microsoft.com/office/drawing/2014/main" id="{7DFAE41F-E36C-427E-2441-9ED9B3ED8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b00cf9bf66_0_921:notes">
            <a:extLst>
              <a:ext uri="{FF2B5EF4-FFF2-40B4-BE49-F238E27FC236}">
                <a16:creationId xmlns:a16="http://schemas.microsoft.com/office/drawing/2014/main" id="{A3B7589E-F708-80D0-2B9B-BBCFDB0D5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011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>
          <a:extLst>
            <a:ext uri="{FF2B5EF4-FFF2-40B4-BE49-F238E27FC236}">
              <a16:creationId xmlns:a16="http://schemas.microsoft.com/office/drawing/2014/main" id="{5DB34C91-9896-A0F2-C229-C4D1E2B3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b00cf9bf66_0_921:notes">
            <a:extLst>
              <a:ext uri="{FF2B5EF4-FFF2-40B4-BE49-F238E27FC236}">
                <a16:creationId xmlns:a16="http://schemas.microsoft.com/office/drawing/2014/main" id="{166ECC46-FC3B-0ECB-4F11-CAF5F7975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b00cf9bf66_0_921:notes">
            <a:extLst>
              <a:ext uri="{FF2B5EF4-FFF2-40B4-BE49-F238E27FC236}">
                <a16:creationId xmlns:a16="http://schemas.microsoft.com/office/drawing/2014/main" id="{5D5A4AE2-3CD5-6906-50EB-BEBE605B4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177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>
          <a:extLst>
            <a:ext uri="{FF2B5EF4-FFF2-40B4-BE49-F238E27FC236}">
              <a16:creationId xmlns:a16="http://schemas.microsoft.com/office/drawing/2014/main" id="{55EA5A1E-B824-D0AB-1272-0E195704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b00cf9bf66_0_921:notes">
            <a:extLst>
              <a:ext uri="{FF2B5EF4-FFF2-40B4-BE49-F238E27FC236}">
                <a16:creationId xmlns:a16="http://schemas.microsoft.com/office/drawing/2014/main" id="{7CEB98D0-782F-9E60-D499-5ACF1EE262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b00cf9bf66_0_921:notes">
            <a:extLst>
              <a:ext uri="{FF2B5EF4-FFF2-40B4-BE49-F238E27FC236}">
                <a16:creationId xmlns:a16="http://schemas.microsoft.com/office/drawing/2014/main" id="{F6035777-D931-7CCF-3553-F51D805BE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466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b00cf9bf6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b00cf9bf66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a91225d7f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a91225d7f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2b00cf9bf66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2b00cf9bf66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00cf9bf66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00cf9bf66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FB78C75-C80B-8731-3AD3-022EA45D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a91225d7f6_0_47:notes">
            <a:extLst>
              <a:ext uri="{FF2B5EF4-FFF2-40B4-BE49-F238E27FC236}">
                <a16:creationId xmlns:a16="http://schemas.microsoft.com/office/drawing/2014/main" id="{A1B9DE50-54A5-5278-08BB-418226B77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a91225d7f6_0_47:notes">
            <a:extLst>
              <a:ext uri="{FF2B5EF4-FFF2-40B4-BE49-F238E27FC236}">
                <a16:creationId xmlns:a16="http://schemas.microsoft.com/office/drawing/2014/main" id="{CBB4F8D2-DFBD-81E8-C9A1-B66686DC6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8716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00cf9bf6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b00cf9bf6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2F6A21C-6851-A33F-263F-9AAFA67A1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a91225d7f6_0_47:notes">
            <a:extLst>
              <a:ext uri="{FF2B5EF4-FFF2-40B4-BE49-F238E27FC236}">
                <a16:creationId xmlns:a16="http://schemas.microsoft.com/office/drawing/2014/main" id="{8C138B72-EEBB-F48D-CC5D-7DFB9BAE4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a91225d7f6_0_47:notes">
            <a:extLst>
              <a:ext uri="{FF2B5EF4-FFF2-40B4-BE49-F238E27FC236}">
                <a16:creationId xmlns:a16="http://schemas.microsoft.com/office/drawing/2014/main" id="{55C8BC86-A77F-A731-681B-F16CEC08B4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276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5AF1E034-AE9F-2765-8C6E-C78EF856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00cf9bf66_0_579:notes">
            <a:extLst>
              <a:ext uri="{FF2B5EF4-FFF2-40B4-BE49-F238E27FC236}">
                <a16:creationId xmlns:a16="http://schemas.microsoft.com/office/drawing/2014/main" id="{28953CCD-07B5-5F6D-068D-C1FC67D4C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00cf9bf66_0_579:notes">
            <a:extLst>
              <a:ext uri="{FF2B5EF4-FFF2-40B4-BE49-F238E27FC236}">
                <a16:creationId xmlns:a16="http://schemas.microsoft.com/office/drawing/2014/main" id="{0345F3C2-F9C5-3446-F0D8-4BFDFA0A1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106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89FC0F92-A538-476E-ED0A-10CA87A8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00cf9bf66_0_579:notes">
            <a:extLst>
              <a:ext uri="{FF2B5EF4-FFF2-40B4-BE49-F238E27FC236}">
                <a16:creationId xmlns:a16="http://schemas.microsoft.com/office/drawing/2014/main" id="{D79C04F2-323F-B4E1-A416-D189A5483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00cf9bf66_0_579:notes">
            <a:extLst>
              <a:ext uri="{FF2B5EF4-FFF2-40B4-BE49-F238E27FC236}">
                <a16:creationId xmlns:a16="http://schemas.microsoft.com/office/drawing/2014/main" id="{B998954F-48E8-DC34-ED0B-41CD0C6B6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704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5027046E-51A0-1CE8-8FE8-8E5DD787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00cf9bf66_0_579:notes">
            <a:extLst>
              <a:ext uri="{FF2B5EF4-FFF2-40B4-BE49-F238E27FC236}">
                <a16:creationId xmlns:a16="http://schemas.microsoft.com/office/drawing/2014/main" id="{A6C181D2-6DF1-18DE-2655-5D1620BCF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00cf9bf66_0_579:notes">
            <a:extLst>
              <a:ext uri="{FF2B5EF4-FFF2-40B4-BE49-F238E27FC236}">
                <a16:creationId xmlns:a16="http://schemas.microsoft.com/office/drawing/2014/main" id="{1C53A8AD-2AF2-AE89-2B2E-BA0D6D384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486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91225d7f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91225d7f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>
          <a:extLst>
            <a:ext uri="{FF2B5EF4-FFF2-40B4-BE49-F238E27FC236}">
              <a16:creationId xmlns:a16="http://schemas.microsoft.com/office/drawing/2014/main" id="{307EFC7C-DFEB-A8D5-868C-741A9273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b00cf9bf66_0_851:notes">
            <a:extLst>
              <a:ext uri="{FF2B5EF4-FFF2-40B4-BE49-F238E27FC236}">
                <a16:creationId xmlns:a16="http://schemas.microsoft.com/office/drawing/2014/main" id="{0CB15DE6-290B-3C92-7258-4E969E6A39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b00cf9bf66_0_851:notes">
            <a:extLst>
              <a:ext uri="{FF2B5EF4-FFF2-40B4-BE49-F238E27FC236}">
                <a16:creationId xmlns:a16="http://schemas.microsoft.com/office/drawing/2014/main" id="{988765A1-ABE6-C66A-E531-E411292B9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02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5E754754-66E2-C767-5BC8-A57E9754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91225d7f6_0_5:notes">
            <a:extLst>
              <a:ext uri="{FF2B5EF4-FFF2-40B4-BE49-F238E27FC236}">
                <a16:creationId xmlns:a16="http://schemas.microsoft.com/office/drawing/2014/main" id="{BE5CDBB7-8110-1686-2B60-08C417B98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91225d7f6_0_5:notes">
            <a:extLst>
              <a:ext uri="{FF2B5EF4-FFF2-40B4-BE49-F238E27FC236}">
                <a16:creationId xmlns:a16="http://schemas.microsoft.com/office/drawing/2014/main" id="{C485F0AD-A386-3395-D723-F9591539A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00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l="1308" r="42289"/>
          <a:stretch/>
        </p:blipFill>
        <p:spPr>
          <a:xfrm>
            <a:off x="0" y="0"/>
            <a:ext cx="5157302" cy="514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28000"/>
          </a:blip>
          <a:srcRect l="40405" t="33702" r="30010" b="6752"/>
          <a:stretch/>
        </p:blipFill>
        <p:spPr>
          <a:xfrm>
            <a:off x="6438900" y="2176200"/>
            <a:ext cx="2705098" cy="30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100" y="976688"/>
            <a:ext cx="4444200" cy="2681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08" y="3638813"/>
            <a:ext cx="4444200" cy="528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>
            <a:spLocks noGrp="1"/>
          </p:cNvSpPr>
          <p:nvPr>
            <p:ph type="pic" idx="2"/>
          </p:nvPr>
        </p:nvSpPr>
        <p:spPr>
          <a:xfrm>
            <a:off x="5157300" y="0"/>
            <a:ext cx="3986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 amt="28000"/>
          </a:blip>
          <a:srcRect l="3955" t="28334" r="57710" b="5923"/>
          <a:stretch/>
        </p:blipFill>
        <p:spPr>
          <a:xfrm>
            <a:off x="0" y="-171450"/>
            <a:ext cx="350520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l="43544" t="33702" r="14163" b="6752"/>
          <a:stretch/>
        </p:blipFill>
        <p:spPr>
          <a:xfrm>
            <a:off x="5276849" y="-109800"/>
            <a:ext cx="3867149" cy="30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403454" y="783554"/>
            <a:ext cx="4383600" cy="1626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1356946" y="783550"/>
            <a:ext cx="2046600" cy="1626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>
            <a:spLocks noGrp="1"/>
          </p:cNvSpPr>
          <p:nvPr>
            <p:ph type="pic" idx="3"/>
          </p:nvPr>
        </p:nvSpPr>
        <p:spPr>
          <a:xfrm>
            <a:off x="5" y="2967300"/>
            <a:ext cx="9144000" cy="217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flipH="1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789425"/>
            <a:ext cx="7704000" cy="27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720000" y="597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flipH="1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5151737" y="2936100"/>
            <a:ext cx="25056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486663" y="2936100"/>
            <a:ext cx="25056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486663" y="2385351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5151738" y="2385351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>
            <a:spLocks noGrp="1"/>
          </p:cNvSpPr>
          <p:nvPr>
            <p:ph type="pic" idx="5"/>
          </p:nvPr>
        </p:nvSpPr>
        <p:spPr>
          <a:xfrm>
            <a:off x="1486663" y="1509050"/>
            <a:ext cx="2505600" cy="8763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5"/>
          <p:cNvSpPr>
            <a:spLocks noGrp="1"/>
          </p:cNvSpPr>
          <p:nvPr>
            <p:ph type="pic" idx="6"/>
          </p:nvPr>
        </p:nvSpPr>
        <p:spPr>
          <a:xfrm>
            <a:off x="5151738" y="1509050"/>
            <a:ext cx="2505600" cy="876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"/>
          <p:cNvPicPr preferRelativeResize="0"/>
          <p:nvPr/>
        </p:nvPicPr>
        <p:blipFill rotWithShape="1">
          <a:blip r:embed="rId2">
            <a:alphaModFix amt="28000"/>
          </a:blip>
          <a:srcRect r="832" b="3400"/>
          <a:stretch/>
        </p:blipFill>
        <p:spPr>
          <a:xfrm flipH="1">
            <a:off x="-100" y="-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2">
            <a:alphaModFix amt="28000"/>
          </a:blip>
          <a:srcRect/>
          <a:stretch/>
        </p:blipFill>
        <p:spPr>
          <a:xfrm>
            <a:off x="247550" y="9525"/>
            <a:ext cx="89070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3790950" y="381000"/>
            <a:ext cx="49053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096200" y="791250"/>
            <a:ext cx="4294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4096200" y="20865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Open Sans"/>
              <a:buAutoNum type="arabicPeriod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>
            <a:spLocks noGrp="1"/>
          </p:cNvSpPr>
          <p:nvPr>
            <p:ph type="pic" idx="2"/>
          </p:nvPr>
        </p:nvSpPr>
        <p:spPr>
          <a:xfrm>
            <a:off x="0" y="-2250"/>
            <a:ext cx="3429000" cy="51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flipH="1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388100" y="1275900"/>
            <a:ext cx="6367800" cy="259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1"/>
          <p:cNvPicPr preferRelativeResize="0"/>
          <p:nvPr/>
        </p:nvPicPr>
        <p:blipFill rotWithShape="1">
          <a:blip r:embed="rId2">
            <a:alphaModFix amt="28000"/>
          </a:blip>
          <a:srcRect l="5619" t="33705" r="56047" b="5922"/>
          <a:stretch/>
        </p:blipFill>
        <p:spPr>
          <a:xfrm flipH="1">
            <a:off x="5638798" y="2133600"/>
            <a:ext cx="3505200" cy="310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 amt="28000"/>
          </a:blip>
          <a:srcRect l="42908" t="33702" r="27507" b="6752"/>
          <a:stretch/>
        </p:blipFill>
        <p:spPr>
          <a:xfrm flipH="1">
            <a:off x="0" y="2176200"/>
            <a:ext cx="2705098" cy="30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628900"/>
            <a:ext cx="6576000" cy="138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subTitle" idx="1"/>
          </p:nvPr>
        </p:nvSpPr>
        <p:spPr>
          <a:xfrm>
            <a:off x="1284000" y="4006725"/>
            <a:ext cx="6576000" cy="497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1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17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 amt="28000"/>
          </a:blip>
          <a:srcRect r="832" b="3400"/>
          <a:stretch/>
        </p:blipFill>
        <p:spPr>
          <a:xfrm rot="10800000">
            <a:off x="-100" y="-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_1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2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34" name="Google Shape;23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p23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853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 sz="180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7" r:id="rId8"/>
    <p:sldLayoutId id="2147483658" r:id="rId9"/>
    <p:sldLayoutId id="2147483659" r:id="rId10"/>
    <p:sldLayoutId id="2147483660" r:id="rId11"/>
    <p:sldLayoutId id="214748366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27000">
              <a:schemeClr val="dk2"/>
            </a:gs>
            <a:gs pos="100000">
              <a:schemeClr val="lt1"/>
            </a:gs>
          </a:gsLst>
          <a:lin ang="8100019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ctrTitle"/>
          </p:nvPr>
        </p:nvSpPr>
        <p:spPr>
          <a:xfrm>
            <a:off x="830532" y="1133263"/>
            <a:ext cx="4624261" cy="26184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Computer</a:t>
            </a:r>
            <a:br>
              <a:rPr lang="en" dirty="0"/>
            </a:br>
            <a:r>
              <a:rPr lang="en" dirty="0"/>
              <a:t>Networking </a:t>
            </a:r>
            <a:br>
              <a:rPr lang="en" dirty="0">
                <a:solidFill>
                  <a:srgbClr val="FFFFFF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New Technical College Campus</a:t>
            </a:r>
            <a:endParaRPr b="1" dirty="0">
              <a:solidFill>
                <a:schemeClr val="accent2"/>
              </a:solidFill>
            </a:endParaRPr>
          </a:p>
        </p:txBody>
      </p:sp>
      <p:pic>
        <p:nvPicPr>
          <p:cNvPr id="80" name="Google Shape;80;p1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9906" t="32641" r="25294"/>
          <a:stretch/>
        </p:blipFill>
        <p:spPr>
          <a:xfrm>
            <a:off x="5157300" y="0"/>
            <a:ext cx="3986698" cy="5143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idx="4294967295"/>
          </p:nvPr>
        </p:nvSpPr>
        <p:spPr>
          <a:xfrm>
            <a:off x="720000" y="597425"/>
            <a:ext cx="77040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3000" dirty="0"/>
              <a:t>About </a:t>
            </a:r>
            <a:r>
              <a:rPr lang="en" sz="3000" dirty="0">
                <a:solidFill>
                  <a:schemeClr val="accent2"/>
                </a:solidFill>
              </a:rPr>
              <a:t>Modern</a:t>
            </a:r>
            <a:r>
              <a:rPr lang="en" sz="3000" dirty="0"/>
              <a:t> </a:t>
            </a:r>
            <a:r>
              <a:rPr lang="en-US" sz="3200" dirty="0">
                <a:solidFill>
                  <a:schemeClr val="accent2"/>
                </a:solidFill>
              </a:rPr>
              <a:t>Technical College Campus</a:t>
            </a:r>
            <a:endParaRPr sz="3000"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720000" y="1789425"/>
            <a:ext cx="7704000" cy="27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new branch of the technical college is designed as a </a:t>
            </a:r>
            <a:r>
              <a:rPr lang="en-US" b="1" dirty="0"/>
              <a:t>modern, technology-driven campus</a:t>
            </a:r>
            <a:r>
              <a:rPr lang="en-US" dirty="0"/>
              <a:t> that supports </a:t>
            </a:r>
            <a:r>
              <a:rPr lang="en-US" b="1" dirty="0"/>
              <a:t>academic learning, administration, and advanced computing needs</a:t>
            </a:r>
            <a:r>
              <a:rPr lang="en-US" dirty="0"/>
              <a:t>. The campus consists of </a:t>
            </a:r>
            <a:r>
              <a:rPr lang="en-US" b="1" dirty="0"/>
              <a:t>four main buildings.</a:t>
            </a:r>
            <a:br>
              <a:rPr lang="en-US" b="1" dirty="0"/>
            </a:br>
            <a:endParaRPr lang="en-US" b="1" dirty="0"/>
          </a:p>
          <a:p>
            <a:pPr marL="152400" indent="0">
              <a:buNone/>
            </a:pPr>
            <a:br>
              <a:rPr lang="en-US" b="1" dirty="0"/>
            </a:br>
            <a:r>
              <a:rPr lang="en-US" sz="1400" dirty="0"/>
              <a:t>This technical college branch is a </a:t>
            </a:r>
            <a:r>
              <a:rPr lang="en-US" sz="1400" b="1" dirty="0"/>
              <a:t>fully integrated academic environment</a:t>
            </a:r>
            <a:r>
              <a:rPr lang="en-US" sz="1400" dirty="0"/>
              <a:t> that combines:</a:t>
            </a:r>
          </a:p>
          <a:p>
            <a:pPr marL="152400" indent="0">
              <a:buNone/>
            </a:pPr>
            <a:endParaRPr lang="en-US" sz="1400" dirty="0"/>
          </a:p>
          <a:p>
            <a:pPr marL="495300" indent="-342900">
              <a:buFont typeface="+mj-lt"/>
              <a:buAutoNum type="arabicPeriod"/>
            </a:pPr>
            <a:r>
              <a:rPr lang="en-US" sz="1400" dirty="0"/>
              <a:t>Administrative efficiency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400" dirty="0"/>
              <a:t>Practical engineering education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400" dirty="0"/>
              <a:t>Advanced computing and research</a:t>
            </a:r>
          </a:p>
          <a:p>
            <a:pPr marL="495300" indent="-342900">
              <a:buFont typeface="+mj-lt"/>
              <a:buAutoNum type="arabicPeriod"/>
            </a:pPr>
            <a:r>
              <a:rPr lang="en-US" sz="1400" dirty="0"/>
              <a:t>Rich learning resources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/>
          <p:nvPr/>
        </p:nvSpPr>
        <p:spPr>
          <a:xfrm>
            <a:off x="935713" y="23367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222575" y="23367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3519875" y="23367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4810338" y="23367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102472" y="23367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Network Design Goals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719459" y="3395014"/>
            <a:ext cx="1245600" cy="111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High availability and reliability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2011138" y="3316136"/>
            <a:ext cx="1245600" cy="1367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Secure communication between buildings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3302817" y="3268364"/>
            <a:ext cx="1245600" cy="124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High-speed access for labs</a:t>
            </a:r>
            <a:endParaRPr sz="16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4440664" y="3425985"/>
            <a:ext cx="1507221" cy="111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Easy management and monitoring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5886172" y="3395014"/>
            <a:ext cx="1245600" cy="111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Scalability for future growth</a:t>
            </a:r>
            <a:endParaRPr sz="16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3948675" y="1416850"/>
            <a:ext cx="12456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GOALS</a:t>
            </a:r>
            <a:endParaRPr sz="1800" b="1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cxnSp>
        <p:nvCxnSpPr>
          <p:cNvPr id="327" name="Google Shape;327;p25"/>
          <p:cNvCxnSpPr>
            <a:stCxn id="326" idx="1"/>
            <a:endCxn id="301" idx="0"/>
          </p:cNvCxnSpPr>
          <p:nvPr/>
        </p:nvCxnSpPr>
        <p:spPr>
          <a:xfrm flipH="1">
            <a:off x="1342275" y="1624450"/>
            <a:ext cx="2606400" cy="712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5"/>
          <p:cNvCxnSpPr>
            <a:stCxn id="326" idx="1"/>
            <a:endCxn id="302" idx="0"/>
          </p:cNvCxnSpPr>
          <p:nvPr/>
        </p:nvCxnSpPr>
        <p:spPr>
          <a:xfrm flipH="1">
            <a:off x="2628975" y="1624450"/>
            <a:ext cx="1319700" cy="712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25"/>
          <p:cNvCxnSpPr>
            <a:stCxn id="326" idx="3"/>
            <a:endCxn id="305" idx="0"/>
          </p:cNvCxnSpPr>
          <p:nvPr/>
        </p:nvCxnSpPr>
        <p:spPr>
          <a:xfrm>
            <a:off x="5194275" y="1624450"/>
            <a:ext cx="1314600" cy="7122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5"/>
          <p:cNvCxnSpPr>
            <a:stCxn id="326" idx="2"/>
            <a:endCxn id="303" idx="0"/>
          </p:cNvCxnSpPr>
          <p:nvPr/>
        </p:nvCxnSpPr>
        <p:spPr>
          <a:xfrm rot="5400000">
            <a:off x="3996675" y="1761850"/>
            <a:ext cx="504600" cy="6450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5"/>
          <p:cNvCxnSpPr>
            <a:stCxn id="326" idx="2"/>
            <a:endCxn id="304" idx="0"/>
          </p:cNvCxnSpPr>
          <p:nvPr/>
        </p:nvCxnSpPr>
        <p:spPr>
          <a:xfrm rot="-5400000" flipH="1">
            <a:off x="4641825" y="1761700"/>
            <a:ext cx="504600" cy="6453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3" name="Google Shape;333;p25"/>
          <p:cNvGrpSpPr/>
          <p:nvPr/>
        </p:nvGrpSpPr>
        <p:grpSpPr>
          <a:xfrm>
            <a:off x="3761521" y="2571867"/>
            <a:ext cx="327091" cy="322508"/>
            <a:chOff x="5352728" y="1990239"/>
            <a:chExt cx="327091" cy="322508"/>
          </a:xfrm>
        </p:grpSpPr>
        <p:sp>
          <p:nvSpPr>
            <p:cNvPr id="334" name="Google Shape;334;p25"/>
            <p:cNvSpPr/>
            <p:nvPr/>
          </p:nvSpPr>
          <p:spPr>
            <a:xfrm>
              <a:off x="5575935" y="2093297"/>
              <a:ext cx="103885" cy="217923"/>
            </a:xfrm>
            <a:custGeom>
              <a:avLst/>
              <a:gdLst/>
              <a:ahLst/>
              <a:cxnLst/>
              <a:rect l="l" t="t" r="r" b="b"/>
              <a:pathLst>
                <a:path w="3264" h="6847" extrusionOk="0">
                  <a:moveTo>
                    <a:pt x="1084" y="322"/>
                  </a:moveTo>
                  <a:cubicBezTo>
                    <a:pt x="1144" y="322"/>
                    <a:pt x="1203" y="358"/>
                    <a:pt x="1203" y="441"/>
                  </a:cubicBezTo>
                  <a:lnTo>
                    <a:pt x="1203" y="513"/>
                  </a:lnTo>
                  <a:lnTo>
                    <a:pt x="1203" y="1061"/>
                  </a:lnTo>
                  <a:cubicBezTo>
                    <a:pt x="1203" y="1156"/>
                    <a:pt x="1275" y="1227"/>
                    <a:pt x="1370" y="1227"/>
                  </a:cubicBezTo>
                  <a:cubicBezTo>
                    <a:pt x="1453" y="1227"/>
                    <a:pt x="1537" y="1156"/>
                    <a:pt x="1537" y="1061"/>
                  </a:cubicBezTo>
                  <a:lnTo>
                    <a:pt x="1537" y="537"/>
                  </a:lnTo>
                  <a:cubicBezTo>
                    <a:pt x="1549" y="513"/>
                    <a:pt x="1596" y="477"/>
                    <a:pt x="1632" y="477"/>
                  </a:cubicBezTo>
                  <a:lnTo>
                    <a:pt x="1656" y="477"/>
                  </a:lnTo>
                  <a:cubicBezTo>
                    <a:pt x="1715" y="477"/>
                    <a:pt x="1775" y="525"/>
                    <a:pt x="1775" y="596"/>
                  </a:cubicBezTo>
                  <a:lnTo>
                    <a:pt x="1775" y="632"/>
                  </a:lnTo>
                  <a:lnTo>
                    <a:pt x="1775" y="1061"/>
                  </a:lnTo>
                  <a:cubicBezTo>
                    <a:pt x="1775" y="1156"/>
                    <a:pt x="1846" y="1227"/>
                    <a:pt x="1930" y="1227"/>
                  </a:cubicBezTo>
                  <a:cubicBezTo>
                    <a:pt x="2025" y="1227"/>
                    <a:pt x="2096" y="1156"/>
                    <a:pt x="2096" y="1061"/>
                  </a:cubicBezTo>
                  <a:lnTo>
                    <a:pt x="2096" y="656"/>
                  </a:lnTo>
                  <a:cubicBezTo>
                    <a:pt x="2108" y="620"/>
                    <a:pt x="2156" y="596"/>
                    <a:pt x="2203" y="596"/>
                  </a:cubicBezTo>
                  <a:lnTo>
                    <a:pt x="2215" y="596"/>
                  </a:lnTo>
                  <a:cubicBezTo>
                    <a:pt x="2275" y="596"/>
                    <a:pt x="2334" y="644"/>
                    <a:pt x="2334" y="715"/>
                  </a:cubicBezTo>
                  <a:lnTo>
                    <a:pt x="2334" y="822"/>
                  </a:lnTo>
                  <a:lnTo>
                    <a:pt x="2334" y="1156"/>
                  </a:lnTo>
                  <a:cubicBezTo>
                    <a:pt x="2334" y="1239"/>
                    <a:pt x="2406" y="1311"/>
                    <a:pt x="2501" y="1311"/>
                  </a:cubicBezTo>
                  <a:cubicBezTo>
                    <a:pt x="2584" y="1311"/>
                    <a:pt x="2668" y="1239"/>
                    <a:pt x="2668" y="1156"/>
                  </a:cubicBezTo>
                  <a:lnTo>
                    <a:pt x="2668" y="822"/>
                  </a:lnTo>
                  <a:cubicBezTo>
                    <a:pt x="2668" y="763"/>
                    <a:pt x="2703" y="703"/>
                    <a:pt x="2787" y="703"/>
                  </a:cubicBezTo>
                  <a:lnTo>
                    <a:pt x="2799" y="703"/>
                  </a:lnTo>
                  <a:cubicBezTo>
                    <a:pt x="2858" y="703"/>
                    <a:pt x="2918" y="751"/>
                    <a:pt x="2918" y="822"/>
                  </a:cubicBezTo>
                  <a:lnTo>
                    <a:pt x="2918" y="1584"/>
                  </a:lnTo>
                  <a:lnTo>
                    <a:pt x="2918" y="1596"/>
                  </a:lnTo>
                  <a:cubicBezTo>
                    <a:pt x="2930" y="1787"/>
                    <a:pt x="2918" y="2346"/>
                    <a:pt x="2632" y="2596"/>
                  </a:cubicBezTo>
                  <a:cubicBezTo>
                    <a:pt x="2608" y="2620"/>
                    <a:pt x="2572" y="2668"/>
                    <a:pt x="2572" y="2715"/>
                  </a:cubicBezTo>
                  <a:lnTo>
                    <a:pt x="2572" y="3216"/>
                  </a:lnTo>
                  <a:lnTo>
                    <a:pt x="1025" y="3216"/>
                  </a:lnTo>
                  <a:lnTo>
                    <a:pt x="1025" y="2858"/>
                  </a:lnTo>
                  <a:cubicBezTo>
                    <a:pt x="1025" y="2823"/>
                    <a:pt x="1001" y="2763"/>
                    <a:pt x="965" y="2727"/>
                  </a:cubicBezTo>
                  <a:cubicBezTo>
                    <a:pt x="929" y="2727"/>
                    <a:pt x="394" y="2311"/>
                    <a:pt x="358" y="1870"/>
                  </a:cubicBezTo>
                  <a:cubicBezTo>
                    <a:pt x="346" y="1608"/>
                    <a:pt x="334" y="1287"/>
                    <a:pt x="417" y="1215"/>
                  </a:cubicBezTo>
                  <a:cubicBezTo>
                    <a:pt x="453" y="1189"/>
                    <a:pt x="496" y="1175"/>
                    <a:pt x="560" y="1175"/>
                  </a:cubicBezTo>
                  <a:cubicBezTo>
                    <a:pt x="581" y="1175"/>
                    <a:pt x="605" y="1177"/>
                    <a:pt x="632" y="1180"/>
                  </a:cubicBezTo>
                  <a:lnTo>
                    <a:pt x="632" y="1406"/>
                  </a:lnTo>
                  <a:cubicBezTo>
                    <a:pt x="632" y="1489"/>
                    <a:pt x="703" y="1572"/>
                    <a:pt x="787" y="1572"/>
                  </a:cubicBezTo>
                  <a:cubicBezTo>
                    <a:pt x="882" y="1572"/>
                    <a:pt x="953" y="1489"/>
                    <a:pt x="953" y="1406"/>
                  </a:cubicBezTo>
                  <a:lnTo>
                    <a:pt x="953" y="441"/>
                  </a:lnTo>
                  <a:cubicBezTo>
                    <a:pt x="953" y="382"/>
                    <a:pt x="1001" y="322"/>
                    <a:pt x="1072" y="322"/>
                  </a:cubicBezTo>
                  <a:close/>
                  <a:moveTo>
                    <a:pt x="2799" y="3537"/>
                  </a:moveTo>
                  <a:lnTo>
                    <a:pt x="2799" y="4037"/>
                  </a:lnTo>
                  <a:lnTo>
                    <a:pt x="751" y="4037"/>
                  </a:lnTo>
                  <a:lnTo>
                    <a:pt x="751" y="3537"/>
                  </a:lnTo>
                  <a:close/>
                  <a:moveTo>
                    <a:pt x="2799" y="4370"/>
                  </a:moveTo>
                  <a:lnTo>
                    <a:pt x="2799" y="6525"/>
                  </a:lnTo>
                  <a:lnTo>
                    <a:pt x="751" y="6525"/>
                  </a:lnTo>
                  <a:lnTo>
                    <a:pt x="751" y="4370"/>
                  </a:lnTo>
                  <a:close/>
                  <a:moveTo>
                    <a:pt x="1072" y="1"/>
                  </a:moveTo>
                  <a:cubicBezTo>
                    <a:pt x="834" y="1"/>
                    <a:pt x="644" y="203"/>
                    <a:pt x="644" y="429"/>
                  </a:cubicBezTo>
                  <a:lnTo>
                    <a:pt x="644" y="846"/>
                  </a:lnTo>
                  <a:cubicBezTo>
                    <a:pt x="621" y="845"/>
                    <a:pt x="600" y="844"/>
                    <a:pt x="579" y="844"/>
                  </a:cubicBezTo>
                  <a:cubicBezTo>
                    <a:pt x="433" y="844"/>
                    <a:pt x="321" y="880"/>
                    <a:pt x="227" y="953"/>
                  </a:cubicBezTo>
                  <a:cubicBezTo>
                    <a:pt x="1" y="1144"/>
                    <a:pt x="13" y="1525"/>
                    <a:pt x="48" y="1882"/>
                  </a:cubicBezTo>
                  <a:cubicBezTo>
                    <a:pt x="72" y="2370"/>
                    <a:pt x="525" y="2787"/>
                    <a:pt x="679" y="2930"/>
                  </a:cubicBezTo>
                  <a:lnTo>
                    <a:pt x="679" y="3216"/>
                  </a:lnTo>
                  <a:lnTo>
                    <a:pt x="596" y="3216"/>
                  </a:lnTo>
                  <a:cubicBezTo>
                    <a:pt x="513" y="3216"/>
                    <a:pt x="429" y="3287"/>
                    <a:pt x="429" y="3382"/>
                  </a:cubicBezTo>
                  <a:lnTo>
                    <a:pt x="429" y="4216"/>
                  </a:lnTo>
                  <a:lnTo>
                    <a:pt x="429" y="6692"/>
                  </a:lnTo>
                  <a:cubicBezTo>
                    <a:pt x="429" y="6775"/>
                    <a:pt x="513" y="6847"/>
                    <a:pt x="596" y="6847"/>
                  </a:cubicBezTo>
                  <a:lnTo>
                    <a:pt x="2977" y="6847"/>
                  </a:lnTo>
                  <a:cubicBezTo>
                    <a:pt x="3061" y="6847"/>
                    <a:pt x="3144" y="6775"/>
                    <a:pt x="3144" y="6692"/>
                  </a:cubicBezTo>
                  <a:lnTo>
                    <a:pt x="3144" y="4204"/>
                  </a:lnTo>
                  <a:lnTo>
                    <a:pt x="3144" y="3370"/>
                  </a:lnTo>
                  <a:cubicBezTo>
                    <a:pt x="3120" y="3275"/>
                    <a:pt x="3049" y="3204"/>
                    <a:pt x="2965" y="3204"/>
                  </a:cubicBezTo>
                  <a:lnTo>
                    <a:pt x="2858" y="3204"/>
                  </a:lnTo>
                  <a:lnTo>
                    <a:pt x="2858" y="2763"/>
                  </a:lnTo>
                  <a:cubicBezTo>
                    <a:pt x="3263" y="2358"/>
                    <a:pt x="3215" y="1644"/>
                    <a:pt x="3204" y="1549"/>
                  </a:cubicBezTo>
                  <a:lnTo>
                    <a:pt x="3204" y="810"/>
                  </a:lnTo>
                  <a:cubicBezTo>
                    <a:pt x="3204" y="572"/>
                    <a:pt x="3013" y="382"/>
                    <a:pt x="2763" y="382"/>
                  </a:cubicBezTo>
                  <a:lnTo>
                    <a:pt x="2751" y="382"/>
                  </a:lnTo>
                  <a:cubicBezTo>
                    <a:pt x="2680" y="382"/>
                    <a:pt x="2608" y="394"/>
                    <a:pt x="2549" y="441"/>
                  </a:cubicBezTo>
                  <a:cubicBezTo>
                    <a:pt x="2465" y="334"/>
                    <a:pt x="2334" y="275"/>
                    <a:pt x="2203" y="275"/>
                  </a:cubicBezTo>
                  <a:lnTo>
                    <a:pt x="2191" y="275"/>
                  </a:lnTo>
                  <a:cubicBezTo>
                    <a:pt x="2120" y="275"/>
                    <a:pt x="2037" y="287"/>
                    <a:pt x="1977" y="322"/>
                  </a:cubicBezTo>
                  <a:cubicBezTo>
                    <a:pt x="1906" y="227"/>
                    <a:pt x="1787" y="168"/>
                    <a:pt x="1656" y="168"/>
                  </a:cubicBezTo>
                  <a:lnTo>
                    <a:pt x="1632" y="168"/>
                  </a:lnTo>
                  <a:cubicBezTo>
                    <a:pt x="1572" y="168"/>
                    <a:pt x="1525" y="179"/>
                    <a:pt x="1453" y="203"/>
                  </a:cubicBezTo>
                  <a:cubicBezTo>
                    <a:pt x="1382" y="84"/>
                    <a:pt x="1251" y="1"/>
                    <a:pt x="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5426250" y="1990239"/>
              <a:ext cx="191029" cy="322508"/>
            </a:xfrm>
            <a:custGeom>
              <a:avLst/>
              <a:gdLst/>
              <a:ahLst/>
              <a:cxnLst/>
              <a:rect l="l" t="t" r="r" b="b"/>
              <a:pathLst>
                <a:path w="6002" h="10133" extrusionOk="0">
                  <a:moveTo>
                    <a:pt x="584" y="298"/>
                  </a:moveTo>
                  <a:lnTo>
                    <a:pt x="977" y="322"/>
                  </a:lnTo>
                  <a:lnTo>
                    <a:pt x="870" y="584"/>
                  </a:lnTo>
                  <a:lnTo>
                    <a:pt x="584" y="298"/>
                  </a:lnTo>
                  <a:close/>
                  <a:moveTo>
                    <a:pt x="1299" y="381"/>
                  </a:moveTo>
                  <a:lnTo>
                    <a:pt x="2322" y="810"/>
                  </a:lnTo>
                  <a:lnTo>
                    <a:pt x="2203" y="1239"/>
                  </a:lnTo>
                  <a:lnTo>
                    <a:pt x="1120" y="774"/>
                  </a:lnTo>
                  <a:lnTo>
                    <a:pt x="1299" y="381"/>
                  </a:lnTo>
                  <a:close/>
                  <a:moveTo>
                    <a:pt x="4739" y="1834"/>
                  </a:moveTo>
                  <a:lnTo>
                    <a:pt x="5097" y="1977"/>
                  </a:lnTo>
                  <a:lnTo>
                    <a:pt x="4918" y="2382"/>
                  </a:lnTo>
                  <a:lnTo>
                    <a:pt x="4620" y="2263"/>
                  </a:lnTo>
                  <a:cubicBezTo>
                    <a:pt x="4632" y="2251"/>
                    <a:pt x="4632" y="2227"/>
                    <a:pt x="4632" y="2227"/>
                  </a:cubicBezTo>
                  <a:lnTo>
                    <a:pt x="4739" y="1834"/>
                  </a:lnTo>
                  <a:close/>
                  <a:moveTo>
                    <a:pt x="5406" y="2108"/>
                  </a:moveTo>
                  <a:lnTo>
                    <a:pt x="5585" y="2191"/>
                  </a:lnTo>
                  <a:cubicBezTo>
                    <a:pt x="5609" y="2203"/>
                    <a:pt x="5632" y="2215"/>
                    <a:pt x="5644" y="2251"/>
                  </a:cubicBezTo>
                  <a:cubicBezTo>
                    <a:pt x="5656" y="2274"/>
                    <a:pt x="5656" y="2298"/>
                    <a:pt x="5644" y="2322"/>
                  </a:cubicBezTo>
                  <a:lnTo>
                    <a:pt x="5549" y="2524"/>
                  </a:lnTo>
                  <a:cubicBezTo>
                    <a:pt x="5537" y="2560"/>
                    <a:pt x="5525" y="2572"/>
                    <a:pt x="5490" y="2584"/>
                  </a:cubicBezTo>
                  <a:cubicBezTo>
                    <a:pt x="5478" y="2590"/>
                    <a:pt x="5463" y="2593"/>
                    <a:pt x="5449" y="2593"/>
                  </a:cubicBezTo>
                  <a:cubicBezTo>
                    <a:pt x="5436" y="2593"/>
                    <a:pt x="5424" y="2590"/>
                    <a:pt x="5418" y="2584"/>
                  </a:cubicBezTo>
                  <a:lnTo>
                    <a:pt x="5228" y="2513"/>
                  </a:lnTo>
                  <a:lnTo>
                    <a:pt x="5406" y="2108"/>
                  </a:lnTo>
                  <a:close/>
                  <a:moveTo>
                    <a:pt x="2906" y="405"/>
                  </a:moveTo>
                  <a:cubicBezTo>
                    <a:pt x="2930" y="405"/>
                    <a:pt x="2965" y="429"/>
                    <a:pt x="2977" y="441"/>
                  </a:cubicBezTo>
                  <a:cubicBezTo>
                    <a:pt x="2989" y="477"/>
                    <a:pt x="2989" y="500"/>
                    <a:pt x="2989" y="536"/>
                  </a:cubicBezTo>
                  <a:lnTo>
                    <a:pt x="2977" y="608"/>
                  </a:lnTo>
                  <a:lnTo>
                    <a:pt x="2787" y="1262"/>
                  </a:lnTo>
                  <a:cubicBezTo>
                    <a:pt x="2751" y="1358"/>
                    <a:pt x="2811" y="1441"/>
                    <a:pt x="2882" y="1453"/>
                  </a:cubicBezTo>
                  <a:lnTo>
                    <a:pt x="2930" y="1453"/>
                  </a:lnTo>
                  <a:cubicBezTo>
                    <a:pt x="3001" y="1453"/>
                    <a:pt x="3061" y="1417"/>
                    <a:pt x="3084" y="1334"/>
                  </a:cubicBezTo>
                  <a:lnTo>
                    <a:pt x="3263" y="703"/>
                  </a:lnTo>
                  <a:cubicBezTo>
                    <a:pt x="3287" y="667"/>
                    <a:pt x="3335" y="655"/>
                    <a:pt x="3382" y="655"/>
                  </a:cubicBezTo>
                  <a:lnTo>
                    <a:pt x="3394" y="655"/>
                  </a:lnTo>
                  <a:cubicBezTo>
                    <a:pt x="3418" y="655"/>
                    <a:pt x="3454" y="679"/>
                    <a:pt x="3465" y="703"/>
                  </a:cubicBezTo>
                  <a:cubicBezTo>
                    <a:pt x="3477" y="727"/>
                    <a:pt x="3477" y="762"/>
                    <a:pt x="3477" y="786"/>
                  </a:cubicBezTo>
                  <a:lnTo>
                    <a:pt x="3323" y="1358"/>
                  </a:lnTo>
                  <a:cubicBezTo>
                    <a:pt x="3287" y="1441"/>
                    <a:pt x="3346" y="1536"/>
                    <a:pt x="3418" y="1548"/>
                  </a:cubicBezTo>
                  <a:lnTo>
                    <a:pt x="3465" y="1548"/>
                  </a:lnTo>
                  <a:cubicBezTo>
                    <a:pt x="3537" y="1548"/>
                    <a:pt x="3596" y="1501"/>
                    <a:pt x="3620" y="1429"/>
                  </a:cubicBezTo>
                  <a:lnTo>
                    <a:pt x="3763" y="905"/>
                  </a:lnTo>
                  <a:cubicBezTo>
                    <a:pt x="3794" y="885"/>
                    <a:pt x="3825" y="855"/>
                    <a:pt x="3863" y="855"/>
                  </a:cubicBezTo>
                  <a:cubicBezTo>
                    <a:pt x="3869" y="855"/>
                    <a:pt x="3876" y="856"/>
                    <a:pt x="3882" y="858"/>
                  </a:cubicBezTo>
                  <a:lnTo>
                    <a:pt x="3894" y="858"/>
                  </a:lnTo>
                  <a:cubicBezTo>
                    <a:pt x="3954" y="881"/>
                    <a:pt x="4001" y="941"/>
                    <a:pt x="3989" y="1000"/>
                  </a:cubicBezTo>
                  <a:lnTo>
                    <a:pt x="3954" y="1096"/>
                  </a:lnTo>
                  <a:lnTo>
                    <a:pt x="3823" y="1536"/>
                  </a:lnTo>
                  <a:cubicBezTo>
                    <a:pt x="3799" y="1620"/>
                    <a:pt x="3835" y="1703"/>
                    <a:pt x="3930" y="1739"/>
                  </a:cubicBezTo>
                  <a:lnTo>
                    <a:pt x="3977" y="1739"/>
                  </a:lnTo>
                  <a:cubicBezTo>
                    <a:pt x="4049" y="1739"/>
                    <a:pt x="4108" y="1691"/>
                    <a:pt x="4120" y="1620"/>
                  </a:cubicBezTo>
                  <a:lnTo>
                    <a:pt x="4251" y="1167"/>
                  </a:lnTo>
                  <a:cubicBezTo>
                    <a:pt x="4272" y="1115"/>
                    <a:pt x="4320" y="1082"/>
                    <a:pt x="4371" y="1082"/>
                  </a:cubicBezTo>
                  <a:cubicBezTo>
                    <a:pt x="4379" y="1082"/>
                    <a:pt x="4386" y="1082"/>
                    <a:pt x="4394" y="1084"/>
                  </a:cubicBezTo>
                  <a:lnTo>
                    <a:pt x="4406" y="1084"/>
                  </a:lnTo>
                  <a:cubicBezTo>
                    <a:pt x="4466" y="1096"/>
                    <a:pt x="4513" y="1155"/>
                    <a:pt x="4489" y="1215"/>
                  </a:cubicBezTo>
                  <a:lnTo>
                    <a:pt x="4251" y="2084"/>
                  </a:lnTo>
                  <a:lnTo>
                    <a:pt x="4251" y="2096"/>
                  </a:lnTo>
                  <a:cubicBezTo>
                    <a:pt x="4323" y="2191"/>
                    <a:pt x="4216" y="2870"/>
                    <a:pt x="3811" y="3084"/>
                  </a:cubicBezTo>
                  <a:cubicBezTo>
                    <a:pt x="3751" y="3108"/>
                    <a:pt x="3727" y="3167"/>
                    <a:pt x="3727" y="3227"/>
                  </a:cubicBezTo>
                  <a:lnTo>
                    <a:pt x="3727" y="3715"/>
                  </a:lnTo>
                  <a:lnTo>
                    <a:pt x="2192" y="3715"/>
                  </a:lnTo>
                  <a:lnTo>
                    <a:pt x="2192" y="2941"/>
                  </a:lnTo>
                  <a:cubicBezTo>
                    <a:pt x="2192" y="2905"/>
                    <a:pt x="2180" y="2870"/>
                    <a:pt x="2144" y="2846"/>
                  </a:cubicBezTo>
                  <a:cubicBezTo>
                    <a:pt x="2144" y="2846"/>
                    <a:pt x="1715" y="2310"/>
                    <a:pt x="1787" y="1870"/>
                  </a:cubicBezTo>
                  <a:cubicBezTo>
                    <a:pt x="1822" y="1739"/>
                    <a:pt x="1834" y="1572"/>
                    <a:pt x="1870" y="1453"/>
                  </a:cubicBezTo>
                  <a:lnTo>
                    <a:pt x="2168" y="1572"/>
                  </a:lnTo>
                  <a:cubicBezTo>
                    <a:pt x="2192" y="1620"/>
                    <a:pt x="2239" y="1667"/>
                    <a:pt x="2275" y="1679"/>
                  </a:cubicBezTo>
                  <a:cubicBezTo>
                    <a:pt x="2294" y="1686"/>
                    <a:pt x="2312" y="1690"/>
                    <a:pt x="2330" y="1690"/>
                  </a:cubicBezTo>
                  <a:cubicBezTo>
                    <a:pt x="2401" y="1690"/>
                    <a:pt x="2456" y="1636"/>
                    <a:pt x="2465" y="1560"/>
                  </a:cubicBezTo>
                  <a:lnTo>
                    <a:pt x="2751" y="489"/>
                  </a:lnTo>
                  <a:cubicBezTo>
                    <a:pt x="2751" y="465"/>
                    <a:pt x="2787" y="429"/>
                    <a:pt x="2799" y="417"/>
                  </a:cubicBezTo>
                  <a:cubicBezTo>
                    <a:pt x="2834" y="405"/>
                    <a:pt x="2858" y="405"/>
                    <a:pt x="2882" y="405"/>
                  </a:cubicBezTo>
                  <a:close/>
                  <a:moveTo>
                    <a:pt x="3942" y="4048"/>
                  </a:moveTo>
                  <a:lnTo>
                    <a:pt x="3942" y="4549"/>
                  </a:lnTo>
                  <a:lnTo>
                    <a:pt x="1894" y="4549"/>
                  </a:lnTo>
                  <a:lnTo>
                    <a:pt x="1894" y="4048"/>
                  </a:lnTo>
                  <a:close/>
                  <a:moveTo>
                    <a:pt x="191" y="0"/>
                  </a:moveTo>
                  <a:cubicBezTo>
                    <a:pt x="120" y="0"/>
                    <a:pt x="60" y="24"/>
                    <a:pt x="36" y="84"/>
                  </a:cubicBezTo>
                  <a:cubicBezTo>
                    <a:pt x="1" y="143"/>
                    <a:pt x="13" y="227"/>
                    <a:pt x="60" y="262"/>
                  </a:cubicBezTo>
                  <a:lnTo>
                    <a:pt x="822" y="1012"/>
                  </a:lnTo>
                  <a:lnTo>
                    <a:pt x="834" y="1024"/>
                  </a:lnTo>
                  <a:lnTo>
                    <a:pt x="846" y="1024"/>
                  </a:lnTo>
                  <a:cubicBezTo>
                    <a:pt x="870" y="1036"/>
                    <a:pt x="894" y="1060"/>
                    <a:pt x="906" y="1060"/>
                  </a:cubicBezTo>
                  <a:lnTo>
                    <a:pt x="1596" y="1358"/>
                  </a:lnTo>
                  <a:cubicBezTo>
                    <a:pt x="1549" y="1501"/>
                    <a:pt x="1501" y="1679"/>
                    <a:pt x="1489" y="1846"/>
                  </a:cubicBezTo>
                  <a:cubicBezTo>
                    <a:pt x="1406" y="2346"/>
                    <a:pt x="1763" y="2870"/>
                    <a:pt x="1870" y="3036"/>
                  </a:cubicBezTo>
                  <a:lnTo>
                    <a:pt x="1870" y="3763"/>
                  </a:lnTo>
                  <a:lnTo>
                    <a:pt x="1739" y="3763"/>
                  </a:lnTo>
                  <a:cubicBezTo>
                    <a:pt x="1656" y="3763"/>
                    <a:pt x="1572" y="3834"/>
                    <a:pt x="1572" y="3929"/>
                  </a:cubicBezTo>
                  <a:lnTo>
                    <a:pt x="1572" y="4763"/>
                  </a:lnTo>
                  <a:lnTo>
                    <a:pt x="1572" y="9966"/>
                  </a:lnTo>
                  <a:cubicBezTo>
                    <a:pt x="1572" y="10061"/>
                    <a:pt x="1656" y="10133"/>
                    <a:pt x="1739" y="10133"/>
                  </a:cubicBezTo>
                  <a:lnTo>
                    <a:pt x="4120" y="10133"/>
                  </a:lnTo>
                  <a:cubicBezTo>
                    <a:pt x="4216" y="10133"/>
                    <a:pt x="4287" y="10061"/>
                    <a:pt x="4287" y="9966"/>
                  </a:cubicBezTo>
                  <a:lnTo>
                    <a:pt x="4287" y="5942"/>
                  </a:lnTo>
                  <a:cubicBezTo>
                    <a:pt x="4287" y="5846"/>
                    <a:pt x="4216" y="5775"/>
                    <a:pt x="4120" y="5775"/>
                  </a:cubicBezTo>
                  <a:cubicBezTo>
                    <a:pt x="4037" y="5775"/>
                    <a:pt x="3954" y="5846"/>
                    <a:pt x="3954" y="5942"/>
                  </a:cubicBezTo>
                  <a:lnTo>
                    <a:pt x="3954" y="9811"/>
                  </a:lnTo>
                  <a:lnTo>
                    <a:pt x="1906" y="9811"/>
                  </a:lnTo>
                  <a:lnTo>
                    <a:pt x="1906" y="4930"/>
                  </a:lnTo>
                  <a:lnTo>
                    <a:pt x="3954" y="4930"/>
                  </a:lnTo>
                  <a:lnTo>
                    <a:pt x="3954" y="5191"/>
                  </a:lnTo>
                  <a:lnTo>
                    <a:pt x="3954" y="5370"/>
                  </a:lnTo>
                  <a:cubicBezTo>
                    <a:pt x="3954" y="5465"/>
                    <a:pt x="4037" y="5537"/>
                    <a:pt x="4120" y="5537"/>
                  </a:cubicBezTo>
                  <a:cubicBezTo>
                    <a:pt x="4216" y="5537"/>
                    <a:pt x="4287" y="5465"/>
                    <a:pt x="4287" y="5370"/>
                  </a:cubicBezTo>
                  <a:lnTo>
                    <a:pt x="4287" y="5191"/>
                  </a:lnTo>
                  <a:lnTo>
                    <a:pt x="4287" y="4715"/>
                  </a:lnTo>
                  <a:lnTo>
                    <a:pt x="4287" y="3882"/>
                  </a:lnTo>
                  <a:cubicBezTo>
                    <a:pt x="4287" y="3787"/>
                    <a:pt x="4216" y="3715"/>
                    <a:pt x="4120" y="3715"/>
                  </a:cubicBezTo>
                  <a:lnTo>
                    <a:pt x="4049" y="3715"/>
                  </a:lnTo>
                  <a:lnTo>
                    <a:pt x="4049" y="3298"/>
                  </a:lnTo>
                  <a:cubicBezTo>
                    <a:pt x="4323" y="3120"/>
                    <a:pt x="4466" y="2810"/>
                    <a:pt x="4549" y="2572"/>
                  </a:cubicBezTo>
                  <a:lnTo>
                    <a:pt x="5299" y="2882"/>
                  </a:lnTo>
                  <a:cubicBezTo>
                    <a:pt x="5359" y="2917"/>
                    <a:pt x="5406" y="2917"/>
                    <a:pt x="5466" y="2917"/>
                  </a:cubicBezTo>
                  <a:cubicBezTo>
                    <a:pt x="5525" y="2917"/>
                    <a:pt x="5561" y="2905"/>
                    <a:pt x="5621" y="2882"/>
                  </a:cubicBezTo>
                  <a:cubicBezTo>
                    <a:pt x="5728" y="2846"/>
                    <a:pt x="5823" y="2763"/>
                    <a:pt x="5859" y="2667"/>
                  </a:cubicBezTo>
                  <a:lnTo>
                    <a:pt x="5954" y="2453"/>
                  </a:lnTo>
                  <a:cubicBezTo>
                    <a:pt x="6002" y="2346"/>
                    <a:pt x="6002" y="2227"/>
                    <a:pt x="5954" y="2132"/>
                  </a:cubicBezTo>
                  <a:cubicBezTo>
                    <a:pt x="5906" y="2024"/>
                    <a:pt x="5835" y="1929"/>
                    <a:pt x="5728" y="1893"/>
                  </a:cubicBezTo>
                  <a:lnTo>
                    <a:pt x="4847" y="1512"/>
                  </a:lnTo>
                  <a:lnTo>
                    <a:pt x="4894" y="1370"/>
                  </a:lnTo>
                  <a:cubicBezTo>
                    <a:pt x="4930" y="1251"/>
                    <a:pt x="4906" y="1131"/>
                    <a:pt x="4835" y="1036"/>
                  </a:cubicBezTo>
                  <a:cubicBezTo>
                    <a:pt x="4775" y="941"/>
                    <a:pt x="4668" y="881"/>
                    <a:pt x="4573" y="846"/>
                  </a:cubicBezTo>
                  <a:lnTo>
                    <a:pt x="4549" y="846"/>
                  </a:lnTo>
                  <a:cubicBezTo>
                    <a:pt x="4513" y="840"/>
                    <a:pt x="4478" y="837"/>
                    <a:pt x="4442" y="837"/>
                  </a:cubicBezTo>
                  <a:cubicBezTo>
                    <a:pt x="4406" y="837"/>
                    <a:pt x="4370" y="840"/>
                    <a:pt x="4335" y="846"/>
                  </a:cubicBezTo>
                  <a:cubicBezTo>
                    <a:pt x="4275" y="727"/>
                    <a:pt x="4168" y="643"/>
                    <a:pt x="4037" y="608"/>
                  </a:cubicBezTo>
                  <a:lnTo>
                    <a:pt x="4013" y="608"/>
                  </a:lnTo>
                  <a:cubicBezTo>
                    <a:pt x="3977" y="602"/>
                    <a:pt x="3942" y="599"/>
                    <a:pt x="3907" y="599"/>
                  </a:cubicBezTo>
                  <a:cubicBezTo>
                    <a:pt x="3873" y="599"/>
                    <a:pt x="3841" y="602"/>
                    <a:pt x="3811" y="608"/>
                  </a:cubicBezTo>
                  <a:cubicBezTo>
                    <a:pt x="3811" y="596"/>
                    <a:pt x="3799" y="596"/>
                    <a:pt x="3799" y="584"/>
                  </a:cubicBezTo>
                  <a:cubicBezTo>
                    <a:pt x="3739" y="477"/>
                    <a:pt x="3632" y="417"/>
                    <a:pt x="3525" y="381"/>
                  </a:cubicBezTo>
                  <a:lnTo>
                    <a:pt x="3513" y="381"/>
                  </a:lnTo>
                  <a:cubicBezTo>
                    <a:pt x="3483" y="375"/>
                    <a:pt x="3454" y="372"/>
                    <a:pt x="3424" y="372"/>
                  </a:cubicBezTo>
                  <a:cubicBezTo>
                    <a:pt x="3394" y="372"/>
                    <a:pt x="3364" y="375"/>
                    <a:pt x="3335" y="381"/>
                  </a:cubicBezTo>
                  <a:cubicBezTo>
                    <a:pt x="3323" y="358"/>
                    <a:pt x="3299" y="322"/>
                    <a:pt x="3287" y="310"/>
                  </a:cubicBezTo>
                  <a:cubicBezTo>
                    <a:pt x="3227" y="203"/>
                    <a:pt x="3120" y="143"/>
                    <a:pt x="3025" y="119"/>
                  </a:cubicBezTo>
                  <a:lnTo>
                    <a:pt x="3001" y="119"/>
                  </a:lnTo>
                  <a:cubicBezTo>
                    <a:pt x="2964" y="108"/>
                    <a:pt x="2927" y="103"/>
                    <a:pt x="2892" y="103"/>
                  </a:cubicBezTo>
                  <a:cubicBezTo>
                    <a:pt x="2812" y="103"/>
                    <a:pt x="2737" y="130"/>
                    <a:pt x="2680" y="179"/>
                  </a:cubicBezTo>
                  <a:cubicBezTo>
                    <a:pt x="2573" y="238"/>
                    <a:pt x="2513" y="346"/>
                    <a:pt x="2489" y="441"/>
                  </a:cubicBezTo>
                  <a:lnTo>
                    <a:pt x="2453" y="548"/>
                  </a:lnTo>
                  <a:lnTo>
                    <a:pt x="1322" y="72"/>
                  </a:lnTo>
                  <a:lnTo>
                    <a:pt x="1263" y="72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5352728" y="2121719"/>
              <a:ext cx="103503" cy="189501"/>
            </a:xfrm>
            <a:custGeom>
              <a:avLst/>
              <a:gdLst/>
              <a:ahLst/>
              <a:cxnLst/>
              <a:rect l="l" t="t" r="r" b="b"/>
              <a:pathLst>
                <a:path w="3252" h="5954" extrusionOk="0">
                  <a:moveTo>
                    <a:pt x="1073" y="322"/>
                  </a:moveTo>
                  <a:cubicBezTo>
                    <a:pt x="1132" y="322"/>
                    <a:pt x="1192" y="358"/>
                    <a:pt x="1192" y="441"/>
                  </a:cubicBezTo>
                  <a:lnTo>
                    <a:pt x="1192" y="513"/>
                  </a:lnTo>
                  <a:lnTo>
                    <a:pt x="1192" y="1060"/>
                  </a:lnTo>
                  <a:cubicBezTo>
                    <a:pt x="1192" y="1156"/>
                    <a:pt x="1263" y="1227"/>
                    <a:pt x="1358" y="1227"/>
                  </a:cubicBezTo>
                  <a:cubicBezTo>
                    <a:pt x="1442" y="1227"/>
                    <a:pt x="1525" y="1156"/>
                    <a:pt x="1525" y="1060"/>
                  </a:cubicBezTo>
                  <a:lnTo>
                    <a:pt x="1525" y="537"/>
                  </a:lnTo>
                  <a:cubicBezTo>
                    <a:pt x="1537" y="513"/>
                    <a:pt x="1584" y="477"/>
                    <a:pt x="1620" y="477"/>
                  </a:cubicBezTo>
                  <a:lnTo>
                    <a:pt x="1644" y="477"/>
                  </a:lnTo>
                  <a:cubicBezTo>
                    <a:pt x="1704" y="477"/>
                    <a:pt x="1763" y="525"/>
                    <a:pt x="1763" y="596"/>
                  </a:cubicBezTo>
                  <a:lnTo>
                    <a:pt x="1763" y="632"/>
                  </a:lnTo>
                  <a:lnTo>
                    <a:pt x="1763" y="1060"/>
                  </a:lnTo>
                  <a:cubicBezTo>
                    <a:pt x="1763" y="1156"/>
                    <a:pt x="1835" y="1227"/>
                    <a:pt x="1918" y="1227"/>
                  </a:cubicBezTo>
                  <a:cubicBezTo>
                    <a:pt x="2013" y="1227"/>
                    <a:pt x="2085" y="1156"/>
                    <a:pt x="2085" y="1060"/>
                  </a:cubicBezTo>
                  <a:lnTo>
                    <a:pt x="2085" y="656"/>
                  </a:lnTo>
                  <a:cubicBezTo>
                    <a:pt x="2096" y="620"/>
                    <a:pt x="2144" y="596"/>
                    <a:pt x="2192" y="596"/>
                  </a:cubicBezTo>
                  <a:lnTo>
                    <a:pt x="2204" y="596"/>
                  </a:lnTo>
                  <a:cubicBezTo>
                    <a:pt x="2263" y="596"/>
                    <a:pt x="2323" y="644"/>
                    <a:pt x="2323" y="715"/>
                  </a:cubicBezTo>
                  <a:lnTo>
                    <a:pt x="2323" y="822"/>
                  </a:lnTo>
                  <a:lnTo>
                    <a:pt x="2323" y="1156"/>
                  </a:lnTo>
                  <a:cubicBezTo>
                    <a:pt x="2323" y="1239"/>
                    <a:pt x="2394" y="1311"/>
                    <a:pt x="2489" y="1311"/>
                  </a:cubicBezTo>
                  <a:cubicBezTo>
                    <a:pt x="2573" y="1311"/>
                    <a:pt x="2656" y="1239"/>
                    <a:pt x="2656" y="1156"/>
                  </a:cubicBezTo>
                  <a:lnTo>
                    <a:pt x="2656" y="822"/>
                  </a:lnTo>
                  <a:cubicBezTo>
                    <a:pt x="2656" y="763"/>
                    <a:pt x="2692" y="703"/>
                    <a:pt x="2775" y="703"/>
                  </a:cubicBezTo>
                  <a:lnTo>
                    <a:pt x="2787" y="703"/>
                  </a:lnTo>
                  <a:cubicBezTo>
                    <a:pt x="2847" y="703"/>
                    <a:pt x="2906" y="751"/>
                    <a:pt x="2906" y="822"/>
                  </a:cubicBezTo>
                  <a:lnTo>
                    <a:pt x="2906" y="1584"/>
                  </a:lnTo>
                  <a:lnTo>
                    <a:pt x="2906" y="1596"/>
                  </a:lnTo>
                  <a:cubicBezTo>
                    <a:pt x="2894" y="1775"/>
                    <a:pt x="2882" y="2323"/>
                    <a:pt x="2597" y="2584"/>
                  </a:cubicBezTo>
                  <a:cubicBezTo>
                    <a:pt x="2561" y="2608"/>
                    <a:pt x="2537" y="2656"/>
                    <a:pt x="2537" y="2704"/>
                  </a:cubicBezTo>
                  <a:lnTo>
                    <a:pt x="2537" y="3204"/>
                  </a:lnTo>
                  <a:lnTo>
                    <a:pt x="989" y="3204"/>
                  </a:lnTo>
                  <a:lnTo>
                    <a:pt x="989" y="2846"/>
                  </a:lnTo>
                  <a:cubicBezTo>
                    <a:pt x="989" y="2799"/>
                    <a:pt x="953" y="2739"/>
                    <a:pt x="930" y="2715"/>
                  </a:cubicBezTo>
                  <a:cubicBezTo>
                    <a:pt x="775" y="2596"/>
                    <a:pt x="370" y="2227"/>
                    <a:pt x="346" y="1846"/>
                  </a:cubicBezTo>
                  <a:cubicBezTo>
                    <a:pt x="334" y="1596"/>
                    <a:pt x="311" y="1275"/>
                    <a:pt x="406" y="1191"/>
                  </a:cubicBezTo>
                  <a:cubicBezTo>
                    <a:pt x="441" y="1174"/>
                    <a:pt x="482" y="1163"/>
                    <a:pt x="539" y="1163"/>
                  </a:cubicBezTo>
                  <a:cubicBezTo>
                    <a:pt x="560" y="1163"/>
                    <a:pt x="583" y="1164"/>
                    <a:pt x="608" y="1168"/>
                  </a:cubicBezTo>
                  <a:lnTo>
                    <a:pt x="608" y="1394"/>
                  </a:lnTo>
                  <a:cubicBezTo>
                    <a:pt x="608" y="1477"/>
                    <a:pt x="692" y="1549"/>
                    <a:pt x="775" y="1549"/>
                  </a:cubicBezTo>
                  <a:cubicBezTo>
                    <a:pt x="870" y="1549"/>
                    <a:pt x="942" y="1477"/>
                    <a:pt x="942" y="1394"/>
                  </a:cubicBezTo>
                  <a:lnTo>
                    <a:pt x="942" y="441"/>
                  </a:lnTo>
                  <a:cubicBezTo>
                    <a:pt x="942" y="382"/>
                    <a:pt x="989" y="322"/>
                    <a:pt x="1061" y="322"/>
                  </a:cubicBezTo>
                  <a:close/>
                  <a:moveTo>
                    <a:pt x="2799" y="3537"/>
                  </a:moveTo>
                  <a:lnTo>
                    <a:pt x="2799" y="4037"/>
                  </a:lnTo>
                  <a:lnTo>
                    <a:pt x="751" y="4037"/>
                  </a:lnTo>
                  <a:lnTo>
                    <a:pt x="751" y="3537"/>
                  </a:lnTo>
                  <a:close/>
                  <a:moveTo>
                    <a:pt x="2799" y="4347"/>
                  </a:moveTo>
                  <a:lnTo>
                    <a:pt x="2799" y="5632"/>
                  </a:lnTo>
                  <a:lnTo>
                    <a:pt x="751" y="5632"/>
                  </a:lnTo>
                  <a:lnTo>
                    <a:pt x="751" y="4347"/>
                  </a:lnTo>
                  <a:close/>
                  <a:moveTo>
                    <a:pt x="1073" y="1"/>
                  </a:moveTo>
                  <a:cubicBezTo>
                    <a:pt x="834" y="1"/>
                    <a:pt x="644" y="203"/>
                    <a:pt x="644" y="429"/>
                  </a:cubicBezTo>
                  <a:lnTo>
                    <a:pt x="644" y="846"/>
                  </a:lnTo>
                  <a:cubicBezTo>
                    <a:pt x="622" y="845"/>
                    <a:pt x="600" y="844"/>
                    <a:pt x="579" y="844"/>
                  </a:cubicBezTo>
                  <a:cubicBezTo>
                    <a:pt x="433" y="844"/>
                    <a:pt x="321" y="880"/>
                    <a:pt x="227" y="953"/>
                  </a:cubicBezTo>
                  <a:cubicBezTo>
                    <a:pt x="1" y="1144"/>
                    <a:pt x="13" y="1525"/>
                    <a:pt x="49" y="1882"/>
                  </a:cubicBezTo>
                  <a:cubicBezTo>
                    <a:pt x="84" y="2370"/>
                    <a:pt x="525" y="2787"/>
                    <a:pt x="692" y="2930"/>
                  </a:cubicBezTo>
                  <a:lnTo>
                    <a:pt x="692" y="3216"/>
                  </a:lnTo>
                  <a:lnTo>
                    <a:pt x="596" y="3216"/>
                  </a:lnTo>
                  <a:cubicBezTo>
                    <a:pt x="513" y="3216"/>
                    <a:pt x="441" y="3287"/>
                    <a:pt x="441" y="3382"/>
                  </a:cubicBezTo>
                  <a:lnTo>
                    <a:pt x="441" y="4216"/>
                  </a:lnTo>
                  <a:lnTo>
                    <a:pt x="441" y="5799"/>
                  </a:lnTo>
                  <a:cubicBezTo>
                    <a:pt x="441" y="5882"/>
                    <a:pt x="513" y="5954"/>
                    <a:pt x="596" y="5954"/>
                  </a:cubicBezTo>
                  <a:lnTo>
                    <a:pt x="2978" y="5954"/>
                  </a:lnTo>
                  <a:cubicBezTo>
                    <a:pt x="3073" y="5954"/>
                    <a:pt x="3144" y="5882"/>
                    <a:pt x="3144" y="5799"/>
                  </a:cubicBezTo>
                  <a:lnTo>
                    <a:pt x="3144" y="4204"/>
                  </a:lnTo>
                  <a:lnTo>
                    <a:pt x="3144" y="3370"/>
                  </a:lnTo>
                  <a:cubicBezTo>
                    <a:pt x="3144" y="3275"/>
                    <a:pt x="3073" y="3204"/>
                    <a:pt x="2978" y="3204"/>
                  </a:cubicBezTo>
                  <a:lnTo>
                    <a:pt x="2882" y="3204"/>
                  </a:lnTo>
                  <a:lnTo>
                    <a:pt x="2882" y="2763"/>
                  </a:lnTo>
                  <a:cubicBezTo>
                    <a:pt x="3251" y="2370"/>
                    <a:pt x="3204" y="1644"/>
                    <a:pt x="3204" y="1549"/>
                  </a:cubicBezTo>
                  <a:lnTo>
                    <a:pt x="3204" y="810"/>
                  </a:lnTo>
                  <a:cubicBezTo>
                    <a:pt x="3204" y="572"/>
                    <a:pt x="3013" y="382"/>
                    <a:pt x="2775" y="382"/>
                  </a:cubicBezTo>
                  <a:lnTo>
                    <a:pt x="2763" y="382"/>
                  </a:lnTo>
                  <a:cubicBezTo>
                    <a:pt x="2680" y="382"/>
                    <a:pt x="2608" y="394"/>
                    <a:pt x="2549" y="441"/>
                  </a:cubicBezTo>
                  <a:cubicBezTo>
                    <a:pt x="2477" y="334"/>
                    <a:pt x="2335" y="275"/>
                    <a:pt x="2204" y="275"/>
                  </a:cubicBezTo>
                  <a:lnTo>
                    <a:pt x="2192" y="275"/>
                  </a:lnTo>
                  <a:cubicBezTo>
                    <a:pt x="2120" y="275"/>
                    <a:pt x="2049" y="287"/>
                    <a:pt x="1989" y="322"/>
                  </a:cubicBezTo>
                  <a:cubicBezTo>
                    <a:pt x="1906" y="227"/>
                    <a:pt x="1787" y="168"/>
                    <a:pt x="1656" y="168"/>
                  </a:cubicBezTo>
                  <a:lnTo>
                    <a:pt x="1644" y="168"/>
                  </a:lnTo>
                  <a:cubicBezTo>
                    <a:pt x="1584" y="168"/>
                    <a:pt x="1525" y="179"/>
                    <a:pt x="1465" y="203"/>
                  </a:cubicBezTo>
                  <a:cubicBezTo>
                    <a:pt x="1394" y="84"/>
                    <a:pt x="1251" y="1"/>
                    <a:pt x="1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25"/>
          <p:cNvGrpSpPr/>
          <p:nvPr/>
        </p:nvGrpSpPr>
        <p:grpSpPr>
          <a:xfrm>
            <a:off x="2456015" y="2562316"/>
            <a:ext cx="355863" cy="361911"/>
            <a:chOff x="7967103" y="2415041"/>
            <a:chExt cx="355863" cy="361911"/>
          </a:xfrm>
        </p:grpSpPr>
        <p:sp>
          <p:nvSpPr>
            <p:cNvPr id="338" name="Google Shape;338;p25"/>
            <p:cNvSpPr/>
            <p:nvPr/>
          </p:nvSpPr>
          <p:spPr>
            <a:xfrm>
              <a:off x="7967103" y="2584427"/>
              <a:ext cx="111810" cy="192525"/>
            </a:xfrm>
            <a:custGeom>
              <a:avLst/>
              <a:gdLst/>
              <a:ahLst/>
              <a:cxnLst/>
              <a:rect l="l" t="t" r="r" b="b"/>
              <a:pathLst>
                <a:path w="3513" h="6049" extrusionOk="0">
                  <a:moveTo>
                    <a:pt x="1738" y="346"/>
                  </a:moveTo>
                  <a:cubicBezTo>
                    <a:pt x="2036" y="346"/>
                    <a:pt x="2298" y="560"/>
                    <a:pt x="2298" y="810"/>
                  </a:cubicBezTo>
                  <a:lnTo>
                    <a:pt x="2298" y="846"/>
                  </a:lnTo>
                  <a:cubicBezTo>
                    <a:pt x="2131" y="762"/>
                    <a:pt x="1941" y="739"/>
                    <a:pt x="1738" y="739"/>
                  </a:cubicBezTo>
                  <a:cubicBezTo>
                    <a:pt x="1548" y="739"/>
                    <a:pt x="1369" y="786"/>
                    <a:pt x="1191" y="846"/>
                  </a:cubicBezTo>
                  <a:lnTo>
                    <a:pt x="1191" y="810"/>
                  </a:lnTo>
                  <a:cubicBezTo>
                    <a:pt x="1203" y="560"/>
                    <a:pt x="1441" y="346"/>
                    <a:pt x="1738" y="346"/>
                  </a:cubicBezTo>
                  <a:close/>
                  <a:moveTo>
                    <a:pt x="1738" y="1048"/>
                  </a:moveTo>
                  <a:cubicBezTo>
                    <a:pt x="2334" y="1048"/>
                    <a:pt x="2834" y="1536"/>
                    <a:pt x="2834" y="2132"/>
                  </a:cubicBezTo>
                  <a:cubicBezTo>
                    <a:pt x="2834" y="2251"/>
                    <a:pt x="2810" y="2358"/>
                    <a:pt x="2762" y="2477"/>
                  </a:cubicBezTo>
                  <a:cubicBezTo>
                    <a:pt x="2286" y="2001"/>
                    <a:pt x="1453" y="1810"/>
                    <a:pt x="1429" y="1798"/>
                  </a:cubicBezTo>
                  <a:cubicBezTo>
                    <a:pt x="1415" y="1791"/>
                    <a:pt x="1400" y="1788"/>
                    <a:pt x="1385" y="1788"/>
                  </a:cubicBezTo>
                  <a:cubicBezTo>
                    <a:pt x="1347" y="1788"/>
                    <a:pt x="1308" y="1805"/>
                    <a:pt x="1274" y="1822"/>
                  </a:cubicBezTo>
                  <a:cubicBezTo>
                    <a:pt x="1238" y="1858"/>
                    <a:pt x="1215" y="1893"/>
                    <a:pt x="1215" y="1953"/>
                  </a:cubicBezTo>
                  <a:cubicBezTo>
                    <a:pt x="1215" y="1977"/>
                    <a:pt x="1203" y="2072"/>
                    <a:pt x="1084" y="2191"/>
                  </a:cubicBezTo>
                  <a:cubicBezTo>
                    <a:pt x="1024" y="2251"/>
                    <a:pt x="1024" y="2358"/>
                    <a:pt x="1084" y="2429"/>
                  </a:cubicBezTo>
                  <a:cubicBezTo>
                    <a:pt x="1111" y="2467"/>
                    <a:pt x="1148" y="2483"/>
                    <a:pt x="1188" y="2483"/>
                  </a:cubicBezTo>
                  <a:cubicBezTo>
                    <a:pt x="1234" y="2483"/>
                    <a:pt x="1283" y="2461"/>
                    <a:pt x="1322" y="2429"/>
                  </a:cubicBezTo>
                  <a:cubicBezTo>
                    <a:pt x="1417" y="2346"/>
                    <a:pt x="1477" y="2239"/>
                    <a:pt x="1500" y="2167"/>
                  </a:cubicBezTo>
                  <a:cubicBezTo>
                    <a:pt x="1786" y="2251"/>
                    <a:pt x="2370" y="2465"/>
                    <a:pt x="2631" y="2834"/>
                  </a:cubicBezTo>
                  <a:cubicBezTo>
                    <a:pt x="2560" y="3263"/>
                    <a:pt x="2191" y="3584"/>
                    <a:pt x="1738" y="3584"/>
                  </a:cubicBezTo>
                  <a:cubicBezTo>
                    <a:pt x="1286" y="3584"/>
                    <a:pt x="893" y="3239"/>
                    <a:pt x="846" y="2774"/>
                  </a:cubicBezTo>
                  <a:cubicBezTo>
                    <a:pt x="846" y="2751"/>
                    <a:pt x="834" y="2727"/>
                    <a:pt x="822" y="2703"/>
                  </a:cubicBezTo>
                  <a:cubicBezTo>
                    <a:pt x="715" y="2536"/>
                    <a:pt x="655" y="2334"/>
                    <a:pt x="655" y="2132"/>
                  </a:cubicBezTo>
                  <a:cubicBezTo>
                    <a:pt x="655" y="1536"/>
                    <a:pt x="1143" y="1048"/>
                    <a:pt x="1738" y="1048"/>
                  </a:cubicBezTo>
                  <a:close/>
                  <a:moveTo>
                    <a:pt x="2131" y="3858"/>
                  </a:moveTo>
                  <a:lnTo>
                    <a:pt x="2131" y="4037"/>
                  </a:lnTo>
                  <a:cubicBezTo>
                    <a:pt x="2131" y="4096"/>
                    <a:pt x="2143" y="4156"/>
                    <a:pt x="2167" y="4203"/>
                  </a:cubicBezTo>
                  <a:lnTo>
                    <a:pt x="1738" y="4596"/>
                  </a:lnTo>
                  <a:lnTo>
                    <a:pt x="1346" y="4203"/>
                  </a:lnTo>
                  <a:cubicBezTo>
                    <a:pt x="1369" y="4156"/>
                    <a:pt x="1381" y="4096"/>
                    <a:pt x="1381" y="4037"/>
                  </a:cubicBezTo>
                  <a:lnTo>
                    <a:pt x="1381" y="3858"/>
                  </a:lnTo>
                  <a:cubicBezTo>
                    <a:pt x="1500" y="3894"/>
                    <a:pt x="1619" y="3917"/>
                    <a:pt x="1750" y="3917"/>
                  </a:cubicBezTo>
                  <a:cubicBezTo>
                    <a:pt x="1893" y="3917"/>
                    <a:pt x="2012" y="3906"/>
                    <a:pt x="2131" y="3858"/>
                  </a:cubicBezTo>
                  <a:close/>
                  <a:moveTo>
                    <a:pt x="1762" y="0"/>
                  </a:moveTo>
                  <a:cubicBezTo>
                    <a:pt x="1286" y="0"/>
                    <a:pt x="881" y="358"/>
                    <a:pt x="881" y="798"/>
                  </a:cubicBezTo>
                  <a:cubicBezTo>
                    <a:pt x="881" y="869"/>
                    <a:pt x="893" y="929"/>
                    <a:pt x="905" y="1000"/>
                  </a:cubicBezTo>
                  <a:cubicBezTo>
                    <a:pt x="572" y="1250"/>
                    <a:pt x="345" y="1667"/>
                    <a:pt x="345" y="2132"/>
                  </a:cubicBezTo>
                  <a:cubicBezTo>
                    <a:pt x="345" y="2382"/>
                    <a:pt x="405" y="2632"/>
                    <a:pt x="536" y="2834"/>
                  </a:cubicBezTo>
                  <a:cubicBezTo>
                    <a:pt x="584" y="3191"/>
                    <a:pt x="774" y="3489"/>
                    <a:pt x="1060" y="3679"/>
                  </a:cubicBezTo>
                  <a:lnTo>
                    <a:pt x="1060" y="4025"/>
                  </a:lnTo>
                  <a:lnTo>
                    <a:pt x="1060" y="4037"/>
                  </a:lnTo>
                  <a:lnTo>
                    <a:pt x="393" y="4382"/>
                  </a:lnTo>
                  <a:cubicBezTo>
                    <a:pt x="155" y="4501"/>
                    <a:pt x="0" y="4739"/>
                    <a:pt x="0" y="5013"/>
                  </a:cubicBezTo>
                  <a:lnTo>
                    <a:pt x="0" y="5882"/>
                  </a:lnTo>
                  <a:cubicBezTo>
                    <a:pt x="0" y="5977"/>
                    <a:pt x="72" y="6049"/>
                    <a:pt x="167" y="6049"/>
                  </a:cubicBezTo>
                  <a:cubicBezTo>
                    <a:pt x="250" y="6049"/>
                    <a:pt x="334" y="5977"/>
                    <a:pt x="334" y="5882"/>
                  </a:cubicBezTo>
                  <a:lnTo>
                    <a:pt x="334" y="5013"/>
                  </a:lnTo>
                  <a:cubicBezTo>
                    <a:pt x="334" y="4870"/>
                    <a:pt x="405" y="4739"/>
                    <a:pt x="536" y="4679"/>
                  </a:cubicBezTo>
                  <a:lnTo>
                    <a:pt x="1084" y="4394"/>
                  </a:lnTo>
                  <a:lnTo>
                    <a:pt x="1596" y="4894"/>
                  </a:lnTo>
                  <a:lnTo>
                    <a:pt x="1596" y="5882"/>
                  </a:lnTo>
                  <a:cubicBezTo>
                    <a:pt x="1596" y="5977"/>
                    <a:pt x="1667" y="6049"/>
                    <a:pt x="1762" y="6049"/>
                  </a:cubicBezTo>
                  <a:cubicBezTo>
                    <a:pt x="1846" y="6049"/>
                    <a:pt x="1917" y="5977"/>
                    <a:pt x="1917" y="5882"/>
                  </a:cubicBezTo>
                  <a:lnTo>
                    <a:pt x="1917" y="4894"/>
                  </a:lnTo>
                  <a:lnTo>
                    <a:pt x="2429" y="4394"/>
                  </a:lnTo>
                  <a:lnTo>
                    <a:pt x="2977" y="4679"/>
                  </a:lnTo>
                  <a:cubicBezTo>
                    <a:pt x="3096" y="4739"/>
                    <a:pt x="3191" y="4870"/>
                    <a:pt x="3191" y="5013"/>
                  </a:cubicBezTo>
                  <a:lnTo>
                    <a:pt x="3191" y="5882"/>
                  </a:lnTo>
                  <a:cubicBezTo>
                    <a:pt x="3191" y="5977"/>
                    <a:pt x="3262" y="6049"/>
                    <a:pt x="3346" y="6049"/>
                  </a:cubicBezTo>
                  <a:cubicBezTo>
                    <a:pt x="3441" y="6049"/>
                    <a:pt x="3513" y="5977"/>
                    <a:pt x="3513" y="5882"/>
                  </a:cubicBezTo>
                  <a:lnTo>
                    <a:pt x="3513" y="5013"/>
                  </a:lnTo>
                  <a:cubicBezTo>
                    <a:pt x="3513" y="4739"/>
                    <a:pt x="3370" y="4501"/>
                    <a:pt x="3132" y="4382"/>
                  </a:cubicBezTo>
                  <a:lnTo>
                    <a:pt x="2453" y="4037"/>
                  </a:lnTo>
                  <a:lnTo>
                    <a:pt x="2453" y="4025"/>
                  </a:lnTo>
                  <a:lnTo>
                    <a:pt x="2453" y="3679"/>
                  </a:lnTo>
                  <a:cubicBezTo>
                    <a:pt x="2739" y="3489"/>
                    <a:pt x="2929" y="3191"/>
                    <a:pt x="2977" y="2834"/>
                  </a:cubicBezTo>
                  <a:cubicBezTo>
                    <a:pt x="3096" y="2632"/>
                    <a:pt x="3167" y="2370"/>
                    <a:pt x="3167" y="2132"/>
                  </a:cubicBezTo>
                  <a:cubicBezTo>
                    <a:pt x="3167" y="1667"/>
                    <a:pt x="2953" y="1262"/>
                    <a:pt x="2608" y="1000"/>
                  </a:cubicBezTo>
                  <a:cubicBezTo>
                    <a:pt x="2620" y="941"/>
                    <a:pt x="2631" y="869"/>
                    <a:pt x="2631" y="798"/>
                  </a:cubicBezTo>
                  <a:cubicBezTo>
                    <a:pt x="2631" y="369"/>
                    <a:pt x="2239" y="0"/>
                    <a:pt x="17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7989446" y="2750789"/>
              <a:ext cx="10280" cy="26162"/>
            </a:xfrm>
            <a:custGeom>
              <a:avLst/>
              <a:gdLst/>
              <a:ahLst/>
              <a:cxnLst/>
              <a:rect l="l" t="t" r="r" b="b"/>
              <a:pathLst>
                <a:path w="323" h="822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655"/>
                  </a:lnTo>
                  <a:cubicBezTo>
                    <a:pt x="1" y="750"/>
                    <a:pt x="72" y="822"/>
                    <a:pt x="167" y="822"/>
                  </a:cubicBezTo>
                  <a:cubicBezTo>
                    <a:pt x="251" y="822"/>
                    <a:pt x="322" y="750"/>
                    <a:pt x="322" y="655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8045908" y="2750789"/>
              <a:ext cx="10662" cy="26162"/>
            </a:xfrm>
            <a:custGeom>
              <a:avLst/>
              <a:gdLst/>
              <a:ahLst/>
              <a:cxnLst/>
              <a:rect l="l" t="t" r="r" b="b"/>
              <a:pathLst>
                <a:path w="335" h="822" extrusionOk="0">
                  <a:moveTo>
                    <a:pt x="155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655"/>
                  </a:lnTo>
                  <a:cubicBezTo>
                    <a:pt x="1" y="750"/>
                    <a:pt x="72" y="822"/>
                    <a:pt x="155" y="822"/>
                  </a:cubicBezTo>
                  <a:cubicBezTo>
                    <a:pt x="251" y="822"/>
                    <a:pt x="322" y="750"/>
                    <a:pt x="322" y="655"/>
                  </a:cubicBezTo>
                  <a:lnTo>
                    <a:pt x="322" y="167"/>
                  </a:lnTo>
                  <a:cubicBezTo>
                    <a:pt x="334" y="83"/>
                    <a:pt x="263" y="0"/>
                    <a:pt x="1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8073184" y="2595789"/>
              <a:ext cx="136858" cy="112956"/>
            </a:xfrm>
            <a:custGeom>
              <a:avLst/>
              <a:gdLst/>
              <a:ahLst/>
              <a:cxnLst/>
              <a:rect l="l" t="t" r="r" b="b"/>
              <a:pathLst>
                <a:path w="4300" h="3549" extrusionOk="0">
                  <a:moveTo>
                    <a:pt x="2156" y="1"/>
                  </a:moveTo>
                  <a:cubicBezTo>
                    <a:pt x="2073" y="1"/>
                    <a:pt x="2001" y="84"/>
                    <a:pt x="2001" y="167"/>
                  </a:cubicBezTo>
                  <a:lnTo>
                    <a:pt x="2001" y="2048"/>
                  </a:lnTo>
                  <a:lnTo>
                    <a:pt x="108" y="3251"/>
                  </a:lnTo>
                  <a:cubicBezTo>
                    <a:pt x="37" y="3299"/>
                    <a:pt x="1" y="3406"/>
                    <a:pt x="60" y="3477"/>
                  </a:cubicBezTo>
                  <a:cubicBezTo>
                    <a:pt x="96" y="3525"/>
                    <a:pt x="156" y="3549"/>
                    <a:pt x="191" y="3549"/>
                  </a:cubicBezTo>
                  <a:cubicBezTo>
                    <a:pt x="227" y="3549"/>
                    <a:pt x="251" y="3537"/>
                    <a:pt x="287" y="3525"/>
                  </a:cubicBezTo>
                  <a:lnTo>
                    <a:pt x="2156" y="2334"/>
                  </a:lnTo>
                  <a:lnTo>
                    <a:pt x="4037" y="3525"/>
                  </a:lnTo>
                  <a:cubicBezTo>
                    <a:pt x="4063" y="3538"/>
                    <a:pt x="4093" y="3544"/>
                    <a:pt x="4123" y="3544"/>
                  </a:cubicBezTo>
                  <a:cubicBezTo>
                    <a:pt x="4178" y="3544"/>
                    <a:pt x="4233" y="3523"/>
                    <a:pt x="4263" y="3477"/>
                  </a:cubicBezTo>
                  <a:cubicBezTo>
                    <a:pt x="4299" y="3406"/>
                    <a:pt x="4287" y="3299"/>
                    <a:pt x="4216" y="3251"/>
                  </a:cubicBezTo>
                  <a:lnTo>
                    <a:pt x="2323" y="2048"/>
                  </a:lnTo>
                  <a:lnTo>
                    <a:pt x="2323" y="167"/>
                  </a:lnTo>
                  <a:cubicBezTo>
                    <a:pt x="2323" y="84"/>
                    <a:pt x="2251" y="1"/>
                    <a:pt x="2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8085310" y="2415041"/>
              <a:ext cx="112956" cy="169036"/>
            </a:xfrm>
            <a:custGeom>
              <a:avLst/>
              <a:gdLst/>
              <a:ahLst/>
              <a:cxnLst/>
              <a:rect l="l" t="t" r="r" b="b"/>
              <a:pathLst>
                <a:path w="3549" h="5311" extrusionOk="0">
                  <a:moveTo>
                    <a:pt x="1775" y="334"/>
                  </a:moveTo>
                  <a:cubicBezTo>
                    <a:pt x="2061" y="334"/>
                    <a:pt x="2335" y="453"/>
                    <a:pt x="2525" y="643"/>
                  </a:cubicBezTo>
                  <a:cubicBezTo>
                    <a:pt x="2716" y="846"/>
                    <a:pt x="2835" y="1119"/>
                    <a:pt x="2870" y="1417"/>
                  </a:cubicBezTo>
                  <a:cubicBezTo>
                    <a:pt x="2882" y="1524"/>
                    <a:pt x="2894" y="1655"/>
                    <a:pt x="2906" y="1822"/>
                  </a:cubicBezTo>
                  <a:cubicBezTo>
                    <a:pt x="2727" y="1500"/>
                    <a:pt x="2430" y="1286"/>
                    <a:pt x="2061" y="1167"/>
                  </a:cubicBezTo>
                  <a:cubicBezTo>
                    <a:pt x="1727" y="1060"/>
                    <a:pt x="1430" y="1060"/>
                    <a:pt x="1418" y="1060"/>
                  </a:cubicBezTo>
                  <a:cubicBezTo>
                    <a:pt x="1382" y="1060"/>
                    <a:pt x="1334" y="1072"/>
                    <a:pt x="1299" y="1108"/>
                  </a:cubicBezTo>
                  <a:lnTo>
                    <a:pt x="1001" y="1417"/>
                  </a:lnTo>
                  <a:cubicBezTo>
                    <a:pt x="942" y="1477"/>
                    <a:pt x="942" y="1596"/>
                    <a:pt x="1001" y="1655"/>
                  </a:cubicBezTo>
                  <a:cubicBezTo>
                    <a:pt x="1031" y="1685"/>
                    <a:pt x="1075" y="1700"/>
                    <a:pt x="1120" y="1700"/>
                  </a:cubicBezTo>
                  <a:cubicBezTo>
                    <a:pt x="1165" y="1700"/>
                    <a:pt x="1209" y="1685"/>
                    <a:pt x="1239" y="1655"/>
                  </a:cubicBezTo>
                  <a:lnTo>
                    <a:pt x="1501" y="1405"/>
                  </a:lnTo>
                  <a:cubicBezTo>
                    <a:pt x="1584" y="1405"/>
                    <a:pt x="1763" y="1417"/>
                    <a:pt x="1954" y="1489"/>
                  </a:cubicBezTo>
                  <a:cubicBezTo>
                    <a:pt x="2299" y="1608"/>
                    <a:pt x="2537" y="1798"/>
                    <a:pt x="2668" y="2084"/>
                  </a:cubicBezTo>
                  <a:cubicBezTo>
                    <a:pt x="2596" y="2512"/>
                    <a:pt x="2227" y="2846"/>
                    <a:pt x="1775" y="2846"/>
                  </a:cubicBezTo>
                  <a:cubicBezTo>
                    <a:pt x="1287" y="2846"/>
                    <a:pt x="870" y="2441"/>
                    <a:pt x="870" y="1941"/>
                  </a:cubicBezTo>
                  <a:cubicBezTo>
                    <a:pt x="870" y="1846"/>
                    <a:pt x="799" y="1774"/>
                    <a:pt x="703" y="1774"/>
                  </a:cubicBezTo>
                  <a:cubicBezTo>
                    <a:pt x="691" y="1774"/>
                    <a:pt x="680" y="1774"/>
                    <a:pt x="644" y="1786"/>
                  </a:cubicBezTo>
                  <a:cubicBezTo>
                    <a:pt x="668" y="1655"/>
                    <a:pt x="680" y="1524"/>
                    <a:pt x="691" y="1417"/>
                  </a:cubicBezTo>
                  <a:cubicBezTo>
                    <a:pt x="703" y="1119"/>
                    <a:pt x="822" y="834"/>
                    <a:pt x="1037" y="643"/>
                  </a:cubicBezTo>
                  <a:cubicBezTo>
                    <a:pt x="1227" y="429"/>
                    <a:pt x="1501" y="334"/>
                    <a:pt x="1775" y="334"/>
                  </a:cubicBezTo>
                  <a:close/>
                  <a:moveTo>
                    <a:pt x="572" y="2239"/>
                  </a:moveTo>
                  <a:cubicBezTo>
                    <a:pt x="644" y="2536"/>
                    <a:pt x="822" y="2786"/>
                    <a:pt x="1084" y="2965"/>
                  </a:cubicBezTo>
                  <a:lnTo>
                    <a:pt x="1084" y="3143"/>
                  </a:lnTo>
                  <a:cubicBezTo>
                    <a:pt x="763" y="3084"/>
                    <a:pt x="549" y="3013"/>
                    <a:pt x="394" y="2929"/>
                  </a:cubicBezTo>
                  <a:cubicBezTo>
                    <a:pt x="382" y="2929"/>
                    <a:pt x="394" y="2917"/>
                    <a:pt x="394" y="2917"/>
                  </a:cubicBezTo>
                  <a:cubicBezTo>
                    <a:pt x="465" y="2727"/>
                    <a:pt x="525" y="2477"/>
                    <a:pt x="572" y="2239"/>
                  </a:cubicBezTo>
                  <a:close/>
                  <a:moveTo>
                    <a:pt x="2989" y="2239"/>
                  </a:moveTo>
                  <a:cubicBezTo>
                    <a:pt x="3025" y="2489"/>
                    <a:pt x="3108" y="2727"/>
                    <a:pt x="3168" y="2917"/>
                  </a:cubicBezTo>
                  <a:lnTo>
                    <a:pt x="3168" y="2929"/>
                  </a:lnTo>
                  <a:cubicBezTo>
                    <a:pt x="3025" y="2989"/>
                    <a:pt x="2811" y="3084"/>
                    <a:pt x="2477" y="3143"/>
                  </a:cubicBezTo>
                  <a:lnTo>
                    <a:pt x="2477" y="2965"/>
                  </a:lnTo>
                  <a:cubicBezTo>
                    <a:pt x="2716" y="2798"/>
                    <a:pt x="2906" y="2536"/>
                    <a:pt x="2989" y="2239"/>
                  </a:cubicBezTo>
                  <a:close/>
                  <a:moveTo>
                    <a:pt x="2168" y="3108"/>
                  </a:moveTo>
                  <a:lnTo>
                    <a:pt x="2168" y="3286"/>
                  </a:lnTo>
                  <a:cubicBezTo>
                    <a:pt x="2168" y="3346"/>
                    <a:pt x="2180" y="3405"/>
                    <a:pt x="2204" y="3453"/>
                  </a:cubicBezTo>
                  <a:lnTo>
                    <a:pt x="2037" y="3608"/>
                  </a:lnTo>
                  <a:cubicBezTo>
                    <a:pt x="1960" y="3673"/>
                    <a:pt x="1864" y="3706"/>
                    <a:pt x="1772" y="3706"/>
                  </a:cubicBezTo>
                  <a:cubicBezTo>
                    <a:pt x="1680" y="3706"/>
                    <a:pt x="1590" y="3673"/>
                    <a:pt x="1525" y="3608"/>
                  </a:cubicBezTo>
                  <a:lnTo>
                    <a:pt x="1382" y="3453"/>
                  </a:lnTo>
                  <a:cubicBezTo>
                    <a:pt x="1406" y="3405"/>
                    <a:pt x="1418" y="3346"/>
                    <a:pt x="1418" y="3286"/>
                  </a:cubicBezTo>
                  <a:lnTo>
                    <a:pt x="1418" y="3108"/>
                  </a:lnTo>
                  <a:cubicBezTo>
                    <a:pt x="1537" y="3143"/>
                    <a:pt x="1656" y="3167"/>
                    <a:pt x="1799" y="3167"/>
                  </a:cubicBezTo>
                  <a:cubicBezTo>
                    <a:pt x="1930" y="3167"/>
                    <a:pt x="2049" y="3155"/>
                    <a:pt x="2168" y="3108"/>
                  </a:cubicBezTo>
                  <a:close/>
                  <a:moveTo>
                    <a:pt x="1775" y="0"/>
                  </a:moveTo>
                  <a:cubicBezTo>
                    <a:pt x="1037" y="0"/>
                    <a:pt x="418" y="607"/>
                    <a:pt x="358" y="1405"/>
                  </a:cubicBezTo>
                  <a:cubicBezTo>
                    <a:pt x="334" y="1727"/>
                    <a:pt x="227" y="2417"/>
                    <a:pt x="84" y="2810"/>
                  </a:cubicBezTo>
                  <a:cubicBezTo>
                    <a:pt x="25" y="2989"/>
                    <a:pt x="96" y="3167"/>
                    <a:pt x="263" y="3251"/>
                  </a:cubicBezTo>
                  <a:cubicBezTo>
                    <a:pt x="382" y="3310"/>
                    <a:pt x="572" y="3382"/>
                    <a:pt x="822" y="3441"/>
                  </a:cubicBezTo>
                  <a:lnTo>
                    <a:pt x="394" y="3644"/>
                  </a:lnTo>
                  <a:cubicBezTo>
                    <a:pt x="156" y="3763"/>
                    <a:pt x="1" y="4001"/>
                    <a:pt x="1" y="4275"/>
                  </a:cubicBezTo>
                  <a:lnTo>
                    <a:pt x="1" y="5156"/>
                  </a:lnTo>
                  <a:cubicBezTo>
                    <a:pt x="1" y="5239"/>
                    <a:pt x="84" y="5310"/>
                    <a:pt x="168" y="5310"/>
                  </a:cubicBezTo>
                  <a:cubicBezTo>
                    <a:pt x="263" y="5310"/>
                    <a:pt x="334" y="5239"/>
                    <a:pt x="334" y="5156"/>
                  </a:cubicBezTo>
                  <a:lnTo>
                    <a:pt x="334" y="4275"/>
                  </a:lnTo>
                  <a:cubicBezTo>
                    <a:pt x="334" y="4144"/>
                    <a:pt x="406" y="4001"/>
                    <a:pt x="537" y="3941"/>
                  </a:cubicBezTo>
                  <a:lnTo>
                    <a:pt x="1096" y="3667"/>
                  </a:lnTo>
                  <a:lnTo>
                    <a:pt x="1287" y="3846"/>
                  </a:lnTo>
                  <a:cubicBezTo>
                    <a:pt x="1418" y="3977"/>
                    <a:pt x="1596" y="4036"/>
                    <a:pt x="1763" y="4036"/>
                  </a:cubicBezTo>
                  <a:cubicBezTo>
                    <a:pt x="1942" y="4036"/>
                    <a:pt x="2108" y="3977"/>
                    <a:pt x="2239" y="3846"/>
                  </a:cubicBezTo>
                  <a:lnTo>
                    <a:pt x="2430" y="3667"/>
                  </a:lnTo>
                  <a:lnTo>
                    <a:pt x="2977" y="3941"/>
                  </a:lnTo>
                  <a:cubicBezTo>
                    <a:pt x="3097" y="4001"/>
                    <a:pt x="3192" y="4144"/>
                    <a:pt x="3192" y="4275"/>
                  </a:cubicBezTo>
                  <a:lnTo>
                    <a:pt x="3192" y="5156"/>
                  </a:lnTo>
                  <a:cubicBezTo>
                    <a:pt x="3192" y="5239"/>
                    <a:pt x="3263" y="5310"/>
                    <a:pt x="3358" y="5310"/>
                  </a:cubicBezTo>
                  <a:cubicBezTo>
                    <a:pt x="3442" y="5310"/>
                    <a:pt x="3513" y="5239"/>
                    <a:pt x="3513" y="5156"/>
                  </a:cubicBezTo>
                  <a:lnTo>
                    <a:pt x="3513" y="4275"/>
                  </a:lnTo>
                  <a:cubicBezTo>
                    <a:pt x="3549" y="4001"/>
                    <a:pt x="3406" y="3763"/>
                    <a:pt x="3168" y="3644"/>
                  </a:cubicBezTo>
                  <a:lnTo>
                    <a:pt x="2727" y="3441"/>
                  </a:lnTo>
                  <a:cubicBezTo>
                    <a:pt x="2989" y="3382"/>
                    <a:pt x="3180" y="3310"/>
                    <a:pt x="3299" y="3251"/>
                  </a:cubicBezTo>
                  <a:cubicBezTo>
                    <a:pt x="3454" y="3167"/>
                    <a:pt x="3537" y="2977"/>
                    <a:pt x="3478" y="2810"/>
                  </a:cubicBezTo>
                  <a:cubicBezTo>
                    <a:pt x="3323" y="2417"/>
                    <a:pt x="3204" y="1727"/>
                    <a:pt x="3192" y="1405"/>
                  </a:cubicBezTo>
                  <a:cubicBezTo>
                    <a:pt x="3132" y="596"/>
                    <a:pt x="2525" y="0"/>
                    <a:pt x="1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8108449" y="2557501"/>
              <a:ext cx="10248" cy="26194"/>
            </a:xfrm>
            <a:custGeom>
              <a:avLst/>
              <a:gdLst/>
              <a:ahLst/>
              <a:cxnLst/>
              <a:rect l="l" t="t" r="r" b="b"/>
              <a:pathLst>
                <a:path w="322" h="823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lnTo>
                    <a:pt x="0" y="656"/>
                  </a:lnTo>
                  <a:cubicBezTo>
                    <a:pt x="0" y="751"/>
                    <a:pt x="72" y="823"/>
                    <a:pt x="155" y="823"/>
                  </a:cubicBezTo>
                  <a:cubicBezTo>
                    <a:pt x="250" y="823"/>
                    <a:pt x="322" y="751"/>
                    <a:pt x="322" y="656"/>
                  </a:cubicBezTo>
                  <a:lnTo>
                    <a:pt x="322" y="168"/>
                  </a:lnTo>
                  <a:cubicBezTo>
                    <a:pt x="322" y="84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8165293" y="2557501"/>
              <a:ext cx="10248" cy="26194"/>
            </a:xfrm>
            <a:custGeom>
              <a:avLst/>
              <a:gdLst/>
              <a:ahLst/>
              <a:cxnLst/>
              <a:rect l="l" t="t" r="r" b="b"/>
              <a:pathLst>
                <a:path w="322" h="823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lnTo>
                    <a:pt x="0" y="656"/>
                  </a:lnTo>
                  <a:cubicBezTo>
                    <a:pt x="0" y="751"/>
                    <a:pt x="72" y="823"/>
                    <a:pt x="155" y="823"/>
                  </a:cubicBezTo>
                  <a:cubicBezTo>
                    <a:pt x="250" y="823"/>
                    <a:pt x="322" y="751"/>
                    <a:pt x="322" y="656"/>
                  </a:cubicBezTo>
                  <a:lnTo>
                    <a:pt x="322" y="168"/>
                  </a:lnTo>
                  <a:cubicBezTo>
                    <a:pt x="322" y="84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8238432" y="2635956"/>
              <a:ext cx="45481" cy="15946"/>
            </a:xfrm>
            <a:custGeom>
              <a:avLst/>
              <a:gdLst/>
              <a:ahLst/>
              <a:cxnLst/>
              <a:rect l="l" t="t" r="r" b="b"/>
              <a:pathLst>
                <a:path w="1429" h="501" extrusionOk="0">
                  <a:moveTo>
                    <a:pt x="167" y="1"/>
                  </a:moveTo>
                  <a:cubicBezTo>
                    <a:pt x="83" y="1"/>
                    <a:pt x="0" y="72"/>
                    <a:pt x="0" y="155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357" y="322"/>
                    <a:pt x="893" y="358"/>
                    <a:pt x="1167" y="489"/>
                  </a:cubicBezTo>
                  <a:cubicBezTo>
                    <a:pt x="1191" y="501"/>
                    <a:pt x="1214" y="501"/>
                    <a:pt x="1238" y="501"/>
                  </a:cubicBezTo>
                  <a:cubicBezTo>
                    <a:pt x="1298" y="501"/>
                    <a:pt x="1357" y="477"/>
                    <a:pt x="1393" y="417"/>
                  </a:cubicBezTo>
                  <a:cubicBezTo>
                    <a:pt x="1429" y="334"/>
                    <a:pt x="1405" y="239"/>
                    <a:pt x="1310" y="191"/>
                  </a:cubicBezTo>
                  <a:cubicBezTo>
                    <a:pt x="929" y="1"/>
                    <a:pt x="202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8198998" y="2607534"/>
              <a:ext cx="123968" cy="169036"/>
            </a:xfrm>
            <a:custGeom>
              <a:avLst/>
              <a:gdLst/>
              <a:ahLst/>
              <a:cxnLst/>
              <a:rect l="l" t="t" r="r" b="b"/>
              <a:pathLst>
                <a:path w="3895" h="5311" extrusionOk="0">
                  <a:moveTo>
                    <a:pt x="3049" y="322"/>
                  </a:moveTo>
                  <a:lnTo>
                    <a:pt x="3049" y="1025"/>
                  </a:lnTo>
                  <a:cubicBezTo>
                    <a:pt x="3049" y="1144"/>
                    <a:pt x="3013" y="1251"/>
                    <a:pt x="2965" y="1346"/>
                  </a:cubicBezTo>
                  <a:lnTo>
                    <a:pt x="2882" y="1513"/>
                  </a:lnTo>
                  <a:cubicBezTo>
                    <a:pt x="2870" y="1548"/>
                    <a:pt x="2870" y="1560"/>
                    <a:pt x="2870" y="1584"/>
                  </a:cubicBezTo>
                  <a:lnTo>
                    <a:pt x="2870" y="1941"/>
                  </a:lnTo>
                  <a:cubicBezTo>
                    <a:pt x="2870" y="2203"/>
                    <a:pt x="2763" y="2418"/>
                    <a:pt x="2596" y="2596"/>
                  </a:cubicBezTo>
                  <a:cubicBezTo>
                    <a:pt x="2406" y="2763"/>
                    <a:pt x="2168" y="2858"/>
                    <a:pt x="1930" y="2858"/>
                  </a:cubicBezTo>
                  <a:cubicBezTo>
                    <a:pt x="1453" y="2834"/>
                    <a:pt x="1049" y="2406"/>
                    <a:pt x="1049" y="1906"/>
                  </a:cubicBezTo>
                  <a:lnTo>
                    <a:pt x="1049" y="1584"/>
                  </a:lnTo>
                  <a:cubicBezTo>
                    <a:pt x="1049" y="1560"/>
                    <a:pt x="1049" y="1548"/>
                    <a:pt x="1037" y="1513"/>
                  </a:cubicBezTo>
                  <a:lnTo>
                    <a:pt x="929" y="1310"/>
                  </a:lnTo>
                  <a:cubicBezTo>
                    <a:pt x="882" y="1227"/>
                    <a:pt x="870" y="1144"/>
                    <a:pt x="870" y="1072"/>
                  </a:cubicBezTo>
                  <a:lnTo>
                    <a:pt x="870" y="1048"/>
                  </a:lnTo>
                  <a:cubicBezTo>
                    <a:pt x="870" y="655"/>
                    <a:pt x="1203" y="322"/>
                    <a:pt x="1596" y="322"/>
                  </a:cubicBezTo>
                  <a:close/>
                  <a:moveTo>
                    <a:pt x="2334" y="3132"/>
                  </a:moveTo>
                  <a:cubicBezTo>
                    <a:pt x="2334" y="3180"/>
                    <a:pt x="2346" y="3239"/>
                    <a:pt x="2358" y="3287"/>
                  </a:cubicBezTo>
                  <a:lnTo>
                    <a:pt x="2215" y="3418"/>
                  </a:lnTo>
                  <a:cubicBezTo>
                    <a:pt x="2138" y="3495"/>
                    <a:pt x="2043" y="3534"/>
                    <a:pt x="1949" y="3534"/>
                  </a:cubicBezTo>
                  <a:cubicBezTo>
                    <a:pt x="1855" y="3534"/>
                    <a:pt x="1763" y="3495"/>
                    <a:pt x="1691" y="3418"/>
                  </a:cubicBezTo>
                  <a:lnTo>
                    <a:pt x="1561" y="3287"/>
                  </a:lnTo>
                  <a:cubicBezTo>
                    <a:pt x="1572" y="3239"/>
                    <a:pt x="1584" y="3180"/>
                    <a:pt x="1584" y="3132"/>
                  </a:cubicBezTo>
                  <a:cubicBezTo>
                    <a:pt x="1691" y="3168"/>
                    <a:pt x="1811" y="3191"/>
                    <a:pt x="1918" y="3191"/>
                  </a:cubicBezTo>
                  <a:lnTo>
                    <a:pt x="1953" y="3191"/>
                  </a:lnTo>
                  <a:cubicBezTo>
                    <a:pt x="2096" y="3191"/>
                    <a:pt x="2215" y="3180"/>
                    <a:pt x="2334" y="3132"/>
                  </a:cubicBezTo>
                  <a:close/>
                  <a:moveTo>
                    <a:pt x="1584" y="1"/>
                  </a:moveTo>
                  <a:cubicBezTo>
                    <a:pt x="1001" y="1"/>
                    <a:pt x="525" y="477"/>
                    <a:pt x="525" y="1048"/>
                  </a:cubicBezTo>
                  <a:lnTo>
                    <a:pt x="525" y="1072"/>
                  </a:lnTo>
                  <a:cubicBezTo>
                    <a:pt x="525" y="1203"/>
                    <a:pt x="560" y="1334"/>
                    <a:pt x="620" y="1453"/>
                  </a:cubicBezTo>
                  <a:lnTo>
                    <a:pt x="703" y="1620"/>
                  </a:lnTo>
                  <a:lnTo>
                    <a:pt x="703" y="1882"/>
                  </a:lnTo>
                  <a:cubicBezTo>
                    <a:pt x="703" y="2322"/>
                    <a:pt x="918" y="2703"/>
                    <a:pt x="1239" y="2941"/>
                  </a:cubicBezTo>
                  <a:lnTo>
                    <a:pt x="1239" y="3096"/>
                  </a:lnTo>
                  <a:cubicBezTo>
                    <a:pt x="1239" y="3180"/>
                    <a:pt x="1180" y="3251"/>
                    <a:pt x="1108" y="3275"/>
                  </a:cubicBezTo>
                  <a:lnTo>
                    <a:pt x="513" y="3453"/>
                  </a:lnTo>
                  <a:cubicBezTo>
                    <a:pt x="215" y="3537"/>
                    <a:pt x="1" y="3811"/>
                    <a:pt x="1" y="4120"/>
                  </a:cubicBezTo>
                  <a:lnTo>
                    <a:pt x="1" y="5144"/>
                  </a:lnTo>
                  <a:cubicBezTo>
                    <a:pt x="1" y="5239"/>
                    <a:pt x="84" y="5311"/>
                    <a:pt x="167" y="5311"/>
                  </a:cubicBezTo>
                  <a:cubicBezTo>
                    <a:pt x="263" y="5311"/>
                    <a:pt x="334" y="5239"/>
                    <a:pt x="334" y="5144"/>
                  </a:cubicBezTo>
                  <a:lnTo>
                    <a:pt x="334" y="4120"/>
                  </a:lnTo>
                  <a:cubicBezTo>
                    <a:pt x="334" y="3953"/>
                    <a:pt x="441" y="3811"/>
                    <a:pt x="596" y="3763"/>
                  </a:cubicBezTo>
                  <a:lnTo>
                    <a:pt x="1191" y="3584"/>
                  </a:lnTo>
                  <a:cubicBezTo>
                    <a:pt x="1251" y="3572"/>
                    <a:pt x="1299" y="3537"/>
                    <a:pt x="1346" y="3525"/>
                  </a:cubicBezTo>
                  <a:lnTo>
                    <a:pt x="1453" y="3632"/>
                  </a:lnTo>
                  <a:cubicBezTo>
                    <a:pt x="1584" y="3763"/>
                    <a:pt x="1763" y="3834"/>
                    <a:pt x="1942" y="3834"/>
                  </a:cubicBezTo>
                  <a:cubicBezTo>
                    <a:pt x="2120" y="3834"/>
                    <a:pt x="2299" y="3763"/>
                    <a:pt x="2430" y="3632"/>
                  </a:cubicBezTo>
                  <a:lnTo>
                    <a:pt x="2537" y="3525"/>
                  </a:lnTo>
                  <a:cubicBezTo>
                    <a:pt x="2584" y="3549"/>
                    <a:pt x="2620" y="3572"/>
                    <a:pt x="2680" y="3584"/>
                  </a:cubicBezTo>
                  <a:lnTo>
                    <a:pt x="3275" y="3763"/>
                  </a:lnTo>
                  <a:cubicBezTo>
                    <a:pt x="3442" y="3811"/>
                    <a:pt x="3549" y="3953"/>
                    <a:pt x="3549" y="4120"/>
                  </a:cubicBezTo>
                  <a:lnTo>
                    <a:pt x="3549" y="5144"/>
                  </a:lnTo>
                  <a:cubicBezTo>
                    <a:pt x="3549" y="5239"/>
                    <a:pt x="3620" y="5311"/>
                    <a:pt x="3716" y="5311"/>
                  </a:cubicBezTo>
                  <a:cubicBezTo>
                    <a:pt x="3799" y="5311"/>
                    <a:pt x="3870" y="5239"/>
                    <a:pt x="3870" y="5144"/>
                  </a:cubicBezTo>
                  <a:lnTo>
                    <a:pt x="3870" y="4120"/>
                  </a:lnTo>
                  <a:cubicBezTo>
                    <a:pt x="3894" y="3822"/>
                    <a:pt x="3680" y="3549"/>
                    <a:pt x="3382" y="3465"/>
                  </a:cubicBezTo>
                  <a:lnTo>
                    <a:pt x="2787" y="3287"/>
                  </a:lnTo>
                  <a:cubicBezTo>
                    <a:pt x="2715" y="3251"/>
                    <a:pt x="2656" y="3180"/>
                    <a:pt x="2656" y="3108"/>
                  </a:cubicBezTo>
                  <a:lnTo>
                    <a:pt x="2656" y="2977"/>
                  </a:lnTo>
                  <a:cubicBezTo>
                    <a:pt x="2715" y="2930"/>
                    <a:pt x="2763" y="2882"/>
                    <a:pt x="2823" y="2834"/>
                  </a:cubicBezTo>
                  <a:cubicBezTo>
                    <a:pt x="3061" y="2596"/>
                    <a:pt x="3192" y="2287"/>
                    <a:pt x="3192" y="1941"/>
                  </a:cubicBezTo>
                  <a:lnTo>
                    <a:pt x="3192" y="1632"/>
                  </a:lnTo>
                  <a:lnTo>
                    <a:pt x="3251" y="1501"/>
                  </a:lnTo>
                  <a:cubicBezTo>
                    <a:pt x="3323" y="1346"/>
                    <a:pt x="3370" y="1191"/>
                    <a:pt x="3370" y="1025"/>
                  </a:cubicBezTo>
                  <a:lnTo>
                    <a:pt x="3370" y="155"/>
                  </a:lnTo>
                  <a:cubicBezTo>
                    <a:pt x="3370" y="72"/>
                    <a:pt x="3299" y="1"/>
                    <a:pt x="3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8222137" y="2743946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870"/>
                  </a:lnTo>
                  <a:cubicBezTo>
                    <a:pt x="0" y="965"/>
                    <a:pt x="72" y="1037"/>
                    <a:pt x="155" y="1037"/>
                  </a:cubicBezTo>
                  <a:cubicBezTo>
                    <a:pt x="250" y="1037"/>
                    <a:pt x="322" y="965"/>
                    <a:pt x="322" y="870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8289579" y="2743946"/>
              <a:ext cx="10630" cy="33005"/>
            </a:xfrm>
            <a:custGeom>
              <a:avLst/>
              <a:gdLst/>
              <a:ahLst/>
              <a:cxnLst/>
              <a:rect l="l" t="t" r="r" b="b"/>
              <a:pathLst>
                <a:path w="334" h="1037" extrusionOk="0">
                  <a:moveTo>
                    <a:pt x="167" y="1"/>
                  </a:moveTo>
                  <a:cubicBezTo>
                    <a:pt x="84" y="1"/>
                    <a:pt x="0" y="72"/>
                    <a:pt x="0" y="156"/>
                  </a:cubicBezTo>
                  <a:lnTo>
                    <a:pt x="0" y="870"/>
                  </a:lnTo>
                  <a:cubicBezTo>
                    <a:pt x="0" y="965"/>
                    <a:pt x="84" y="1037"/>
                    <a:pt x="167" y="1037"/>
                  </a:cubicBezTo>
                  <a:cubicBezTo>
                    <a:pt x="250" y="1037"/>
                    <a:pt x="334" y="965"/>
                    <a:pt x="334" y="870"/>
                  </a:cubicBezTo>
                  <a:lnTo>
                    <a:pt x="334" y="156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25"/>
          <p:cNvGrpSpPr/>
          <p:nvPr/>
        </p:nvGrpSpPr>
        <p:grpSpPr>
          <a:xfrm>
            <a:off x="1190411" y="2627365"/>
            <a:ext cx="346379" cy="264518"/>
            <a:chOff x="5776798" y="3409778"/>
            <a:chExt cx="346379" cy="264518"/>
          </a:xfrm>
        </p:grpSpPr>
        <p:sp>
          <p:nvSpPr>
            <p:cNvPr id="350" name="Google Shape;350;p25"/>
            <p:cNvSpPr/>
            <p:nvPr/>
          </p:nvSpPr>
          <p:spPr>
            <a:xfrm>
              <a:off x="5890104" y="3642055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1" y="1013"/>
                    <a:pt x="167" y="1013"/>
                  </a:cubicBezTo>
                  <a:cubicBezTo>
                    <a:pt x="250" y="1013"/>
                    <a:pt x="321" y="929"/>
                    <a:pt x="321" y="846"/>
                  </a:cubicBezTo>
                  <a:lnTo>
                    <a:pt x="321" y="143"/>
                  </a:lnTo>
                  <a:cubicBezTo>
                    <a:pt x="321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5998094" y="3642055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846"/>
                  </a:lnTo>
                  <a:cubicBezTo>
                    <a:pt x="0" y="929"/>
                    <a:pt x="72" y="1013"/>
                    <a:pt x="167" y="1013"/>
                  </a:cubicBezTo>
                  <a:cubicBezTo>
                    <a:pt x="250" y="1013"/>
                    <a:pt x="322" y="929"/>
                    <a:pt x="322" y="846"/>
                  </a:cubicBezTo>
                  <a:lnTo>
                    <a:pt x="322" y="143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5814673" y="3528367"/>
              <a:ext cx="43222" cy="15564"/>
            </a:xfrm>
            <a:custGeom>
              <a:avLst/>
              <a:gdLst/>
              <a:ahLst/>
              <a:cxnLst/>
              <a:rect l="l" t="t" r="r" b="b"/>
              <a:pathLst>
                <a:path w="1358" h="489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9"/>
                    <a:pt x="1167" y="489"/>
                    <a:pt x="1191" y="489"/>
                  </a:cubicBezTo>
                  <a:cubicBezTo>
                    <a:pt x="1251" y="489"/>
                    <a:pt x="1310" y="453"/>
                    <a:pt x="1346" y="394"/>
                  </a:cubicBezTo>
                  <a:cubicBezTo>
                    <a:pt x="1358" y="322"/>
                    <a:pt x="1322" y="239"/>
                    <a:pt x="1251" y="191"/>
                  </a:cubicBezTo>
                  <a:cubicBezTo>
                    <a:pt x="882" y="13"/>
                    <a:pt x="191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5797995" y="3631074"/>
              <a:ext cx="10662" cy="42458"/>
            </a:xfrm>
            <a:custGeom>
              <a:avLst/>
              <a:gdLst/>
              <a:ahLst/>
              <a:cxnLst/>
              <a:rect l="l" t="t" r="r" b="b"/>
              <a:pathLst>
                <a:path w="335" h="133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1179"/>
                  </a:lnTo>
                  <a:cubicBezTo>
                    <a:pt x="1" y="1262"/>
                    <a:pt x="84" y="1334"/>
                    <a:pt x="167" y="1334"/>
                  </a:cubicBezTo>
                  <a:cubicBezTo>
                    <a:pt x="251" y="1334"/>
                    <a:pt x="334" y="1262"/>
                    <a:pt x="334" y="1179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5776798" y="3409778"/>
              <a:ext cx="346379" cy="264136"/>
            </a:xfrm>
            <a:custGeom>
              <a:avLst/>
              <a:gdLst/>
              <a:ahLst/>
              <a:cxnLst/>
              <a:rect l="l" t="t" r="r" b="b"/>
              <a:pathLst>
                <a:path w="10883" h="8299" extrusionOk="0">
                  <a:moveTo>
                    <a:pt x="9144" y="2512"/>
                  </a:moveTo>
                  <a:cubicBezTo>
                    <a:pt x="9418" y="2512"/>
                    <a:pt x="9656" y="2715"/>
                    <a:pt x="9656" y="2953"/>
                  </a:cubicBezTo>
                  <a:lnTo>
                    <a:pt x="9656" y="2977"/>
                  </a:lnTo>
                  <a:cubicBezTo>
                    <a:pt x="9501" y="2917"/>
                    <a:pt x="9335" y="2869"/>
                    <a:pt x="9144" y="2869"/>
                  </a:cubicBezTo>
                  <a:cubicBezTo>
                    <a:pt x="8965" y="2869"/>
                    <a:pt x="8787" y="2905"/>
                    <a:pt x="8620" y="2977"/>
                  </a:cubicBezTo>
                  <a:lnTo>
                    <a:pt x="8620" y="2953"/>
                  </a:lnTo>
                  <a:cubicBezTo>
                    <a:pt x="8620" y="2727"/>
                    <a:pt x="8858" y="2512"/>
                    <a:pt x="9144" y="2512"/>
                  </a:cubicBezTo>
                  <a:close/>
                  <a:moveTo>
                    <a:pt x="2869" y="3203"/>
                  </a:moveTo>
                  <a:lnTo>
                    <a:pt x="2869" y="3858"/>
                  </a:lnTo>
                  <a:cubicBezTo>
                    <a:pt x="2869" y="3965"/>
                    <a:pt x="2846" y="4060"/>
                    <a:pt x="2798" y="4167"/>
                  </a:cubicBezTo>
                  <a:lnTo>
                    <a:pt x="2727" y="4334"/>
                  </a:lnTo>
                  <a:cubicBezTo>
                    <a:pt x="2715" y="4346"/>
                    <a:pt x="2715" y="4382"/>
                    <a:pt x="2715" y="4405"/>
                  </a:cubicBezTo>
                  <a:lnTo>
                    <a:pt x="2715" y="4751"/>
                  </a:lnTo>
                  <a:cubicBezTo>
                    <a:pt x="2715" y="4989"/>
                    <a:pt x="2619" y="5191"/>
                    <a:pt x="2441" y="5358"/>
                  </a:cubicBezTo>
                  <a:cubicBezTo>
                    <a:pt x="2298" y="5525"/>
                    <a:pt x="2072" y="5596"/>
                    <a:pt x="1834" y="5596"/>
                  </a:cubicBezTo>
                  <a:cubicBezTo>
                    <a:pt x="1369" y="5584"/>
                    <a:pt x="1000" y="5179"/>
                    <a:pt x="1000" y="4703"/>
                  </a:cubicBezTo>
                  <a:lnTo>
                    <a:pt x="1000" y="4405"/>
                  </a:lnTo>
                  <a:cubicBezTo>
                    <a:pt x="1000" y="4382"/>
                    <a:pt x="1000" y="4358"/>
                    <a:pt x="988" y="4334"/>
                  </a:cubicBezTo>
                  <a:lnTo>
                    <a:pt x="881" y="4143"/>
                  </a:lnTo>
                  <a:cubicBezTo>
                    <a:pt x="845" y="4060"/>
                    <a:pt x="822" y="3989"/>
                    <a:pt x="822" y="3905"/>
                  </a:cubicBezTo>
                  <a:lnTo>
                    <a:pt x="822" y="3882"/>
                  </a:lnTo>
                  <a:cubicBezTo>
                    <a:pt x="822" y="3501"/>
                    <a:pt x="1131" y="3203"/>
                    <a:pt x="1500" y="3203"/>
                  </a:cubicBezTo>
                  <a:close/>
                  <a:moveTo>
                    <a:pt x="9144" y="3215"/>
                  </a:moveTo>
                  <a:cubicBezTo>
                    <a:pt x="9704" y="3215"/>
                    <a:pt x="10168" y="3679"/>
                    <a:pt x="10168" y="4239"/>
                  </a:cubicBezTo>
                  <a:cubicBezTo>
                    <a:pt x="10168" y="4346"/>
                    <a:pt x="10156" y="4465"/>
                    <a:pt x="10108" y="4572"/>
                  </a:cubicBezTo>
                  <a:cubicBezTo>
                    <a:pt x="9656" y="4108"/>
                    <a:pt x="8870" y="3929"/>
                    <a:pt x="8823" y="3929"/>
                  </a:cubicBezTo>
                  <a:cubicBezTo>
                    <a:pt x="8814" y="3926"/>
                    <a:pt x="8804" y="3925"/>
                    <a:pt x="8794" y="3925"/>
                  </a:cubicBezTo>
                  <a:cubicBezTo>
                    <a:pt x="8763" y="3925"/>
                    <a:pt x="8727" y="3938"/>
                    <a:pt x="8692" y="3965"/>
                  </a:cubicBezTo>
                  <a:cubicBezTo>
                    <a:pt x="8644" y="3989"/>
                    <a:pt x="8632" y="4036"/>
                    <a:pt x="8632" y="4084"/>
                  </a:cubicBezTo>
                  <a:cubicBezTo>
                    <a:pt x="8632" y="4084"/>
                    <a:pt x="8632" y="4179"/>
                    <a:pt x="8513" y="4298"/>
                  </a:cubicBezTo>
                  <a:cubicBezTo>
                    <a:pt x="8453" y="4358"/>
                    <a:pt x="8453" y="4465"/>
                    <a:pt x="8513" y="4524"/>
                  </a:cubicBezTo>
                  <a:cubicBezTo>
                    <a:pt x="8543" y="4554"/>
                    <a:pt x="8584" y="4569"/>
                    <a:pt x="8626" y="4569"/>
                  </a:cubicBezTo>
                  <a:cubicBezTo>
                    <a:pt x="8668" y="4569"/>
                    <a:pt x="8709" y="4554"/>
                    <a:pt x="8739" y="4524"/>
                  </a:cubicBezTo>
                  <a:cubicBezTo>
                    <a:pt x="8823" y="4441"/>
                    <a:pt x="8882" y="4346"/>
                    <a:pt x="8918" y="4274"/>
                  </a:cubicBezTo>
                  <a:cubicBezTo>
                    <a:pt x="9180" y="4346"/>
                    <a:pt x="9739" y="4560"/>
                    <a:pt x="9989" y="4894"/>
                  </a:cubicBezTo>
                  <a:cubicBezTo>
                    <a:pt x="9906" y="5298"/>
                    <a:pt x="9573" y="5596"/>
                    <a:pt x="9144" y="5596"/>
                  </a:cubicBezTo>
                  <a:cubicBezTo>
                    <a:pt x="8704" y="5596"/>
                    <a:pt x="8334" y="5275"/>
                    <a:pt x="8287" y="4834"/>
                  </a:cubicBezTo>
                  <a:cubicBezTo>
                    <a:pt x="8287" y="4810"/>
                    <a:pt x="8275" y="4798"/>
                    <a:pt x="8263" y="4774"/>
                  </a:cubicBezTo>
                  <a:cubicBezTo>
                    <a:pt x="8156" y="4620"/>
                    <a:pt x="8108" y="4441"/>
                    <a:pt x="8108" y="4239"/>
                  </a:cubicBezTo>
                  <a:cubicBezTo>
                    <a:pt x="8108" y="3679"/>
                    <a:pt x="8573" y="3215"/>
                    <a:pt x="9144" y="3215"/>
                  </a:cubicBezTo>
                  <a:close/>
                  <a:moveTo>
                    <a:pt x="5441" y="298"/>
                  </a:moveTo>
                  <a:cubicBezTo>
                    <a:pt x="6013" y="298"/>
                    <a:pt x="6489" y="488"/>
                    <a:pt x="6858" y="845"/>
                  </a:cubicBezTo>
                  <a:cubicBezTo>
                    <a:pt x="7227" y="1226"/>
                    <a:pt x="7453" y="1738"/>
                    <a:pt x="7501" y="2369"/>
                  </a:cubicBezTo>
                  <a:cubicBezTo>
                    <a:pt x="7620" y="4060"/>
                    <a:pt x="7763" y="5001"/>
                    <a:pt x="7822" y="5334"/>
                  </a:cubicBezTo>
                  <a:lnTo>
                    <a:pt x="7822" y="5346"/>
                  </a:lnTo>
                  <a:cubicBezTo>
                    <a:pt x="7632" y="5453"/>
                    <a:pt x="7310" y="5632"/>
                    <a:pt x="6787" y="5763"/>
                  </a:cubicBezTo>
                  <a:lnTo>
                    <a:pt x="6525" y="5644"/>
                  </a:lnTo>
                  <a:cubicBezTo>
                    <a:pt x="6453" y="5608"/>
                    <a:pt x="6418" y="5548"/>
                    <a:pt x="6418" y="5477"/>
                  </a:cubicBezTo>
                  <a:lnTo>
                    <a:pt x="6418" y="4929"/>
                  </a:lnTo>
                  <a:cubicBezTo>
                    <a:pt x="6918" y="4596"/>
                    <a:pt x="7263" y="4024"/>
                    <a:pt x="7263" y="3370"/>
                  </a:cubicBezTo>
                  <a:lnTo>
                    <a:pt x="7263" y="3072"/>
                  </a:lnTo>
                  <a:cubicBezTo>
                    <a:pt x="7263" y="2869"/>
                    <a:pt x="7180" y="2691"/>
                    <a:pt x="7037" y="2560"/>
                  </a:cubicBezTo>
                  <a:cubicBezTo>
                    <a:pt x="6727" y="2274"/>
                    <a:pt x="6001" y="1798"/>
                    <a:pt x="4751" y="1667"/>
                  </a:cubicBezTo>
                  <a:cubicBezTo>
                    <a:pt x="4744" y="1666"/>
                    <a:pt x="4737" y="1666"/>
                    <a:pt x="4730" y="1666"/>
                  </a:cubicBezTo>
                  <a:cubicBezTo>
                    <a:pt x="4645" y="1666"/>
                    <a:pt x="4583" y="1733"/>
                    <a:pt x="4572" y="1822"/>
                  </a:cubicBezTo>
                  <a:cubicBezTo>
                    <a:pt x="4548" y="1905"/>
                    <a:pt x="4632" y="1977"/>
                    <a:pt x="4715" y="2000"/>
                  </a:cubicBezTo>
                  <a:cubicBezTo>
                    <a:pt x="5882" y="2119"/>
                    <a:pt x="6537" y="2548"/>
                    <a:pt x="6834" y="2798"/>
                  </a:cubicBezTo>
                  <a:cubicBezTo>
                    <a:pt x="6906" y="2858"/>
                    <a:pt x="6953" y="2965"/>
                    <a:pt x="6953" y="3072"/>
                  </a:cubicBezTo>
                  <a:lnTo>
                    <a:pt x="6953" y="3370"/>
                  </a:lnTo>
                  <a:cubicBezTo>
                    <a:pt x="6953" y="4215"/>
                    <a:pt x="6263" y="4894"/>
                    <a:pt x="5417" y="4894"/>
                  </a:cubicBezTo>
                  <a:cubicBezTo>
                    <a:pt x="4572" y="4894"/>
                    <a:pt x="3881" y="4215"/>
                    <a:pt x="3881" y="3370"/>
                  </a:cubicBezTo>
                  <a:lnTo>
                    <a:pt x="3881" y="3227"/>
                  </a:lnTo>
                  <a:cubicBezTo>
                    <a:pt x="3881" y="3167"/>
                    <a:pt x="3917" y="3108"/>
                    <a:pt x="3977" y="3084"/>
                  </a:cubicBezTo>
                  <a:cubicBezTo>
                    <a:pt x="4167" y="2965"/>
                    <a:pt x="4429" y="2750"/>
                    <a:pt x="4548" y="2393"/>
                  </a:cubicBezTo>
                  <a:cubicBezTo>
                    <a:pt x="4584" y="2310"/>
                    <a:pt x="4536" y="2215"/>
                    <a:pt x="4453" y="2203"/>
                  </a:cubicBezTo>
                  <a:cubicBezTo>
                    <a:pt x="4434" y="2198"/>
                    <a:pt x="4415" y="2196"/>
                    <a:pt x="4398" y="2196"/>
                  </a:cubicBezTo>
                  <a:cubicBezTo>
                    <a:pt x="4327" y="2196"/>
                    <a:pt x="4270" y="2234"/>
                    <a:pt x="4251" y="2310"/>
                  </a:cubicBezTo>
                  <a:cubicBezTo>
                    <a:pt x="4167" y="2572"/>
                    <a:pt x="3977" y="2727"/>
                    <a:pt x="3822" y="2810"/>
                  </a:cubicBezTo>
                  <a:cubicBezTo>
                    <a:pt x="3679" y="2905"/>
                    <a:pt x="3572" y="3072"/>
                    <a:pt x="3572" y="3227"/>
                  </a:cubicBezTo>
                  <a:lnTo>
                    <a:pt x="3572" y="3370"/>
                  </a:lnTo>
                  <a:cubicBezTo>
                    <a:pt x="3572" y="4024"/>
                    <a:pt x="3917" y="4584"/>
                    <a:pt x="4417" y="4929"/>
                  </a:cubicBezTo>
                  <a:lnTo>
                    <a:pt x="4417" y="5477"/>
                  </a:lnTo>
                  <a:cubicBezTo>
                    <a:pt x="4417" y="5548"/>
                    <a:pt x="4370" y="5608"/>
                    <a:pt x="4310" y="5644"/>
                  </a:cubicBezTo>
                  <a:lnTo>
                    <a:pt x="4048" y="5763"/>
                  </a:lnTo>
                  <a:cubicBezTo>
                    <a:pt x="3536" y="5632"/>
                    <a:pt x="3215" y="5453"/>
                    <a:pt x="3060" y="5346"/>
                  </a:cubicBezTo>
                  <a:lnTo>
                    <a:pt x="3060" y="5334"/>
                  </a:lnTo>
                  <a:cubicBezTo>
                    <a:pt x="3131" y="5001"/>
                    <a:pt x="3262" y="4060"/>
                    <a:pt x="3393" y="2369"/>
                  </a:cubicBezTo>
                  <a:cubicBezTo>
                    <a:pt x="3441" y="1738"/>
                    <a:pt x="3655" y="1226"/>
                    <a:pt x="4036" y="845"/>
                  </a:cubicBezTo>
                  <a:cubicBezTo>
                    <a:pt x="4393" y="488"/>
                    <a:pt x="4882" y="298"/>
                    <a:pt x="5441" y="298"/>
                  </a:cubicBezTo>
                  <a:close/>
                  <a:moveTo>
                    <a:pt x="2750" y="5465"/>
                  </a:moveTo>
                  <a:cubicBezTo>
                    <a:pt x="2786" y="5501"/>
                    <a:pt x="2810" y="5572"/>
                    <a:pt x="2869" y="5596"/>
                  </a:cubicBezTo>
                  <a:cubicBezTo>
                    <a:pt x="3000" y="5691"/>
                    <a:pt x="3239" y="5822"/>
                    <a:pt x="3584" y="5941"/>
                  </a:cubicBezTo>
                  <a:lnTo>
                    <a:pt x="3155" y="6144"/>
                  </a:lnTo>
                  <a:lnTo>
                    <a:pt x="2655" y="6001"/>
                  </a:lnTo>
                  <a:cubicBezTo>
                    <a:pt x="2512" y="5953"/>
                    <a:pt x="2512" y="5953"/>
                    <a:pt x="2512" y="5906"/>
                  </a:cubicBezTo>
                  <a:lnTo>
                    <a:pt x="2512" y="5691"/>
                  </a:lnTo>
                  <a:cubicBezTo>
                    <a:pt x="2572" y="5656"/>
                    <a:pt x="2619" y="5608"/>
                    <a:pt x="2667" y="5572"/>
                  </a:cubicBezTo>
                  <a:cubicBezTo>
                    <a:pt x="2691" y="5536"/>
                    <a:pt x="2727" y="5513"/>
                    <a:pt x="2750" y="5465"/>
                  </a:cubicBezTo>
                  <a:close/>
                  <a:moveTo>
                    <a:pt x="8096" y="5239"/>
                  </a:moveTo>
                  <a:cubicBezTo>
                    <a:pt x="8180" y="5417"/>
                    <a:pt x="8323" y="5572"/>
                    <a:pt x="8477" y="5691"/>
                  </a:cubicBezTo>
                  <a:lnTo>
                    <a:pt x="8477" y="6025"/>
                  </a:lnTo>
                  <a:lnTo>
                    <a:pt x="8489" y="6025"/>
                  </a:lnTo>
                  <a:lnTo>
                    <a:pt x="7977" y="6287"/>
                  </a:lnTo>
                  <a:cubicBezTo>
                    <a:pt x="7977" y="6287"/>
                    <a:pt x="7965" y="6287"/>
                    <a:pt x="7965" y="6263"/>
                  </a:cubicBezTo>
                  <a:lnTo>
                    <a:pt x="7227" y="5941"/>
                  </a:lnTo>
                  <a:cubicBezTo>
                    <a:pt x="7596" y="5822"/>
                    <a:pt x="7822" y="5667"/>
                    <a:pt x="7942" y="5596"/>
                  </a:cubicBezTo>
                  <a:cubicBezTo>
                    <a:pt x="8049" y="5525"/>
                    <a:pt x="8108" y="5406"/>
                    <a:pt x="8096" y="5275"/>
                  </a:cubicBezTo>
                  <a:lnTo>
                    <a:pt x="8096" y="5239"/>
                  </a:lnTo>
                  <a:close/>
                  <a:moveTo>
                    <a:pt x="2203" y="5870"/>
                  </a:moveTo>
                  <a:lnTo>
                    <a:pt x="2203" y="5929"/>
                  </a:lnTo>
                  <a:cubicBezTo>
                    <a:pt x="2203" y="5953"/>
                    <a:pt x="2203" y="5989"/>
                    <a:pt x="2215" y="6013"/>
                  </a:cubicBezTo>
                  <a:lnTo>
                    <a:pt x="1857" y="6370"/>
                  </a:lnTo>
                  <a:lnTo>
                    <a:pt x="1500" y="6013"/>
                  </a:lnTo>
                  <a:cubicBezTo>
                    <a:pt x="1512" y="5989"/>
                    <a:pt x="1512" y="5953"/>
                    <a:pt x="1512" y="5929"/>
                  </a:cubicBezTo>
                  <a:lnTo>
                    <a:pt x="1512" y="5870"/>
                  </a:lnTo>
                  <a:cubicBezTo>
                    <a:pt x="1619" y="5894"/>
                    <a:pt x="1726" y="5929"/>
                    <a:pt x="1834" y="5929"/>
                  </a:cubicBezTo>
                  <a:lnTo>
                    <a:pt x="1857" y="5929"/>
                  </a:lnTo>
                  <a:cubicBezTo>
                    <a:pt x="1976" y="5929"/>
                    <a:pt x="2096" y="5906"/>
                    <a:pt x="2203" y="5870"/>
                  </a:cubicBezTo>
                  <a:close/>
                  <a:moveTo>
                    <a:pt x="9525" y="5882"/>
                  </a:moveTo>
                  <a:lnTo>
                    <a:pt x="9525" y="6048"/>
                  </a:lnTo>
                  <a:cubicBezTo>
                    <a:pt x="9525" y="6108"/>
                    <a:pt x="9537" y="6144"/>
                    <a:pt x="9573" y="6191"/>
                  </a:cubicBezTo>
                  <a:lnTo>
                    <a:pt x="9394" y="6322"/>
                  </a:lnTo>
                  <a:cubicBezTo>
                    <a:pt x="9323" y="6394"/>
                    <a:pt x="9236" y="6429"/>
                    <a:pt x="9151" y="6429"/>
                  </a:cubicBezTo>
                  <a:cubicBezTo>
                    <a:pt x="9067" y="6429"/>
                    <a:pt x="8983" y="6394"/>
                    <a:pt x="8918" y="6322"/>
                  </a:cubicBezTo>
                  <a:lnTo>
                    <a:pt x="8763" y="6191"/>
                  </a:lnTo>
                  <a:cubicBezTo>
                    <a:pt x="8799" y="6144"/>
                    <a:pt x="8811" y="6084"/>
                    <a:pt x="8811" y="6048"/>
                  </a:cubicBezTo>
                  <a:lnTo>
                    <a:pt x="8811" y="5882"/>
                  </a:lnTo>
                  <a:cubicBezTo>
                    <a:pt x="8918" y="5906"/>
                    <a:pt x="9037" y="5941"/>
                    <a:pt x="9168" y="5941"/>
                  </a:cubicBezTo>
                  <a:cubicBezTo>
                    <a:pt x="9287" y="5941"/>
                    <a:pt x="9406" y="5929"/>
                    <a:pt x="9525" y="5882"/>
                  </a:cubicBezTo>
                  <a:close/>
                  <a:moveTo>
                    <a:pt x="6096" y="5096"/>
                  </a:moveTo>
                  <a:lnTo>
                    <a:pt x="6096" y="5477"/>
                  </a:lnTo>
                  <a:cubicBezTo>
                    <a:pt x="6096" y="5667"/>
                    <a:pt x="6215" y="5846"/>
                    <a:pt x="6394" y="5941"/>
                  </a:cubicBezTo>
                  <a:lnTo>
                    <a:pt x="6632" y="6048"/>
                  </a:lnTo>
                  <a:cubicBezTo>
                    <a:pt x="6406" y="6489"/>
                    <a:pt x="5941" y="6787"/>
                    <a:pt x="5417" y="6787"/>
                  </a:cubicBezTo>
                  <a:cubicBezTo>
                    <a:pt x="4894" y="6787"/>
                    <a:pt x="4441" y="6501"/>
                    <a:pt x="4203" y="6048"/>
                  </a:cubicBezTo>
                  <a:lnTo>
                    <a:pt x="4441" y="5941"/>
                  </a:lnTo>
                  <a:cubicBezTo>
                    <a:pt x="4620" y="5870"/>
                    <a:pt x="4739" y="5691"/>
                    <a:pt x="4739" y="5477"/>
                  </a:cubicBezTo>
                  <a:lnTo>
                    <a:pt x="4739" y="5096"/>
                  </a:lnTo>
                  <a:cubicBezTo>
                    <a:pt x="4941" y="5179"/>
                    <a:pt x="5179" y="5227"/>
                    <a:pt x="5417" y="5227"/>
                  </a:cubicBezTo>
                  <a:cubicBezTo>
                    <a:pt x="5656" y="5227"/>
                    <a:pt x="5894" y="5179"/>
                    <a:pt x="6096" y="5096"/>
                  </a:cubicBezTo>
                  <a:close/>
                  <a:moveTo>
                    <a:pt x="5417" y="0"/>
                  </a:moveTo>
                  <a:cubicBezTo>
                    <a:pt x="4763" y="0"/>
                    <a:pt x="4215" y="226"/>
                    <a:pt x="3786" y="643"/>
                  </a:cubicBezTo>
                  <a:cubicBezTo>
                    <a:pt x="3346" y="1060"/>
                    <a:pt x="3096" y="1655"/>
                    <a:pt x="3048" y="2346"/>
                  </a:cubicBezTo>
                  <a:cubicBezTo>
                    <a:pt x="3036" y="2548"/>
                    <a:pt x="3024" y="2703"/>
                    <a:pt x="3012" y="2881"/>
                  </a:cubicBezTo>
                  <a:lnTo>
                    <a:pt x="1524" y="2881"/>
                  </a:lnTo>
                  <a:cubicBezTo>
                    <a:pt x="964" y="2881"/>
                    <a:pt x="512" y="3334"/>
                    <a:pt x="512" y="3893"/>
                  </a:cubicBezTo>
                  <a:lnTo>
                    <a:pt x="512" y="3917"/>
                  </a:lnTo>
                  <a:cubicBezTo>
                    <a:pt x="512" y="4048"/>
                    <a:pt x="536" y="4167"/>
                    <a:pt x="595" y="4286"/>
                  </a:cubicBezTo>
                  <a:lnTo>
                    <a:pt x="667" y="4453"/>
                  </a:lnTo>
                  <a:lnTo>
                    <a:pt x="667" y="4703"/>
                  </a:lnTo>
                  <a:cubicBezTo>
                    <a:pt x="667" y="5120"/>
                    <a:pt x="881" y="5477"/>
                    <a:pt x="1179" y="5703"/>
                  </a:cubicBezTo>
                  <a:lnTo>
                    <a:pt x="1179" y="5929"/>
                  </a:lnTo>
                  <a:cubicBezTo>
                    <a:pt x="1179" y="5953"/>
                    <a:pt x="1167" y="5989"/>
                    <a:pt x="1131" y="5989"/>
                  </a:cubicBezTo>
                  <a:lnTo>
                    <a:pt x="476" y="6179"/>
                  </a:lnTo>
                  <a:cubicBezTo>
                    <a:pt x="191" y="6251"/>
                    <a:pt x="0" y="6513"/>
                    <a:pt x="0" y="6810"/>
                  </a:cubicBezTo>
                  <a:lnTo>
                    <a:pt x="0" y="8120"/>
                  </a:lnTo>
                  <a:cubicBezTo>
                    <a:pt x="0" y="8215"/>
                    <a:pt x="71" y="8287"/>
                    <a:pt x="167" y="8287"/>
                  </a:cubicBezTo>
                  <a:cubicBezTo>
                    <a:pt x="250" y="8287"/>
                    <a:pt x="333" y="8215"/>
                    <a:pt x="333" y="8120"/>
                  </a:cubicBezTo>
                  <a:lnTo>
                    <a:pt x="333" y="6810"/>
                  </a:lnTo>
                  <a:cubicBezTo>
                    <a:pt x="333" y="6668"/>
                    <a:pt x="429" y="6513"/>
                    <a:pt x="583" y="6477"/>
                  </a:cubicBezTo>
                  <a:lnTo>
                    <a:pt x="1238" y="6287"/>
                  </a:lnTo>
                  <a:cubicBezTo>
                    <a:pt x="1262" y="6287"/>
                    <a:pt x="1286" y="6263"/>
                    <a:pt x="1310" y="6251"/>
                  </a:cubicBezTo>
                  <a:lnTo>
                    <a:pt x="1715" y="6656"/>
                  </a:lnTo>
                  <a:lnTo>
                    <a:pt x="1715" y="8108"/>
                  </a:lnTo>
                  <a:cubicBezTo>
                    <a:pt x="1715" y="8203"/>
                    <a:pt x="1786" y="8275"/>
                    <a:pt x="1881" y="8275"/>
                  </a:cubicBezTo>
                  <a:cubicBezTo>
                    <a:pt x="1965" y="8275"/>
                    <a:pt x="2036" y="8203"/>
                    <a:pt x="2036" y="8108"/>
                  </a:cubicBezTo>
                  <a:lnTo>
                    <a:pt x="2036" y="6656"/>
                  </a:lnTo>
                  <a:lnTo>
                    <a:pt x="2441" y="6251"/>
                  </a:lnTo>
                  <a:cubicBezTo>
                    <a:pt x="2500" y="6287"/>
                    <a:pt x="2548" y="6298"/>
                    <a:pt x="2596" y="6310"/>
                  </a:cubicBezTo>
                  <a:lnTo>
                    <a:pt x="2750" y="6358"/>
                  </a:lnTo>
                  <a:cubicBezTo>
                    <a:pt x="2536" y="6501"/>
                    <a:pt x="2393" y="6751"/>
                    <a:pt x="2393" y="7037"/>
                  </a:cubicBezTo>
                  <a:lnTo>
                    <a:pt x="2393" y="8120"/>
                  </a:lnTo>
                  <a:cubicBezTo>
                    <a:pt x="2393" y="8215"/>
                    <a:pt x="2465" y="8287"/>
                    <a:pt x="2560" y="8287"/>
                  </a:cubicBezTo>
                  <a:cubicBezTo>
                    <a:pt x="2643" y="8287"/>
                    <a:pt x="2727" y="8215"/>
                    <a:pt x="2727" y="8120"/>
                  </a:cubicBezTo>
                  <a:lnTo>
                    <a:pt x="2727" y="7037"/>
                  </a:lnTo>
                  <a:cubicBezTo>
                    <a:pt x="2727" y="6834"/>
                    <a:pt x="2846" y="6656"/>
                    <a:pt x="3036" y="6560"/>
                  </a:cubicBezTo>
                  <a:lnTo>
                    <a:pt x="3941" y="6156"/>
                  </a:lnTo>
                  <a:cubicBezTo>
                    <a:pt x="4227" y="6727"/>
                    <a:pt x="4810" y="7096"/>
                    <a:pt x="5441" y="7096"/>
                  </a:cubicBezTo>
                  <a:cubicBezTo>
                    <a:pt x="6084" y="7096"/>
                    <a:pt x="6668" y="6739"/>
                    <a:pt x="6953" y="6156"/>
                  </a:cubicBezTo>
                  <a:lnTo>
                    <a:pt x="7858" y="6560"/>
                  </a:lnTo>
                  <a:cubicBezTo>
                    <a:pt x="8049" y="6656"/>
                    <a:pt x="8168" y="6834"/>
                    <a:pt x="8168" y="7037"/>
                  </a:cubicBezTo>
                  <a:lnTo>
                    <a:pt x="8168" y="8120"/>
                  </a:lnTo>
                  <a:cubicBezTo>
                    <a:pt x="8168" y="8215"/>
                    <a:pt x="8239" y="8287"/>
                    <a:pt x="8334" y="8287"/>
                  </a:cubicBezTo>
                  <a:cubicBezTo>
                    <a:pt x="8418" y="8287"/>
                    <a:pt x="8501" y="8215"/>
                    <a:pt x="8501" y="8120"/>
                  </a:cubicBezTo>
                  <a:lnTo>
                    <a:pt x="8501" y="7037"/>
                  </a:lnTo>
                  <a:cubicBezTo>
                    <a:pt x="8501" y="6834"/>
                    <a:pt x="8418" y="6656"/>
                    <a:pt x="8299" y="6501"/>
                  </a:cubicBezTo>
                  <a:lnTo>
                    <a:pt x="8537" y="6382"/>
                  </a:lnTo>
                  <a:lnTo>
                    <a:pt x="8715" y="6560"/>
                  </a:lnTo>
                  <a:cubicBezTo>
                    <a:pt x="8858" y="6679"/>
                    <a:pt x="9013" y="6739"/>
                    <a:pt x="9180" y="6739"/>
                  </a:cubicBezTo>
                  <a:cubicBezTo>
                    <a:pt x="9346" y="6739"/>
                    <a:pt x="9513" y="6679"/>
                    <a:pt x="9644" y="6560"/>
                  </a:cubicBezTo>
                  <a:lnTo>
                    <a:pt x="9823" y="6382"/>
                  </a:lnTo>
                  <a:lnTo>
                    <a:pt x="10358" y="6656"/>
                  </a:lnTo>
                  <a:cubicBezTo>
                    <a:pt x="10478" y="6715"/>
                    <a:pt x="10549" y="6834"/>
                    <a:pt x="10549" y="6965"/>
                  </a:cubicBezTo>
                  <a:lnTo>
                    <a:pt x="10549" y="8144"/>
                  </a:lnTo>
                  <a:cubicBezTo>
                    <a:pt x="10549" y="8227"/>
                    <a:pt x="10620" y="8299"/>
                    <a:pt x="10716" y="8299"/>
                  </a:cubicBezTo>
                  <a:cubicBezTo>
                    <a:pt x="10799" y="8299"/>
                    <a:pt x="10882" y="8227"/>
                    <a:pt x="10882" y="8144"/>
                  </a:cubicBezTo>
                  <a:lnTo>
                    <a:pt x="10882" y="6965"/>
                  </a:lnTo>
                  <a:cubicBezTo>
                    <a:pt x="10823" y="6703"/>
                    <a:pt x="10692" y="6477"/>
                    <a:pt x="10466" y="6358"/>
                  </a:cubicBezTo>
                  <a:lnTo>
                    <a:pt x="9823" y="6025"/>
                  </a:lnTo>
                  <a:lnTo>
                    <a:pt x="9823" y="6013"/>
                  </a:lnTo>
                  <a:lnTo>
                    <a:pt x="9823" y="5691"/>
                  </a:lnTo>
                  <a:cubicBezTo>
                    <a:pt x="10097" y="5501"/>
                    <a:pt x="10275" y="5227"/>
                    <a:pt x="10311" y="4882"/>
                  </a:cubicBezTo>
                  <a:cubicBezTo>
                    <a:pt x="10430" y="4679"/>
                    <a:pt x="10489" y="4453"/>
                    <a:pt x="10489" y="4215"/>
                  </a:cubicBezTo>
                  <a:cubicBezTo>
                    <a:pt x="10489" y="3786"/>
                    <a:pt x="10287" y="3381"/>
                    <a:pt x="9954" y="3143"/>
                  </a:cubicBezTo>
                  <a:cubicBezTo>
                    <a:pt x="9977" y="3084"/>
                    <a:pt x="9989" y="3012"/>
                    <a:pt x="9989" y="2953"/>
                  </a:cubicBezTo>
                  <a:cubicBezTo>
                    <a:pt x="9989" y="2536"/>
                    <a:pt x="9620" y="2191"/>
                    <a:pt x="9156" y="2191"/>
                  </a:cubicBezTo>
                  <a:cubicBezTo>
                    <a:pt x="8692" y="2191"/>
                    <a:pt x="8323" y="2524"/>
                    <a:pt x="8323" y="2953"/>
                  </a:cubicBezTo>
                  <a:cubicBezTo>
                    <a:pt x="8323" y="3024"/>
                    <a:pt x="8334" y="3084"/>
                    <a:pt x="8346" y="3143"/>
                  </a:cubicBezTo>
                  <a:cubicBezTo>
                    <a:pt x="8156" y="3286"/>
                    <a:pt x="8013" y="3477"/>
                    <a:pt x="7906" y="3715"/>
                  </a:cubicBezTo>
                  <a:cubicBezTo>
                    <a:pt x="7858" y="3334"/>
                    <a:pt x="7834" y="2869"/>
                    <a:pt x="7787" y="2346"/>
                  </a:cubicBezTo>
                  <a:cubicBezTo>
                    <a:pt x="7739" y="1655"/>
                    <a:pt x="7489" y="1060"/>
                    <a:pt x="7060" y="643"/>
                  </a:cubicBezTo>
                  <a:cubicBezTo>
                    <a:pt x="6644" y="226"/>
                    <a:pt x="6072" y="0"/>
                    <a:pt x="5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6089408" y="3637503"/>
              <a:ext cx="10662" cy="36029"/>
            </a:xfrm>
            <a:custGeom>
              <a:avLst/>
              <a:gdLst/>
              <a:ahLst/>
              <a:cxnLst/>
              <a:rect l="l" t="t" r="r" b="b"/>
              <a:pathLst>
                <a:path w="335" h="1132" extrusionOk="0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977"/>
                  </a:lnTo>
                  <a:cubicBezTo>
                    <a:pt x="1" y="1060"/>
                    <a:pt x="72" y="1132"/>
                    <a:pt x="167" y="1132"/>
                  </a:cubicBezTo>
                  <a:cubicBezTo>
                    <a:pt x="251" y="1132"/>
                    <a:pt x="322" y="1060"/>
                    <a:pt x="322" y="977"/>
                  </a:cubicBezTo>
                  <a:lnTo>
                    <a:pt x="322" y="167"/>
                  </a:lnTo>
                  <a:cubicBezTo>
                    <a:pt x="334" y="84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25"/>
          <p:cNvGrpSpPr/>
          <p:nvPr/>
        </p:nvGrpSpPr>
        <p:grpSpPr>
          <a:xfrm>
            <a:off x="6391902" y="2670528"/>
            <a:ext cx="261145" cy="308504"/>
            <a:chOff x="6707084" y="3387403"/>
            <a:chExt cx="261145" cy="308504"/>
          </a:xfrm>
        </p:grpSpPr>
        <p:sp>
          <p:nvSpPr>
            <p:cNvPr id="363" name="Google Shape;363;p25"/>
            <p:cNvSpPr/>
            <p:nvPr/>
          </p:nvSpPr>
          <p:spPr>
            <a:xfrm>
              <a:off x="6726053" y="3542403"/>
              <a:ext cx="68238" cy="153504"/>
            </a:xfrm>
            <a:custGeom>
              <a:avLst/>
              <a:gdLst/>
              <a:ahLst/>
              <a:cxnLst/>
              <a:rect l="l" t="t" r="r" b="b"/>
              <a:pathLst>
                <a:path w="2144" h="4823" extrusionOk="0">
                  <a:moveTo>
                    <a:pt x="1203" y="286"/>
                  </a:moveTo>
                  <a:cubicBezTo>
                    <a:pt x="1381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10" y="1358"/>
                    <a:pt x="1060" y="1358"/>
                  </a:cubicBezTo>
                  <a:cubicBezTo>
                    <a:pt x="810" y="1358"/>
                    <a:pt x="596" y="1143"/>
                    <a:pt x="596" y="893"/>
                  </a:cubicBezTo>
                  <a:lnTo>
                    <a:pt x="596" y="596"/>
                  </a:lnTo>
                  <a:cubicBezTo>
                    <a:pt x="596" y="417"/>
                    <a:pt x="726" y="286"/>
                    <a:pt x="905" y="286"/>
                  </a:cubicBezTo>
                  <a:close/>
                  <a:moveTo>
                    <a:pt x="1227" y="1643"/>
                  </a:moveTo>
                  <a:lnTo>
                    <a:pt x="1227" y="1715"/>
                  </a:lnTo>
                  <a:cubicBezTo>
                    <a:pt x="1227" y="1774"/>
                    <a:pt x="1238" y="1822"/>
                    <a:pt x="1262" y="1858"/>
                  </a:cubicBezTo>
                  <a:lnTo>
                    <a:pt x="1060" y="2036"/>
                  </a:lnTo>
                  <a:lnTo>
                    <a:pt x="846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7" y="2054"/>
                    <a:pt x="1055" y="2054"/>
                  </a:cubicBezTo>
                  <a:cubicBezTo>
                    <a:pt x="1054" y="2054"/>
                    <a:pt x="1054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4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5" y="4822"/>
                  </a:cubicBezTo>
                  <a:cubicBezTo>
                    <a:pt x="536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4" y="4120"/>
                    <a:pt x="512" y="4036"/>
                  </a:cubicBezTo>
                  <a:lnTo>
                    <a:pt x="357" y="3810"/>
                  </a:lnTo>
                  <a:cubicBezTo>
                    <a:pt x="334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4" y="2179"/>
                    <a:pt x="381" y="2143"/>
                  </a:cubicBezTo>
                  <a:lnTo>
                    <a:pt x="643" y="2024"/>
                  </a:lnTo>
                  <a:lnTo>
                    <a:pt x="857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43" y="2334"/>
                    <a:pt x="1227" y="2310"/>
                    <a:pt x="1286" y="2251"/>
                  </a:cubicBezTo>
                  <a:lnTo>
                    <a:pt x="1500" y="2024"/>
                  </a:lnTo>
                  <a:lnTo>
                    <a:pt x="1762" y="2143"/>
                  </a:lnTo>
                  <a:cubicBezTo>
                    <a:pt x="1822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72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6" y="4822"/>
                    <a:pt x="1679" y="4822"/>
                  </a:cubicBezTo>
                  <a:cubicBezTo>
                    <a:pt x="1750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8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6803362" y="3542403"/>
              <a:ext cx="68238" cy="153504"/>
            </a:xfrm>
            <a:custGeom>
              <a:avLst/>
              <a:gdLst/>
              <a:ahLst/>
              <a:cxnLst/>
              <a:rect l="l" t="t" r="r" b="b"/>
              <a:pathLst>
                <a:path w="2144" h="4823" extrusionOk="0">
                  <a:moveTo>
                    <a:pt x="1203" y="286"/>
                  </a:moveTo>
                  <a:cubicBezTo>
                    <a:pt x="1381" y="286"/>
                    <a:pt x="1512" y="417"/>
                    <a:pt x="1512" y="596"/>
                  </a:cubicBezTo>
                  <a:lnTo>
                    <a:pt x="1512" y="893"/>
                  </a:lnTo>
                  <a:cubicBezTo>
                    <a:pt x="1512" y="1143"/>
                    <a:pt x="1310" y="1358"/>
                    <a:pt x="1060" y="1358"/>
                  </a:cubicBezTo>
                  <a:cubicBezTo>
                    <a:pt x="798" y="1358"/>
                    <a:pt x="595" y="1143"/>
                    <a:pt x="595" y="893"/>
                  </a:cubicBezTo>
                  <a:lnTo>
                    <a:pt x="595" y="596"/>
                  </a:lnTo>
                  <a:cubicBezTo>
                    <a:pt x="595" y="417"/>
                    <a:pt x="726" y="286"/>
                    <a:pt x="905" y="286"/>
                  </a:cubicBezTo>
                  <a:close/>
                  <a:moveTo>
                    <a:pt x="1215" y="1643"/>
                  </a:moveTo>
                  <a:lnTo>
                    <a:pt x="1215" y="1715"/>
                  </a:lnTo>
                  <a:cubicBezTo>
                    <a:pt x="1215" y="1774"/>
                    <a:pt x="1226" y="1822"/>
                    <a:pt x="1262" y="1858"/>
                  </a:cubicBezTo>
                  <a:lnTo>
                    <a:pt x="1060" y="2036"/>
                  </a:lnTo>
                  <a:lnTo>
                    <a:pt x="845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1060" y="2036"/>
                  </a:moveTo>
                  <a:cubicBezTo>
                    <a:pt x="1060" y="2048"/>
                    <a:pt x="1054" y="2054"/>
                    <a:pt x="1051" y="2054"/>
                  </a:cubicBezTo>
                  <a:cubicBezTo>
                    <a:pt x="1048" y="2054"/>
                    <a:pt x="1048" y="2048"/>
                    <a:pt x="1060" y="2036"/>
                  </a:cubicBezTo>
                  <a:close/>
                  <a:moveTo>
                    <a:pt x="905" y="0"/>
                  </a:moveTo>
                  <a:cubicBezTo>
                    <a:pt x="583" y="0"/>
                    <a:pt x="310" y="274"/>
                    <a:pt x="310" y="596"/>
                  </a:cubicBezTo>
                  <a:lnTo>
                    <a:pt x="310" y="893"/>
                  </a:lnTo>
                  <a:cubicBezTo>
                    <a:pt x="310" y="1143"/>
                    <a:pt x="429" y="1358"/>
                    <a:pt x="607" y="1489"/>
                  </a:cubicBezTo>
                  <a:lnTo>
                    <a:pt x="607" y="1703"/>
                  </a:lnTo>
                  <a:lnTo>
                    <a:pt x="607" y="1715"/>
                  </a:lnTo>
                  <a:lnTo>
                    <a:pt x="250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24" y="3870"/>
                    <a:pt x="107" y="3965"/>
                  </a:cubicBezTo>
                  <a:lnTo>
                    <a:pt x="250" y="4179"/>
                  </a:lnTo>
                  <a:cubicBezTo>
                    <a:pt x="286" y="4227"/>
                    <a:pt x="310" y="4298"/>
                    <a:pt x="310" y="4358"/>
                  </a:cubicBezTo>
                  <a:lnTo>
                    <a:pt x="310" y="4679"/>
                  </a:lnTo>
                  <a:cubicBezTo>
                    <a:pt x="310" y="4751"/>
                    <a:pt x="369" y="4822"/>
                    <a:pt x="464" y="4822"/>
                  </a:cubicBezTo>
                  <a:cubicBezTo>
                    <a:pt x="548" y="4822"/>
                    <a:pt x="607" y="4763"/>
                    <a:pt x="607" y="4679"/>
                  </a:cubicBezTo>
                  <a:lnTo>
                    <a:pt x="607" y="4358"/>
                  </a:lnTo>
                  <a:cubicBezTo>
                    <a:pt x="607" y="4239"/>
                    <a:pt x="583" y="4120"/>
                    <a:pt x="500" y="4036"/>
                  </a:cubicBezTo>
                  <a:lnTo>
                    <a:pt x="357" y="3810"/>
                  </a:lnTo>
                  <a:cubicBezTo>
                    <a:pt x="322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22" y="2179"/>
                    <a:pt x="381" y="2143"/>
                  </a:cubicBezTo>
                  <a:lnTo>
                    <a:pt x="631" y="2024"/>
                  </a:lnTo>
                  <a:lnTo>
                    <a:pt x="857" y="2251"/>
                  </a:lnTo>
                  <a:cubicBezTo>
                    <a:pt x="917" y="2310"/>
                    <a:pt x="1000" y="2334"/>
                    <a:pt x="1072" y="2334"/>
                  </a:cubicBezTo>
                  <a:cubicBezTo>
                    <a:pt x="1143" y="2334"/>
                    <a:pt x="1215" y="2310"/>
                    <a:pt x="1274" y="2251"/>
                  </a:cubicBezTo>
                  <a:lnTo>
                    <a:pt x="1500" y="2024"/>
                  </a:lnTo>
                  <a:lnTo>
                    <a:pt x="1750" y="2143"/>
                  </a:lnTo>
                  <a:cubicBezTo>
                    <a:pt x="1810" y="2179"/>
                    <a:pt x="1846" y="2239"/>
                    <a:pt x="1846" y="2298"/>
                  </a:cubicBezTo>
                  <a:lnTo>
                    <a:pt x="1846" y="3632"/>
                  </a:lnTo>
                  <a:cubicBezTo>
                    <a:pt x="1846" y="3691"/>
                    <a:pt x="1834" y="3751"/>
                    <a:pt x="1786" y="3810"/>
                  </a:cubicBezTo>
                  <a:lnTo>
                    <a:pt x="1631" y="4036"/>
                  </a:lnTo>
                  <a:cubicBezTo>
                    <a:pt x="1572" y="4144"/>
                    <a:pt x="1524" y="4239"/>
                    <a:pt x="1524" y="4358"/>
                  </a:cubicBezTo>
                  <a:lnTo>
                    <a:pt x="1524" y="4679"/>
                  </a:lnTo>
                  <a:cubicBezTo>
                    <a:pt x="1524" y="4751"/>
                    <a:pt x="1596" y="4822"/>
                    <a:pt x="1679" y="4822"/>
                  </a:cubicBezTo>
                  <a:cubicBezTo>
                    <a:pt x="1750" y="4822"/>
                    <a:pt x="1822" y="4763"/>
                    <a:pt x="1822" y="4679"/>
                  </a:cubicBezTo>
                  <a:lnTo>
                    <a:pt x="1822" y="4358"/>
                  </a:lnTo>
                  <a:cubicBezTo>
                    <a:pt x="1822" y="4298"/>
                    <a:pt x="1846" y="4239"/>
                    <a:pt x="1893" y="4179"/>
                  </a:cubicBezTo>
                  <a:lnTo>
                    <a:pt x="2036" y="3965"/>
                  </a:lnTo>
                  <a:cubicBezTo>
                    <a:pt x="2096" y="3858"/>
                    <a:pt x="2143" y="3751"/>
                    <a:pt x="2143" y="3632"/>
                  </a:cubicBezTo>
                  <a:lnTo>
                    <a:pt x="2143" y="2298"/>
                  </a:lnTo>
                  <a:cubicBezTo>
                    <a:pt x="2096" y="2120"/>
                    <a:pt x="2012" y="1965"/>
                    <a:pt x="1857" y="1893"/>
                  </a:cubicBezTo>
                  <a:lnTo>
                    <a:pt x="1500" y="1715"/>
                  </a:lnTo>
                  <a:lnTo>
                    <a:pt x="1500" y="1703"/>
                  </a:lnTo>
                  <a:lnTo>
                    <a:pt x="1500" y="1489"/>
                  </a:lnTo>
                  <a:cubicBezTo>
                    <a:pt x="1679" y="1358"/>
                    <a:pt x="1798" y="1131"/>
                    <a:pt x="1798" y="893"/>
                  </a:cubicBezTo>
                  <a:lnTo>
                    <a:pt x="1798" y="596"/>
                  </a:lnTo>
                  <a:cubicBezTo>
                    <a:pt x="1798" y="274"/>
                    <a:pt x="1536" y="0"/>
                    <a:pt x="12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6880289" y="3542403"/>
              <a:ext cx="68620" cy="153504"/>
            </a:xfrm>
            <a:custGeom>
              <a:avLst/>
              <a:gdLst/>
              <a:ahLst/>
              <a:cxnLst/>
              <a:rect l="l" t="t" r="r" b="b"/>
              <a:pathLst>
                <a:path w="2156" h="4823" extrusionOk="0">
                  <a:moveTo>
                    <a:pt x="1214" y="286"/>
                  </a:moveTo>
                  <a:cubicBezTo>
                    <a:pt x="1393" y="286"/>
                    <a:pt x="1524" y="417"/>
                    <a:pt x="1524" y="596"/>
                  </a:cubicBezTo>
                  <a:lnTo>
                    <a:pt x="1524" y="893"/>
                  </a:lnTo>
                  <a:cubicBezTo>
                    <a:pt x="1524" y="1143"/>
                    <a:pt x="1322" y="1358"/>
                    <a:pt x="1060" y="1358"/>
                  </a:cubicBezTo>
                  <a:cubicBezTo>
                    <a:pt x="810" y="1358"/>
                    <a:pt x="607" y="1143"/>
                    <a:pt x="607" y="893"/>
                  </a:cubicBezTo>
                  <a:lnTo>
                    <a:pt x="607" y="596"/>
                  </a:lnTo>
                  <a:cubicBezTo>
                    <a:pt x="607" y="417"/>
                    <a:pt x="738" y="286"/>
                    <a:pt x="917" y="286"/>
                  </a:cubicBezTo>
                  <a:close/>
                  <a:moveTo>
                    <a:pt x="1226" y="1643"/>
                  </a:moveTo>
                  <a:lnTo>
                    <a:pt x="1226" y="1715"/>
                  </a:lnTo>
                  <a:cubicBezTo>
                    <a:pt x="1226" y="1774"/>
                    <a:pt x="1238" y="1822"/>
                    <a:pt x="1274" y="1858"/>
                  </a:cubicBezTo>
                  <a:lnTo>
                    <a:pt x="1060" y="2036"/>
                  </a:lnTo>
                  <a:lnTo>
                    <a:pt x="857" y="1846"/>
                  </a:lnTo>
                  <a:cubicBezTo>
                    <a:pt x="881" y="1798"/>
                    <a:pt x="893" y="1762"/>
                    <a:pt x="893" y="1703"/>
                  </a:cubicBezTo>
                  <a:lnTo>
                    <a:pt x="893" y="1643"/>
                  </a:lnTo>
                  <a:close/>
                  <a:moveTo>
                    <a:pt x="917" y="0"/>
                  </a:moveTo>
                  <a:cubicBezTo>
                    <a:pt x="583" y="0"/>
                    <a:pt x="322" y="274"/>
                    <a:pt x="322" y="596"/>
                  </a:cubicBezTo>
                  <a:lnTo>
                    <a:pt x="322" y="893"/>
                  </a:lnTo>
                  <a:cubicBezTo>
                    <a:pt x="322" y="1143"/>
                    <a:pt x="441" y="1358"/>
                    <a:pt x="619" y="1489"/>
                  </a:cubicBezTo>
                  <a:lnTo>
                    <a:pt x="619" y="1703"/>
                  </a:lnTo>
                  <a:lnTo>
                    <a:pt x="619" y="1715"/>
                  </a:lnTo>
                  <a:lnTo>
                    <a:pt x="262" y="1893"/>
                  </a:lnTo>
                  <a:cubicBezTo>
                    <a:pt x="107" y="1965"/>
                    <a:pt x="0" y="2120"/>
                    <a:pt x="0" y="2298"/>
                  </a:cubicBezTo>
                  <a:lnTo>
                    <a:pt x="0" y="3632"/>
                  </a:lnTo>
                  <a:cubicBezTo>
                    <a:pt x="0" y="3751"/>
                    <a:pt x="36" y="3870"/>
                    <a:pt x="107" y="3965"/>
                  </a:cubicBezTo>
                  <a:lnTo>
                    <a:pt x="262" y="4179"/>
                  </a:lnTo>
                  <a:cubicBezTo>
                    <a:pt x="286" y="4227"/>
                    <a:pt x="322" y="4298"/>
                    <a:pt x="322" y="4358"/>
                  </a:cubicBezTo>
                  <a:lnTo>
                    <a:pt x="322" y="4679"/>
                  </a:lnTo>
                  <a:cubicBezTo>
                    <a:pt x="322" y="4751"/>
                    <a:pt x="381" y="4822"/>
                    <a:pt x="464" y="4822"/>
                  </a:cubicBezTo>
                  <a:cubicBezTo>
                    <a:pt x="548" y="4822"/>
                    <a:pt x="619" y="4763"/>
                    <a:pt x="619" y="4679"/>
                  </a:cubicBezTo>
                  <a:lnTo>
                    <a:pt x="619" y="4358"/>
                  </a:lnTo>
                  <a:cubicBezTo>
                    <a:pt x="619" y="4239"/>
                    <a:pt x="583" y="4120"/>
                    <a:pt x="512" y="4036"/>
                  </a:cubicBezTo>
                  <a:lnTo>
                    <a:pt x="369" y="3810"/>
                  </a:lnTo>
                  <a:cubicBezTo>
                    <a:pt x="333" y="3763"/>
                    <a:pt x="298" y="3691"/>
                    <a:pt x="298" y="3632"/>
                  </a:cubicBezTo>
                  <a:lnTo>
                    <a:pt x="298" y="2298"/>
                  </a:lnTo>
                  <a:cubicBezTo>
                    <a:pt x="298" y="2239"/>
                    <a:pt x="333" y="2179"/>
                    <a:pt x="393" y="2143"/>
                  </a:cubicBezTo>
                  <a:lnTo>
                    <a:pt x="643" y="2024"/>
                  </a:lnTo>
                  <a:lnTo>
                    <a:pt x="869" y="2251"/>
                  </a:lnTo>
                  <a:cubicBezTo>
                    <a:pt x="929" y="2310"/>
                    <a:pt x="1000" y="2334"/>
                    <a:pt x="1072" y="2334"/>
                  </a:cubicBezTo>
                  <a:cubicBezTo>
                    <a:pt x="1155" y="2334"/>
                    <a:pt x="1226" y="2310"/>
                    <a:pt x="1286" y="2251"/>
                  </a:cubicBezTo>
                  <a:lnTo>
                    <a:pt x="1512" y="2024"/>
                  </a:lnTo>
                  <a:lnTo>
                    <a:pt x="1762" y="2143"/>
                  </a:lnTo>
                  <a:cubicBezTo>
                    <a:pt x="1822" y="2179"/>
                    <a:pt x="1857" y="2239"/>
                    <a:pt x="1857" y="2298"/>
                  </a:cubicBezTo>
                  <a:lnTo>
                    <a:pt x="1857" y="3632"/>
                  </a:lnTo>
                  <a:cubicBezTo>
                    <a:pt x="1857" y="3691"/>
                    <a:pt x="1834" y="3751"/>
                    <a:pt x="1786" y="3810"/>
                  </a:cubicBezTo>
                  <a:lnTo>
                    <a:pt x="1643" y="4036"/>
                  </a:lnTo>
                  <a:cubicBezTo>
                    <a:pt x="1584" y="4144"/>
                    <a:pt x="1536" y="4239"/>
                    <a:pt x="1536" y="4358"/>
                  </a:cubicBezTo>
                  <a:lnTo>
                    <a:pt x="1536" y="4679"/>
                  </a:lnTo>
                  <a:cubicBezTo>
                    <a:pt x="1536" y="4751"/>
                    <a:pt x="1595" y="4822"/>
                    <a:pt x="1691" y="4822"/>
                  </a:cubicBezTo>
                  <a:cubicBezTo>
                    <a:pt x="1762" y="4822"/>
                    <a:pt x="1834" y="4763"/>
                    <a:pt x="1834" y="4679"/>
                  </a:cubicBezTo>
                  <a:lnTo>
                    <a:pt x="1834" y="4358"/>
                  </a:lnTo>
                  <a:cubicBezTo>
                    <a:pt x="1834" y="4298"/>
                    <a:pt x="1846" y="4239"/>
                    <a:pt x="1893" y="4179"/>
                  </a:cubicBezTo>
                  <a:lnTo>
                    <a:pt x="2048" y="3965"/>
                  </a:lnTo>
                  <a:cubicBezTo>
                    <a:pt x="2107" y="3858"/>
                    <a:pt x="2155" y="3751"/>
                    <a:pt x="2155" y="3632"/>
                  </a:cubicBezTo>
                  <a:lnTo>
                    <a:pt x="2155" y="2298"/>
                  </a:lnTo>
                  <a:cubicBezTo>
                    <a:pt x="2107" y="2120"/>
                    <a:pt x="2012" y="1965"/>
                    <a:pt x="1869" y="1893"/>
                  </a:cubicBezTo>
                  <a:lnTo>
                    <a:pt x="1512" y="1715"/>
                  </a:lnTo>
                  <a:lnTo>
                    <a:pt x="1512" y="1703"/>
                  </a:lnTo>
                  <a:lnTo>
                    <a:pt x="1512" y="1489"/>
                  </a:lnTo>
                  <a:cubicBezTo>
                    <a:pt x="1691" y="1358"/>
                    <a:pt x="1810" y="1131"/>
                    <a:pt x="1810" y="893"/>
                  </a:cubicBezTo>
                  <a:lnTo>
                    <a:pt x="1810" y="596"/>
                  </a:lnTo>
                  <a:cubicBezTo>
                    <a:pt x="1810" y="274"/>
                    <a:pt x="1536" y="0"/>
                    <a:pt x="1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6707084" y="3387403"/>
              <a:ext cx="261145" cy="183072"/>
            </a:xfrm>
            <a:custGeom>
              <a:avLst/>
              <a:gdLst/>
              <a:ahLst/>
              <a:cxnLst/>
              <a:rect l="l" t="t" r="r" b="b"/>
              <a:pathLst>
                <a:path w="8205" h="5752" extrusionOk="0">
                  <a:moveTo>
                    <a:pt x="2727" y="536"/>
                  </a:moveTo>
                  <a:cubicBezTo>
                    <a:pt x="2501" y="715"/>
                    <a:pt x="2311" y="953"/>
                    <a:pt x="2132" y="1227"/>
                  </a:cubicBezTo>
                  <a:cubicBezTo>
                    <a:pt x="2013" y="1417"/>
                    <a:pt x="1906" y="1608"/>
                    <a:pt x="1799" y="1822"/>
                  </a:cubicBezTo>
                  <a:lnTo>
                    <a:pt x="1013" y="1822"/>
                  </a:lnTo>
                  <a:cubicBezTo>
                    <a:pt x="1465" y="1239"/>
                    <a:pt x="2037" y="798"/>
                    <a:pt x="2727" y="536"/>
                  </a:cubicBezTo>
                  <a:close/>
                  <a:moveTo>
                    <a:pt x="3930" y="286"/>
                  </a:moveTo>
                  <a:lnTo>
                    <a:pt x="3930" y="1822"/>
                  </a:lnTo>
                  <a:lnTo>
                    <a:pt x="2120" y="1822"/>
                  </a:lnTo>
                  <a:cubicBezTo>
                    <a:pt x="2537" y="941"/>
                    <a:pt x="3192" y="358"/>
                    <a:pt x="3930" y="286"/>
                  </a:cubicBezTo>
                  <a:close/>
                  <a:moveTo>
                    <a:pt x="4216" y="286"/>
                  </a:moveTo>
                  <a:cubicBezTo>
                    <a:pt x="4954" y="346"/>
                    <a:pt x="5609" y="941"/>
                    <a:pt x="6025" y="1822"/>
                  </a:cubicBezTo>
                  <a:lnTo>
                    <a:pt x="4216" y="1822"/>
                  </a:lnTo>
                  <a:lnTo>
                    <a:pt x="4216" y="286"/>
                  </a:lnTo>
                  <a:close/>
                  <a:moveTo>
                    <a:pt x="5418" y="536"/>
                  </a:moveTo>
                  <a:cubicBezTo>
                    <a:pt x="6109" y="798"/>
                    <a:pt x="6704" y="1239"/>
                    <a:pt x="7133" y="1822"/>
                  </a:cubicBezTo>
                  <a:lnTo>
                    <a:pt x="6347" y="1822"/>
                  </a:lnTo>
                  <a:cubicBezTo>
                    <a:pt x="6252" y="1608"/>
                    <a:pt x="6133" y="1406"/>
                    <a:pt x="6014" y="1227"/>
                  </a:cubicBezTo>
                  <a:cubicBezTo>
                    <a:pt x="5835" y="953"/>
                    <a:pt x="5644" y="715"/>
                    <a:pt x="5418" y="536"/>
                  </a:cubicBezTo>
                  <a:close/>
                  <a:moveTo>
                    <a:pt x="1680" y="2108"/>
                  </a:moveTo>
                  <a:cubicBezTo>
                    <a:pt x="1489" y="2668"/>
                    <a:pt x="1370" y="3299"/>
                    <a:pt x="1358" y="3953"/>
                  </a:cubicBezTo>
                  <a:lnTo>
                    <a:pt x="275" y="3953"/>
                  </a:lnTo>
                  <a:cubicBezTo>
                    <a:pt x="299" y="3275"/>
                    <a:pt x="489" y="2656"/>
                    <a:pt x="822" y="2108"/>
                  </a:cubicBezTo>
                  <a:close/>
                  <a:moveTo>
                    <a:pt x="3930" y="2108"/>
                  </a:moveTo>
                  <a:lnTo>
                    <a:pt x="3930" y="3953"/>
                  </a:lnTo>
                  <a:lnTo>
                    <a:pt x="1644" y="3953"/>
                  </a:lnTo>
                  <a:cubicBezTo>
                    <a:pt x="1656" y="3275"/>
                    <a:pt x="1787" y="2656"/>
                    <a:pt x="2001" y="2108"/>
                  </a:cubicBezTo>
                  <a:close/>
                  <a:moveTo>
                    <a:pt x="6145" y="2108"/>
                  </a:moveTo>
                  <a:cubicBezTo>
                    <a:pt x="6359" y="2644"/>
                    <a:pt x="6490" y="3263"/>
                    <a:pt x="6502" y="3953"/>
                  </a:cubicBezTo>
                  <a:lnTo>
                    <a:pt x="4216" y="3953"/>
                  </a:lnTo>
                  <a:lnTo>
                    <a:pt x="4216" y="2108"/>
                  </a:lnTo>
                  <a:close/>
                  <a:moveTo>
                    <a:pt x="7311" y="2108"/>
                  </a:moveTo>
                  <a:cubicBezTo>
                    <a:pt x="7633" y="2644"/>
                    <a:pt x="7847" y="3263"/>
                    <a:pt x="7859" y="3953"/>
                  </a:cubicBezTo>
                  <a:lnTo>
                    <a:pt x="6787" y="3953"/>
                  </a:lnTo>
                  <a:cubicBezTo>
                    <a:pt x="6776" y="3299"/>
                    <a:pt x="6656" y="2668"/>
                    <a:pt x="6442" y="2108"/>
                  </a:cubicBezTo>
                  <a:close/>
                  <a:moveTo>
                    <a:pt x="4085" y="1"/>
                  </a:moveTo>
                  <a:cubicBezTo>
                    <a:pt x="2989" y="1"/>
                    <a:pt x="1965" y="429"/>
                    <a:pt x="1192" y="1191"/>
                  </a:cubicBezTo>
                  <a:cubicBezTo>
                    <a:pt x="418" y="1953"/>
                    <a:pt x="1" y="3001"/>
                    <a:pt x="1" y="4084"/>
                  </a:cubicBezTo>
                  <a:cubicBezTo>
                    <a:pt x="1" y="4632"/>
                    <a:pt x="108" y="5156"/>
                    <a:pt x="310" y="5656"/>
                  </a:cubicBezTo>
                  <a:cubicBezTo>
                    <a:pt x="337" y="5719"/>
                    <a:pt x="392" y="5748"/>
                    <a:pt x="443" y="5748"/>
                  </a:cubicBezTo>
                  <a:cubicBezTo>
                    <a:pt x="459" y="5748"/>
                    <a:pt x="475" y="5745"/>
                    <a:pt x="489" y="5739"/>
                  </a:cubicBezTo>
                  <a:cubicBezTo>
                    <a:pt x="560" y="5704"/>
                    <a:pt x="596" y="5620"/>
                    <a:pt x="560" y="5549"/>
                  </a:cubicBezTo>
                  <a:cubicBezTo>
                    <a:pt x="382" y="5144"/>
                    <a:pt x="299" y="4692"/>
                    <a:pt x="287" y="4227"/>
                  </a:cubicBezTo>
                  <a:lnTo>
                    <a:pt x="1370" y="4227"/>
                  </a:lnTo>
                  <a:lnTo>
                    <a:pt x="1370" y="4394"/>
                  </a:lnTo>
                  <a:cubicBezTo>
                    <a:pt x="1370" y="4465"/>
                    <a:pt x="1442" y="4525"/>
                    <a:pt x="1513" y="4525"/>
                  </a:cubicBezTo>
                  <a:cubicBezTo>
                    <a:pt x="1596" y="4525"/>
                    <a:pt x="1656" y="4454"/>
                    <a:pt x="1656" y="4382"/>
                  </a:cubicBezTo>
                  <a:lnTo>
                    <a:pt x="1656" y="4227"/>
                  </a:lnTo>
                  <a:lnTo>
                    <a:pt x="3942" y="4227"/>
                  </a:lnTo>
                  <a:lnTo>
                    <a:pt x="3942" y="4394"/>
                  </a:lnTo>
                  <a:cubicBezTo>
                    <a:pt x="3942" y="4465"/>
                    <a:pt x="4001" y="4549"/>
                    <a:pt x="4097" y="4549"/>
                  </a:cubicBezTo>
                  <a:cubicBezTo>
                    <a:pt x="4168" y="4549"/>
                    <a:pt x="4240" y="4489"/>
                    <a:pt x="4240" y="4394"/>
                  </a:cubicBezTo>
                  <a:lnTo>
                    <a:pt x="4240" y="4227"/>
                  </a:lnTo>
                  <a:lnTo>
                    <a:pt x="6537" y="4227"/>
                  </a:lnTo>
                  <a:lnTo>
                    <a:pt x="6537" y="4382"/>
                  </a:lnTo>
                  <a:cubicBezTo>
                    <a:pt x="6537" y="4454"/>
                    <a:pt x="6597" y="4525"/>
                    <a:pt x="6668" y="4525"/>
                  </a:cubicBezTo>
                  <a:cubicBezTo>
                    <a:pt x="6740" y="4525"/>
                    <a:pt x="6799" y="4465"/>
                    <a:pt x="6823" y="4394"/>
                  </a:cubicBezTo>
                  <a:lnTo>
                    <a:pt x="6823" y="4227"/>
                  </a:lnTo>
                  <a:lnTo>
                    <a:pt x="7907" y="4227"/>
                  </a:lnTo>
                  <a:cubicBezTo>
                    <a:pt x="7895" y="4692"/>
                    <a:pt x="7788" y="5120"/>
                    <a:pt x="7621" y="5549"/>
                  </a:cubicBezTo>
                  <a:cubicBezTo>
                    <a:pt x="7597" y="5632"/>
                    <a:pt x="7621" y="5704"/>
                    <a:pt x="7692" y="5739"/>
                  </a:cubicBezTo>
                  <a:cubicBezTo>
                    <a:pt x="7704" y="5751"/>
                    <a:pt x="7728" y="5751"/>
                    <a:pt x="7752" y="5751"/>
                  </a:cubicBezTo>
                  <a:cubicBezTo>
                    <a:pt x="7811" y="5751"/>
                    <a:pt x="7859" y="5716"/>
                    <a:pt x="7895" y="5656"/>
                  </a:cubicBezTo>
                  <a:cubicBezTo>
                    <a:pt x="8097" y="5168"/>
                    <a:pt x="8204" y="4632"/>
                    <a:pt x="8204" y="4084"/>
                  </a:cubicBezTo>
                  <a:cubicBezTo>
                    <a:pt x="8157" y="3001"/>
                    <a:pt x="7740" y="1965"/>
                    <a:pt x="6966" y="1191"/>
                  </a:cubicBezTo>
                  <a:cubicBezTo>
                    <a:pt x="6192" y="417"/>
                    <a:pt x="5168" y="1"/>
                    <a:pt x="40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25"/>
          <p:cNvGrpSpPr/>
          <p:nvPr/>
        </p:nvGrpSpPr>
        <p:grpSpPr>
          <a:xfrm>
            <a:off x="5040882" y="2565918"/>
            <a:ext cx="352840" cy="354717"/>
            <a:chOff x="3095745" y="3805393"/>
            <a:chExt cx="352840" cy="354717"/>
          </a:xfrm>
        </p:grpSpPr>
        <p:sp>
          <p:nvSpPr>
            <p:cNvPr id="368" name="Google Shape;368;p25"/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9"/>
          <p:cNvGrpSpPr/>
          <p:nvPr/>
        </p:nvGrpSpPr>
        <p:grpSpPr>
          <a:xfrm>
            <a:off x="711808" y="2566601"/>
            <a:ext cx="1821992" cy="1702043"/>
            <a:chOff x="711808" y="2566601"/>
            <a:chExt cx="1821992" cy="1702043"/>
          </a:xfrm>
        </p:grpSpPr>
        <p:sp>
          <p:nvSpPr>
            <p:cNvPr id="92" name="Google Shape;92;p19"/>
            <p:cNvSpPr txBox="1"/>
            <p:nvPr/>
          </p:nvSpPr>
          <p:spPr>
            <a:xfrm>
              <a:off x="711808" y="3178225"/>
              <a:ext cx="18138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Administration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93" name="Google Shape;93;p19"/>
            <p:cNvSpPr txBox="1"/>
            <p:nvPr/>
          </p:nvSpPr>
          <p:spPr>
            <a:xfrm>
              <a:off x="720000" y="3603244"/>
              <a:ext cx="1813800" cy="66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administrative offices, handling student records, finance, human resources, and overall campus operations.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1396474" y="2566601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01</a:t>
              </a:r>
              <a:endParaRPr b="1" dirty="0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sp>
        <p:nvSpPr>
          <p:cNvPr id="95" name="Google Shape;95;p19"/>
          <p:cNvSpPr/>
          <p:nvPr/>
        </p:nvSpPr>
        <p:spPr>
          <a:xfrm>
            <a:off x="1218200" y="1447544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176050" y="1447544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5137988" y="1450844"/>
            <a:ext cx="806400" cy="806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7114413" y="1447544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>
                <a:solidFill>
                  <a:schemeClr val="accent2"/>
                </a:solidFill>
              </a:rPr>
              <a:t>Modern</a:t>
            </a:r>
            <a:r>
              <a:rPr lang="en" sz="2800" dirty="0"/>
              <a:t> </a:t>
            </a:r>
            <a:r>
              <a:rPr lang="en-US" sz="2800" dirty="0">
                <a:solidFill>
                  <a:schemeClr val="accent2"/>
                </a:solidFill>
              </a:rPr>
              <a:t>Technical College Campus buildings</a:t>
            </a:r>
            <a:endParaRPr dirty="0"/>
          </a:p>
        </p:txBody>
      </p:sp>
      <p:cxnSp>
        <p:nvCxnSpPr>
          <p:cNvPr id="100" name="Google Shape;100;p19"/>
          <p:cNvCxnSpPr>
            <a:stCxn id="94" idx="4"/>
            <a:endCxn id="92" idx="0"/>
          </p:cNvCxnSpPr>
          <p:nvPr/>
        </p:nvCxnSpPr>
        <p:spPr>
          <a:xfrm flipH="1">
            <a:off x="1618708" y="3023201"/>
            <a:ext cx="6066" cy="155024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>
            <a:stCxn id="102" idx="4"/>
            <a:endCxn id="103" idx="0"/>
          </p:cNvCxnSpPr>
          <p:nvPr/>
        </p:nvCxnSpPr>
        <p:spPr>
          <a:xfrm>
            <a:off x="3582527" y="3023196"/>
            <a:ext cx="2078" cy="15502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9"/>
          <p:cNvCxnSpPr>
            <a:stCxn id="105" idx="4"/>
            <a:endCxn id="106" idx="0"/>
          </p:cNvCxnSpPr>
          <p:nvPr/>
        </p:nvCxnSpPr>
        <p:spPr>
          <a:xfrm flipH="1">
            <a:off x="5540288" y="3023196"/>
            <a:ext cx="14" cy="193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" name="Google Shape;107;p19"/>
          <p:cNvCxnSpPr>
            <a:stCxn id="108" idx="4"/>
            <a:endCxn id="109" idx="0"/>
          </p:cNvCxnSpPr>
          <p:nvPr/>
        </p:nvCxnSpPr>
        <p:spPr>
          <a:xfrm>
            <a:off x="7519227" y="3023196"/>
            <a:ext cx="6065" cy="15502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" name="Google Shape;110;p19"/>
          <p:cNvGrpSpPr/>
          <p:nvPr/>
        </p:nvGrpSpPr>
        <p:grpSpPr>
          <a:xfrm>
            <a:off x="1457552" y="1743380"/>
            <a:ext cx="322508" cy="273494"/>
            <a:chOff x="2661459" y="2015001"/>
            <a:chExt cx="322508" cy="273494"/>
          </a:xfrm>
        </p:grpSpPr>
        <p:sp>
          <p:nvSpPr>
            <p:cNvPr id="111" name="Google Shape;111;p19"/>
            <p:cNvSpPr/>
            <p:nvPr/>
          </p:nvSpPr>
          <p:spPr>
            <a:xfrm>
              <a:off x="2661459" y="2028878"/>
              <a:ext cx="322508" cy="259617"/>
            </a:xfrm>
            <a:custGeom>
              <a:avLst/>
              <a:gdLst/>
              <a:ahLst/>
              <a:cxnLst/>
              <a:rect l="l" t="t" r="r" b="b"/>
              <a:pathLst>
                <a:path w="10133" h="8157" extrusionOk="0">
                  <a:moveTo>
                    <a:pt x="6156" y="2227"/>
                  </a:moveTo>
                  <a:lnTo>
                    <a:pt x="6966" y="2489"/>
                  </a:lnTo>
                  <a:cubicBezTo>
                    <a:pt x="6975" y="2492"/>
                    <a:pt x="6987" y="2494"/>
                    <a:pt x="6999" y="2494"/>
                  </a:cubicBezTo>
                  <a:cubicBezTo>
                    <a:pt x="7032" y="2494"/>
                    <a:pt x="7071" y="2483"/>
                    <a:pt x="7097" y="2465"/>
                  </a:cubicBezTo>
                  <a:lnTo>
                    <a:pt x="7347" y="2263"/>
                  </a:lnTo>
                  <a:lnTo>
                    <a:pt x="9121" y="4585"/>
                  </a:lnTo>
                  <a:lnTo>
                    <a:pt x="8847" y="4799"/>
                  </a:lnTo>
                  <a:cubicBezTo>
                    <a:pt x="8835" y="4787"/>
                    <a:pt x="8811" y="4763"/>
                    <a:pt x="8799" y="4763"/>
                  </a:cubicBezTo>
                  <a:lnTo>
                    <a:pt x="5728" y="3096"/>
                  </a:lnTo>
                  <a:lnTo>
                    <a:pt x="5847" y="2918"/>
                  </a:lnTo>
                  <a:cubicBezTo>
                    <a:pt x="5894" y="2846"/>
                    <a:pt x="5859" y="2763"/>
                    <a:pt x="5799" y="2715"/>
                  </a:cubicBezTo>
                  <a:cubicBezTo>
                    <a:pt x="5776" y="2700"/>
                    <a:pt x="5750" y="2693"/>
                    <a:pt x="5725" y="2693"/>
                  </a:cubicBezTo>
                  <a:cubicBezTo>
                    <a:pt x="5672" y="2693"/>
                    <a:pt x="5621" y="2723"/>
                    <a:pt x="5597" y="2763"/>
                  </a:cubicBezTo>
                  <a:lnTo>
                    <a:pt x="5263" y="3263"/>
                  </a:lnTo>
                  <a:cubicBezTo>
                    <a:pt x="5251" y="3299"/>
                    <a:pt x="5240" y="3311"/>
                    <a:pt x="5240" y="3335"/>
                  </a:cubicBezTo>
                  <a:lnTo>
                    <a:pt x="5240" y="4609"/>
                  </a:lnTo>
                  <a:cubicBezTo>
                    <a:pt x="5240" y="4870"/>
                    <a:pt x="5013" y="5085"/>
                    <a:pt x="4763" y="5085"/>
                  </a:cubicBezTo>
                  <a:cubicBezTo>
                    <a:pt x="4489" y="5085"/>
                    <a:pt x="4287" y="4859"/>
                    <a:pt x="4287" y="4609"/>
                  </a:cubicBezTo>
                  <a:lnTo>
                    <a:pt x="4287" y="3358"/>
                  </a:lnTo>
                  <a:lnTo>
                    <a:pt x="4561" y="2227"/>
                  </a:lnTo>
                  <a:close/>
                  <a:moveTo>
                    <a:pt x="2620" y="1727"/>
                  </a:moveTo>
                  <a:lnTo>
                    <a:pt x="2858" y="1870"/>
                  </a:lnTo>
                  <a:lnTo>
                    <a:pt x="906" y="5228"/>
                  </a:lnTo>
                  <a:lnTo>
                    <a:pt x="668" y="5097"/>
                  </a:lnTo>
                  <a:lnTo>
                    <a:pt x="2620" y="1727"/>
                  </a:lnTo>
                  <a:close/>
                  <a:moveTo>
                    <a:pt x="3108" y="4656"/>
                  </a:moveTo>
                  <a:cubicBezTo>
                    <a:pt x="3215" y="4656"/>
                    <a:pt x="3299" y="4704"/>
                    <a:pt x="3358" y="4799"/>
                  </a:cubicBezTo>
                  <a:cubicBezTo>
                    <a:pt x="3465" y="4942"/>
                    <a:pt x="3442" y="5156"/>
                    <a:pt x="3287" y="5251"/>
                  </a:cubicBezTo>
                  <a:lnTo>
                    <a:pt x="2263" y="6013"/>
                  </a:lnTo>
                  <a:cubicBezTo>
                    <a:pt x="2200" y="6057"/>
                    <a:pt x="2130" y="6079"/>
                    <a:pt x="2062" y="6079"/>
                  </a:cubicBezTo>
                  <a:cubicBezTo>
                    <a:pt x="1964" y="6079"/>
                    <a:pt x="1869" y="6033"/>
                    <a:pt x="1799" y="5942"/>
                  </a:cubicBezTo>
                  <a:cubicBezTo>
                    <a:pt x="1691" y="5799"/>
                    <a:pt x="1727" y="5597"/>
                    <a:pt x="1870" y="5478"/>
                  </a:cubicBezTo>
                  <a:lnTo>
                    <a:pt x="2918" y="4716"/>
                  </a:lnTo>
                  <a:cubicBezTo>
                    <a:pt x="2977" y="4680"/>
                    <a:pt x="3037" y="4656"/>
                    <a:pt x="3108" y="4656"/>
                  </a:cubicBezTo>
                  <a:close/>
                  <a:moveTo>
                    <a:pt x="3739" y="5418"/>
                  </a:moveTo>
                  <a:cubicBezTo>
                    <a:pt x="3823" y="5418"/>
                    <a:pt x="3918" y="5478"/>
                    <a:pt x="3977" y="5549"/>
                  </a:cubicBezTo>
                  <a:cubicBezTo>
                    <a:pt x="4073" y="5704"/>
                    <a:pt x="4049" y="5906"/>
                    <a:pt x="3894" y="6013"/>
                  </a:cubicBezTo>
                  <a:lnTo>
                    <a:pt x="3084" y="6609"/>
                  </a:lnTo>
                  <a:cubicBezTo>
                    <a:pt x="3021" y="6653"/>
                    <a:pt x="2952" y="6675"/>
                    <a:pt x="2885" y="6675"/>
                  </a:cubicBezTo>
                  <a:cubicBezTo>
                    <a:pt x="2788" y="6675"/>
                    <a:pt x="2695" y="6629"/>
                    <a:pt x="2632" y="6537"/>
                  </a:cubicBezTo>
                  <a:cubicBezTo>
                    <a:pt x="2525" y="6394"/>
                    <a:pt x="2561" y="6180"/>
                    <a:pt x="2703" y="6073"/>
                  </a:cubicBezTo>
                  <a:lnTo>
                    <a:pt x="3489" y="5513"/>
                  </a:lnTo>
                  <a:cubicBezTo>
                    <a:pt x="3525" y="5490"/>
                    <a:pt x="3549" y="5466"/>
                    <a:pt x="3585" y="5454"/>
                  </a:cubicBezTo>
                  <a:cubicBezTo>
                    <a:pt x="3632" y="5430"/>
                    <a:pt x="3680" y="5418"/>
                    <a:pt x="3739" y="5418"/>
                  </a:cubicBezTo>
                  <a:close/>
                  <a:moveTo>
                    <a:pt x="4269" y="6177"/>
                  </a:moveTo>
                  <a:cubicBezTo>
                    <a:pt x="4367" y="6177"/>
                    <a:pt x="4461" y="6221"/>
                    <a:pt x="4525" y="6299"/>
                  </a:cubicBezTo>
                  <a:cubicBezTo>
                    <a:pt x="4632" y="6442"/>
                    <a:pt x="4597" y="6656"/>
                    <a:pt x="4454" y="6764"/>
                  </a:cubicBezTo>
                  <a:lnTo>
                    <a:pt x="3882" y="7192"/>
                  </a:lnTo>
                  <a:cubicBezTo>
                    <a:pt x="3823" y="7232"/>
                    <a:pt x="3747" y="7255"/>
                    <a:pt x="3683" y="7255"/>
                  </a:cubicBezTo>
                  <a:cubicBezTo>
                    <a:pt x="3669" y="7255"/>
                    <a:pt x="3656" y="7254"/>
                    <a:pt x="3644" y="7252"/>
                  </a:cubicBezTo>
                  <a:cubicBezTo>
                    <a:pt x="3549" y="7240"/>
                    <a:pt x="3477" y="7192"/>
                    <a:pt x="3442" y="7121"/>
                  </a:cubicBezTo>
                  <a:cubicBezTo>
                    <a:pt x="3335" y="6966"/>
                    <a:pt x="3358" y="6775"/>
                    <a:pt x="3513" y="6656"/>
                  </a:cubicBezTo>
                  <a:lnTo>
                    <a:pt x="4061" y="6252"/>
                  </a:lnTo>
                  <a:lnTo>
                    <a:pt x="4073" y="6240"/>
                  </a:lnTo>
                  <a:cubicBezTo>
                    <a:pt x="4135" y="6197"/>
                    <a:pt x="4203" y="6177"/>
                    <a:pt x="4269" y="6177"/>
                  </a:cubicBezTo>
                  <a:close/>
                  <a:moveTo>
                    <a:pt x="2799" y="2549"/>
                  </a:moveTo>
                  <a:lnTo>
                    <a:pt x="3061" y="2715"/>
                  </a:lnTo>
                  <a:cubicBezTo>
                    <a:pt x="3086" y="2724"/>
                    <a:pt x="3105" y="2732"/>
                    <a:pt x="3127" y="2732"/>
                  </a:cubicBezTo>
                  <a:cubicBezTo>
                    <a:pt x="3136" y="2732"/>
                    <a:pt x="3145" y="2731"/>
                    <a:pt x="3156" y="2727"/>
                  </a:cubicBezTo>
                  <a:lnTo>
                    <a:pt x="3858" y="2656"/>
                  </a:lnTo>
                  <a:lnTo>
                    <a:pt x="4108" y="2751"/>
                  </a:lnTo>
                  <a:lnTo>
                    <a:pt x="3954" y="3335"/>
                  </a:lnTo>
                  <a:lnTo>
                    <a:pt x="3954" y="3370"/>
                  </a:lnTo>
                  <a:lnTo>
                    <a:pt x="3954" y="4632"/>
                  </a:lnTo>
                  <a:cubicBezTo>
                    <a:pt x="3954" y="5061"/>
                    <a:pt x="4299" y="5406"/>
                    <a:pt x="4728" y="5406"/>
                  </a:cubicBezTo>
                  <a:cubicBezTo>
                    <a:pt x="5168" y="5406"/>
                    <a:pt x="5501" y="5061"/>
                    <a:pt x="5501" y="4632"/>
                  </a:cubicBezTo>
                  <a:lnTo>
                    <a:pt x="5501" y="3406"/>
                  </a:lnTo>
                  <a:lnTo>
                    <a:pt x="5537" y="3370"/>
                  </a:lnTo>
                  <a:lnTo>
                    <a:pt x="8621" y="5049"/>
                  </a:lnTo>
                  <a:cubicBezTo>
                    <a:pt x="8811" y="5109"/>
                    <a:pt x="8871" y="5299"/>
                    <a:pt x="8776" y="5466"/>
                  </a:cubicBezTo>
                  <a:cubicBezTo>
                    <a:pt x="8718" y="5573"/>
                    <a:pt x="8609" y="5634"/>
                    <a:pt x="8492" y="5634"/>
                  </a:cubicBezTo>
                  <a:cubicBezTo>
                    <a:pt x="8440" y="5634"/>
                    <a:pt x="8386" y="5622"/>
                    <a:pt x="8335" y="5597"/>
                  </a:cubicBezTo>
                  <a:lnTo>
                    <a:pt x="6621" y="4656"/>
                  </a:lnTo>
                  <a:cubicBezTo>
                    <a:pt x="6599" y="4645"/>
                    <a:pt x="6574" y="4640"/>
                    <a:pt x="6550" y="4640"/>
                  </a:cubicBezTo>
                  <a:cubicBezTo>
                    <a:pt x="6497" y="4640"/>
                    <a:pt x="6447" y="4666"/>
                    <a:pt x="6430" y="4716"/>
                  </a:cubicBezTo>
                  <a:cubicBezTo>
                    <a:pt x="6383" y="4799"/>
                    <a:pt x="6418" y="4882"/>
                    <a:pt x="6490" y="4918"/>
                  </a:cubicBezTo>
                  <a:lnTo>
                    <a:pt x="7918" y="5692"/>
                  </a:lnTo>
                  <a:cubicBezTo>
                    <a:pt x="8085" y="5775"/>
                    <a:pt x="8145" y="5966"/>
                    <a:pt x="8049" y="6133"/>
                  </a:cubicBezTo>
                  <a:cubicBezTo>
                    <a:pt x="7985" y="6245"/>
                    <a:pt x="7877" y="6309"/>
                    <a:pt x="7766" y="6309"/>
                  </a:cubicBezTo>
                  <a:cubicBezTo>
                    <a:pt x="7713" y="6309"/>
                    <a:pt x="7659" y="6294"/>
                    <a:pt x="7609" y="6263"/>
                  </a:cubicBezTo>
                  <a:lnTo>
                    <a:pt x="6144" y="5478"/>
                  </a:lnTo>
                  <a:cubicBezTo>
                    <a:pt x="6122" y="5463"/>
                    <a:pt x="6097" y="5456"/>
                    <a:pt x="6073" y="5456"/>
                  </a:cubicBezTo>
                  <a:cubicBezTo>
                    <a:pt x="6020" y="5456"/>
                    <a:pt x="5970" y="5488"/>
                    <a:pt x="5954" y="5537"/>
                  </a:cubicBezTo>
                  <a:cubicBezTo>
                    <a:pt x="5906" y="5609"/>
                    <a:pt x="5942" y="5704"/>
                    <a:pt x="6013" y="5728"/>
                  </a:cubicBezTo>
                  <a:lnTo>
                    <a:pt x="7192" y="6371"/>
                  </a:lnTo>
                  <a:cubicBezTo>
                    <a:pt x="7347" y="6466"/>
                    <a:pt x="7395" y="6656"/>
                    <a:pt x="7323" y="6823"/>
                  </a:cubicBezTo>
                  <a:cubicBezTo>
                    <a:pt x="7255" y="6925"/>
                    <a:pt x="7139" y="6984"/>
                    <a:pt x="7018" y="6984"/>
                  </a:cubicBezTo>
                  <a:cubicBezTo>
                    <a:pt x="6969" y="6984"/>
                    <a:pt x="6919" y="6975"/>
                    <a:pt x="6871" y="6954"/>
                  </a:cubicBezTo>
                  <a:lnTo>
                    <a:pt x="5644" y="6287"/>
                  </a:lnTo>
                  <a:cubicBezTo>
                    <a:pt x="5616" y="6271"/>
                    <a:pt x="5587" y="6263"/>
                    <a:pt x="5560" y="6263"/>
                  </a:cubicBezTo>
                  <a:cubicBezTo>
                    <a:pt x="5509" y="6263"/>
                    <a:pt x="5465" y="6292"/>
                    <a:pt x="5442" y="6347"/>
                  </a:cubicBezTo>
                  <a:cubicBezTo>
                    <a:pt x="5406" y="6418"/>
                    <a:pt x="5430" y="6502"/>
                    <a:pt x="5501" y="6537"/>
                  </a:cubicBezTo>
                  <a:lnTo>
                    <a:pt x="6454" y="7061"/>
                  </a:lnTo>
                  <a:cubicBezTo>
                    <a:pt x="6609" y="7145"/>
                    <a:pt x="6668" y="7335"/>
                    <a:pt x="6597" y="7502"/>
                  </a:cubicBezTo>
                  <a:cubicBezTo>
                    <a:pt x="6531" y="7609"/>
                    <a:pt x="6419" y="7670"/>
                    <a:pt x="6301" y="7670"/>
                  </a:cubicBezTo>
                  <a:cubicBezTo>
                    <a:pt x="6249" y="7670"/>
                    <a:pt x="6196" y="7658"/>
                    <a:pt x="6144" y="7633"/>
                  </a:cubicBezTo>
                  <a:lnTo>
                    <a:pt x="5478" y="7264"/>
                  </a:lnTo>
                  <a:cubicBezTo>
                    <a:pt x="5478" y="7133"/>
                    <a:pt x="5430" y="7002"/>
                    <a:pt x="5347" y="6883"/>
                  </a:cubicBezTo>
                  <a:cubicBezTo>
                    <a:pt x="5228" y="6728"/>
                    <a:pt x="5061" y="6644"/>
                    <a:pt x="4882" y="6644"/>
                  </a:cubicBezTo>
                  <a:lnTo>
                    <a:pt x="4882" y="6597"/>
                  </a:lnTo>
                  <a:cubicBezTo>
                    <a:pt x="4906" y="6430"/>
                    <a:pt x="4870" y="6263"/>
                    <a:pt x="4763" y="6133"/>
                  </a:cubicBezTo>
                  <a:cubicBezTo>
                    <a:pt x="4644" y="5990"/>
                    <a:pt x="4478" y="5894"/>
                    <a:pt x="4299" y="5894"/>
                  </a:cubicBezTo>
                  <a:lnTo>
                    <a:pt x="4299" y="5847"/>
                  </a:lnTo>
                  <a:cubicBezTo>
                    <a:pt x="4335" y="5692"/>
                    <a:pt x="4287" y="5525"/>
                    <a:pt x="4180" y="5394"/>
                  </a:cubicBezTo>
                  <a:cubicBezTo>
                    <a:pt x="4061" y="5240"/>
                    <a:pt x="3894" y="5156"/>
                    <a:pt x="3716" y="5156"/>
                  </a:cubicBezTo>
                  <a:lnTo>
                    <a:pt x="3716" y="5109"/>
                  </a:lnTo>
                  <a:cubicBezTo>
                    <a:pt x="3751" y="4942"/>
                    <a:pt x="3704" y="4775"/>
                    <a:pt x="3596" y="4644"/>
                  </a:cubicBezTo>
                  <a:cubicBezTo>
                    <a:pt x="3476" y="4488"/>
                    <a:pt x="3297" y="4404"/>
                    <a:pt x="3111" y="4404"/>
                  </a:cubicBezTo>
                  <a:cubicBezTo>
                    <a:pt x="2984" y="4404"/>
                    <a:pt x="2855" y="4443"/>
                    <a:pt x="2739" y="4525"/>
                  </a:cubicBezTo>
                  <a:lnTo>
                    <a:pt x="1715" y="5275"/>
                  </a:lnTo>
                  <a:lnTo>
                    <a:pt x="1334" y="5073"/>
                  </a:lnTo>
                  <a:lnTo>
                    <a:pt x="2799" y="2549"/>
                  </a:lnTo>
                  <a:close/>
                  <a:moveTo>
                    <a:pt x="4855" y="6920"/>
                  </a:moveTo>
                  <a:cubicBezTo>
                    <a:pt x="4953" y="6920"/>
                    <a:pt x="5045" y="6960"/>
                    <a:pt x="5109" y="7037"/>
                  </a:cubicBezTo>
                  <a:cubicBezTo>
                    <a:pt x="5168" y="7133"/>
                    <a:pt x="5192" y="7228"/>
                    <a:pt x="5180" y="7299"/>
                  </a:cubicBezTo>
                  <a:cubicBezTo>
                    <a:pt x="5168" y="7383"/>
                    <a:pt x="5120" y="7466"/>
                    <a:pt x="5049" y="7526"/>
                  </a:cubicBezTo>
                  <a:lnTo>
                    <a:pt x="4704" y="7776"/>
                  </a:lnTo>
                  <a:cubicBezTo>
                    <a:pt x="4643" y="7818"/>
                    <a:pt x="4574" y="7838"/>
                    <a:pt x="4507" y="7838"/>
                  </a:cubicBezTo>
                  <a:cubicBezTo>
                    <a:pt x="4404" y="7838"/>
                    <a:pt x="4304" y="7791"/>
                    <a:pt x="4239" y="7704"/>
                  </a:cubicBezTo>
                  <a:cubicBezTo>
                    <a:pt x="4132" y="7549"/>
                    <a:pt x="4168" y="7347"/>
                    <a:pt x="4311" y="7240"/>
                  </a:cubicBezTo>
                  <a:lnTo>
                    <a:pt x="4644" y="7002"/>
                  </a:lnTo>
                  <a:lnTo>
                    <a:pt x="4656" y="6978"/>
                  </a:lnTo>
                  <a:cubicBezTo>
                    <a:pt x="4719" y="6939"/>
                    <a:pt x="4788" y="6920"/>
                    <a:pt x="4855" y="6920"/>
                  </a:cubicBezTo>
                  <a:close/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5" y="239"/>
                    <a:pt x="108" y="287"/>
                  </a:cubicBezTo>
                  <a:lnTo>
                    <a:pt x="2346" y="1584"/>
                  </a:lnTo>
                  <a:lnTo>
                    <a:pt x="406" y="4942"/>
                  </a:lnTo>
                  <a:lnTo>
                    <a:pt x="251" y="4847"/>
                  </a:lnTo>
                  <a:cubicBezTo>
                    <a:pt x="226" y="4830"/>
                    <a:pt x="199" y="4822"/>
                    <a:pt x="172" y="4822"/>
                  </a:cubicBezTo>
                  <a:cubicBezTo>
                    <a:pt x="121" y="4822"/>
                    <a:pt x="72" y="4851"/>
                    <a:pt x="48" y="4906"/>
                  </a:cubicBezTo>
                  <a:cubicBezTo>
                    <a:pt x="1" y="4978"/>
                    <a:pt x="25" y="5061"/>
                    <a:pt x="108" y="5109"/>
                  </a:cubicBezTo>
                  <a:lnTo>
                    <a:pt x="894" y="5549"/>
                  </a:lnTo>
                  <a:cubicBezTo>
                    <a:pt x="919" y="5566"/>
                    <a:pt x="947" y="5574"/>
                    <a:pt x="975" y="5574"/>
                  </a:cubicBezTo>
                  <a:cubicBezTo>
                    <a:pt x="1025" y="5574"/>
                    <a:pt x="1073" y="5548"/>
                    <a:pt x="1096" y="5501"/>
                  </a:cubicBezTo>
                  <a:lnTo>
                    <a:pt x="1215" y="5299"/>
                  </a:lnTo>
                  <a:lnTo>
                    <a:pt x="1525" y="5466"/>
                  </a:lnTo>
                  <a:cubicBezTo>
                    <a:pt x="1430" y="5680"/>
                    <a:pt x="1441" y="5918"/>
                    <a:pt x="1572" y="6121"/>
                  </a:cubicBezTo>
                  <a:cubicBezTo>
                    <a:pt x="1691" y="6287"/>
                    <a:pt x="1882" y="6371"/>
                    <a:pt x="2084" y="6371"/>
                  </a:cubicBezTo>
                  <a:cubicBezTo>
                    <a:pt x="2144" y="6371"/>
                    <a:pt x="2215" y="6359"/>
                    <a:pt x="2275" y="6347"/>
                  </a:cubicBezTo>
                  <a:cubicBezTo>
                    <a:pt x="2275" y="6478"/>
                    <a:pt x="2322" y="6597"/>
                    <a:pt x="2394" y="6716"/>
                  </a:cubicBezTo>
                  <a:cubicBezTo>
                    <a:pt x="2513" y="6883"/>
                    <a:pt x="2703" y="6966"/>
                    <a:pt x="2882" y="6966"/>
                  </a:cubicBezTo>
                  <a:cubicBezTo>
                    <a:pt x="2942" y="6966"/>
                    <a:pt x="3013" y="6954"/>
                    <a:pt x="3073" y="6942"/>
                  </a:cubicBezTo>
                  <a:cubicBezTo>
                    <a:pt x="3073" y="7061"/>
                    <a:pt x="3120" y="7192"/>
                    <a:pt x="3192" y="7299"/>
                  </a:cubicBezTo>
                  <a:cubicBezTo>
                    <a:pt x="3299" y="7430"/>
                    <a:pt x="3430" y="7514"/>
                    <a:pt x="3596" y="7549"/>
                  </a:cubicBezTo>
                  <a:cubicBezTo>
                    <a:pt x="3632" y="7549"/>
                    <a:pt x="3656" y="7561"/>
                    <a:pt x="3704" y="7561"/>
                  </a:cubicBezTo>
                  <a:cubicBezTo>
                    <a:pt x="3763" y="7561"/>
                    <a:pt x="3835" y="7549"/>
                    <a:pt x="3894" y="7537"/>
                  </a:cubicBezTo>
                  <a:cubicBezTo>
                    <a:pt x="3894" y="7668"/>
                    <a:pt x="3942" y="7787"/>
                    <a:pt x="4013" y="7895"/>
                  </a:cubicBezTo>
                  <a:cubicBezTo>
                    <a:pt x="4120" y="8026"/>
                    <a:pt x="4251" y="8109"/>
                    <a:pt x="4418" y="8145"/>
                  </a:cubicBezTo>
                  <a:cubicBezTo>
                    <a:pt x="4442" y="8145"/>
                    <a:pt x="4478" y="8157"/>
                    <a:pt x="4525" y="8157"/>
                  </a:cubicBezTo>
                  <a:cubicBezTo>
                    <a:pt x="4656" y="8157"/>
                    <a:pt x="4775" y="8109"/>
                    <a:pt x="4882" y="8037"/>
                  </a:cubicBezTo>
                  <a:lnTo>
                    <a:pt x="5216" y="7787"/>
                  </a:lnTo>
                  <a:cubicBezTo>
                    <a:pt x="5299" y="7728"/>
                    <a:pt x="5359" y="7668"/>
                    <a:pt x="5394" y="7597"/>
                  </a:cubicBezTo>
                  <a:lnTo>
                    <a:pt x="6013" y="7918"/>
                  </a:lnTo>
                  <a:cubicBezTo>
                    <a:pt x="6097" y="7966"/>
                    <a:pt x="6204" y="7990"/>
                    <a:pt x="6311" y="7990"/>
                  </a:cubicBezTo>
                  <a:cubicBezTo>
                    <a:pt x="6371" y="7990"/>
                    <a:pt x="6430" y="7978"/>
                    <a:pt x="6490" y="7966"/>
                  </a:cubicBezTo>
                  <a:cubicBezTo>
                    <a:pt x="6644" y="7918"/>
                    <a:pt x="6787" y="7811"/>
                    <a:pt x="6859" y="7668"/>
                  </a:cubicBezTo>
                  <a:cubicBezTo>
                    <a:pt x="6918" y="7549"/>
                    <a:pt x="6942" y="7430"/>
                    <a:pt x="6930" y="7299"/>
                  </a:cubicBezTo>
                  <a:cubicBezTo>
                    <a:pt x="6966" y="7299"/>
                    <a:pt x="7002" y="7311"/>
                    <a:pt x="7049" y="7311"/>
                  </a:cubicBezTo>
                  <a:cubicBezTo>
                    <a:pt x="7275" y="7311"/>
                    <a:pt x="7478" y="7192"/>
                    <a:pt x="7597" y="6990"/>
                  </a:cubicBezTo>
                  <a:cubicBezTo>
                    <a:pt x="7656" y="6871"/>
                    <a:pt x="7692" y="6740"/>
                    <a:pt x="7680" y="6609"/>
                  </a:cubicBezTo>
                  <a:cubicBezTo>
                    <a:pt x="7716" y="6609"/>
                    <a:pt x="7752" y="6633"/>
                    <a:pt x="7799" y="6633"/>
                  </a:cubicBezTo>
                  <a:cubicBezTo>
                    <a:pt x="8014" y="6633"/>
                    <a:pt x="8228" y="6514"/>
                    <a:pt x="8347" y="6299"/>
                  </a:cubicBezTo>
                  <a:cubicBezTo>
                    <a:pt x="8407" y="6180"/>
                    <a:pt x="8430" y="6061"/>
                    <a:pt x="8418" y="5930"/>
                  </a:cubicBezTo>
                  <a:cubicBezTo>
                    <a:pt x="8454" y="5930"/>
                    <a:pt x="8490" y="5942"/>
                    <a:pt x="8538" y="5942"/>
                  </a:cubicBezTo>
                  <a:cubicBezTo>
                    <a:pt x="8597" y="5942"/>
                    <a:pt x="8657" y="5930"/>
                    <a:pt x="8716" y="5918"/>
                  </a:cubicBezTo>
                  <a:cubicBezTo>
                    <a:pt x="8883" y="5871"/>
                    <a:pt x="9014" y="5763"/>
                    <a:pt x="9085" y="5621"/>
                  </a:cubicBezTo>
                  <a:cubicBezTo>
                    <a:pt x="9169" y="5466"/>
                    <a:pt x="9192" y="5299"/>
                    <a:pt x="9133" y="5144"/>
                  </a:cubicBezTo>
                  <a:cubicBezTo>
                    <a:pt x="9121" y="5097"/>
                    <a:pt x="9109" y="5061"/>
                    <a:pt x="9085" y="5037"/>
                  </a:cubicBezTo>
                  <a:lnTo>
                    <a:pt x="9347" y="4859"/>
                  </a:lnTo>
                  <a:lnTo>
                    <a:pt x="9478" y="5037"/>
                  </a:lnTo>
                  <a:cubicBezTo>
                    <a:pt x="9506" y="5072"/>
                    <a:pt x="9550" y="5090"/>
                    <a:pt x="9593" y="5090"/>
                  </a:cubicBezTo>
                  <a:cubicBezTo>
                    <a:pt x="9625" y="5090"/>
                    <a:pt x="9656" y="5081"/>
                    <a:pt x="9681" y="5061"/>
                  </a:cubicBezTo>
                  <a:lnTo>
                    <a:pt x="10085" y="4739"/>
                  </a:lnTo>
                  <a:cubicBezTo>
                    <a:pt x="10121" y="4668"/>
                    <a:pt x="10133" y="4573"/>
                    <a:pt x="10085" y="4513"/>
                  </a:cubicBezTo>
                  <a:cubicBezTo>
                    <a:pt x="10065" y="4479"/>
                    <a:pt x="10019" y="4460"/>
                    <a:pt x="9974" y="4460"/>
                  </a:cubicBezTo>
                  <a:cubicBezTo>
                    <a:pt x="9941" y="4460"/>
                    <a:pt x="9908" y="4470"/>
                    <a:pt x="9883" y="4489"/>
                  </a:cubicBezTo>
                  <a:lnTo>
                    <a:pt x="9585" y="4704"/>
                  </a:lnTo>
                  <a:lnTo>
                    <a:pt x="7252" y="1644"/>
                  </a:lnTo>
                  <a:lnTo>
                    <a:pt x="8585" y="775"/>
                  </a:lnTo>
                  <a:cubicBezTo>
                    <a:pt x="8657" y="739"/>
                    <a:pt x="8680" y="644"/>
                    <a:pt x="8633" y="572"/>
                  </a:cubicBezTo>
                  <a:cubicBezTo>
                    <a:pt x="8602" y="526"/>
                    <a:pt x="8556" y="500"/>
                    <a:pt x="8505" y="500"/>
                  </a:cubicBezTo>
                  <a:cubicBezTo>
                    <a:pt x="8478" y="500"/>
                    <a:pt x="8448" y="508"/>
                    <a:pt x="8418" y="525"/>
                  </a:cubicBezTo>
                  <a:lnTo>
                    <a:pt x="6954" y="1477"/>
                  </a:lnTo>
                  <a:cubicBezTo>
                    <a:pt x="6871" y="1525"/>
                    <a:pt x="6859" y="1632"/>
                    <a:pt x="6906" y="1680"/>
                  </a:cubicBezTo>
                  <a:lnTo>
                    <a:pt x="7168" y="2037"/>
                  </a:lnTo>
                  <a:lnTo>
                    <a:pt x="6978" y="2192"/>
                  </a:lnTo>
                  <a:lnTo>
                    <a:pt x="6216" y="1942"/>
                  </a:lnTo>
                  <a:cubicBezTo>
                    <a:pt x="6204" y="1942"/>
                    <a:pt x="6192" y="1918"/>
                    <a:pt x="6180" y="1918"/>
                  </a:cubicBezTo>
                  <a:lnTo>
                    <a:pt x="4430" y="1918"/>
                  </a:lnTo>
                  <a:cubicBezTo>
                    <a:pt x="4358" y="1918"/>
                    <a:pt x="4299" y="1965"/>
                    <a:pt x="4287" y="2037"/>
                  </a:cubicBezTo>
                  <a:lnTo>
                    <a:pt x="4180" y="2430"/>
                  </a:lnTo>
                  <a:lnTo>
                    <a:pt x="3930" y="2323"/>
                  </a:lnTo>
                  <a:cubicBezTo>
                    <a:pt x="3894" y="2311"/>
                    <a:pt x="3882" y="2311"/>
                    <a:pt x="3846" y="2311"/>
                  </a:cubicBezTo>
                  <a:lnTo>
                    <a:pt x="3168" y="2382"/>
                  </a:lnTo>
                  <a:lnTo>
                    <a:pt x="2930" y="2251"/>
                  </a:lnTo>
                  <a:lnTo>
                    <a:pt x="3156" y="1858"/>
                  </a:lnTo>
                  <a:cubicBezTo>
                    <a:pt x="3192" y="1787"/>
                    <a:pt x="3168" y="1703"/>
                    <a:pt x="3096" y="1656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2946442" y="2015001"/>
              <a:ext cx="37525" cy="26799"/>
            </a:xfrm>
            <a:custGeom>
              <a:avLst/>
              <a:gdLst/>
              <a:ahLst/>
              <a:cxnLst/>
              <a:rect l="l" t="t" r="r" b="b"/>
              <a:pathLst>
                <a:path w="1179" h="842" extrusionOk="0">
                  <a:moveTo>
                    <a:pt x="1011" y="1"/>
                  </a:moveTo>
                  <a:cubicBezTo>
                    <a:pt x="983" y="1"/>
                    <a:pt x="955" y="7"/>
                    <a:pt x="929" y="20"/>
                  </a:cubicBezTo>
                  <a:lnTo>
                    <a:pt x="96" y="556"/>
                  </a:lnTo>
                  <a:cubicBezTo>
                    <a:pt x="24" y="603"/>
                    <a:pt x="0" y="699"/>
                    <a:pt x="48" y="770"/>
                  </a:cubicBezTo>
                  <a:cubicBezTo>
                    <a:pt x="84" y="818"/>
                    <a:pt x="119" y="842"/>
                    <a:pt x="167" y="842"/>
                  </a:cubicBezTo>
                  <a:cubicBezTo>
                    <a:pt x="203" y="842"/>
                    <a:pt x="226" y="830"/>
                    <a:pt x="238" y="818"/>
                  </a:cubicBezTo>
                  <a:lnTo>
                    <a:pt x="1072" y="282"/>
                  </a:lnTo>
                  <a:cubicBezTo>
                    <a:pt x="1167" y="234"/>
                    <a:pt x="1179" y="127"/>
                    <a:pt x="1131" y="68"/>
                  </a:cubicBezTo>
                  <a:cubicBezTo>
                    <a:pt x="1108" y="22"/>
                    <a:pt x="1061" y="1"/>
                    <a:pt x="10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19"/>
          <p:cNvGrpSpPr/>
          <p:nvPr/>
        </p:nvGrpSpPr>
        <p:grpSpPr>
          <a:xfrm>
            <a:off x="7340063" y="1692540"/>
            <a:ext cx="355099" cy="355481"/>
            <a:chOff x="3539102" y="2427549"/>
            <a:chExt cx="355099" cy="355481"/>
          </a:xfrm>
        </p:grpSpPr>
        <p:sp>
          <p:nvSpPr>
            <p:cNvPr id="114" name="Google Shape;114;p1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7" name="Google Shape;127;p19"/>
          <p:cNvCxnSpPr>
            <a:stCxn id="95" idx="4"/>
            <a:endCxn id="94" idx="0"/>
          </p:cNvCxnSpPr>
          <p:nvPr/>
        </p:nvCxnSpPr>
        <p:spPr>
          <a:xfrm>
            <a:off x="1624700" y="2260544"/>
            <a:ext cx="0" cy="306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9"/>
          <p:cNvCxnSpPr>
            <a:stCxn id="96" idx="4"/>
            <a:endCxn id="102" idx="0"/>
          </p:cNvCxnSpPr>
          <p:nvPr/>
        </p:nvCxnSpPr>
        <p:spPr>
          <a:xfrm>
            <a:off x="3582550" y="2260544"/>
            <a:ext cx="0" cy="306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9"/>
          <p:cNvCxnSpPr>
            <a:stCxn id="97" idx="4"/>
            <a:endCxn id="105" idx="0"/>
          </p:cNvCxnSpPr>
          <p:nvPr/>
        </p:nvCxnSpPr>
        <p:spPr>
          <a:xfrm flipH="1">
            <a:off x="5540288" y="2257244"/>
            <a:ext cx="900" cy="309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9"/>
          <p:cNvCxnSpPr>
            <a:stCxn id="98" idx="4"/>
            <a:endCxn id="108" idx="0"/>
          </p:cNvCxnSpPr>
          <p:nvPr/>
        </p:nvCxnSpPr>
        <p:spPr>
          <a:xfrm flipH="1">
            <a:off x="7519113" y="2260544"/>
            <a:ext cx="1800" cy="306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9"/>
          <p:cNvCxnSpPr>
            <a:stCxn id="95" idx="6"/>
            <a:endCxn id="96" idx="2"/>
          </p:cNvCxnSpPr>
          <p:nvPr/>
        </p:nvCxnSpPr>
        <p:spPr>
          <a:xfrm>
            <a:off x="2031200" y="1854044"/>
            <a:ext cx="1144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9"/>
          <p:cNvCxnSpPr>
            <a:stCxn id="96" idx="6"/>
            <a:endCxn id="97" idx="2"/>
          </p:cNvCxnSpPr>
          <p:nvPr/>
        </p:nvCxnSpPr>
        <p:spPr>
          <a:xfrm>
            <a:off x="3989050" y="1854044"/>
            <a:ext cx="114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9"/>
          <p:cNvCxnSpPr>
            <a:stCxn id="97" idx="6"/>
            <a:endCxn id="98" idx="2"/>
          </p:cNvCxnSpPr>
          <p:nvPr/>
        </p:nvCxnSpPr>
        <p:spPr>
          <a:xfrm>
            <a:off x="5944388" y="1854044"/>
            <a:ext cx="1170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9"/>
          <p:cNvCxnSpPr>
            <a:stCxn id="94" idx="6"/>
            <a:endCxn id="102" idx="2"/>
          </p:cNvCxnSpPr>
          <p:nvPr/>
        </p:nvCxnSpPr>
        <p:spPr>
          <a:xfrm>
            <a:off x="1853074" y="2794901"/>
            <a:ext cx="1501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9"/>
          <p:cNvCxnSpPr>
            <a:stCxn id="102" idx="6"/>
            <a:endCxn id="105" idx="2"/>
          </p:cNvCxnSpPr>
          <p:nvPr/>
        </p:nvCxnSpPr>
        <p:spPr>
          <a:xfrm>
            <a:off x="3810827" y="2794896"/>
            <a:ext cx="1501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9"/>
          <p:cNvCxnSpPr>
            <a:endCxn id="108" idx="2"/>
          </p:cNvCxnSpPr>
          <p:nvPr/>
        </p:nvCxnSpPr>
        <p:spPr>
          <a:xfrm>
            <a:off x="5768727" y="2794896"/>
            <a:ext cx="15222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7" name="Google Shape;137;p19"/>
          <p:cNvGrpSpPr/>
          <p:nvPr/>
        </p:nvGrpSpPr>
        <p:grpSpPr>
          <a:xfrm>
            <a:off x="2677705" y="2566596"/>
            <a:ext cx="1814357" cy="1656352"/>
            <a:chOff x="2677705" y="2566596"/>
            <a:chExt cx="1814357" cy="1656352"/>
          </a:xfrm>
        </p:grpSpPr>
        <p:sp>
          <p:nvSpPr>
            <p:cNvPr id="103" name="Google Shape;103;p19"/>
            <p:cNvSpPr txBox="1"/>
            <p:nvPr/>
          </p:nvSpPr>
          <p:spPr>
            <a:xfrm>
              <a:off x="2677705" y="3178223"/>
              <a:ext cx="18138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Engineering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138" name="Google Shape;138;p19"/>
            <p:cNvSpPr txBox="1"/>
            <p:nvPr/>
          </p:nvSpPr>
          <p:spPr>
            <a:xfrm>
              <a:off x="2678262" y="3557548"/>
              <a:ext cx="1813800" cy="66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Provides classrooms, workshops, and laboratories for hands-on training and practical education in various engineering disciplines.</a:t>
              </a:r>
              <a:endParaRPr sz="10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3354227" y="2566596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02</a:t>
              </a:r>
              <a:endParaRPr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139" name="Google Shape;139;p19"/>
          <p:cNvGrpSpPr/>
          <p:nvPr/>
        </p:nvGrpSpPr>
        <p:grpSpPr>
          <a:xfrm>
            <a:off x="4633388" y="2566596"/>
            <a:ext cx="1885579" cy="1656352"/>
            <a:chOff x="4633388" y="2566596"/>
            <a:chExt cx="1885579" cy="1656352"/>
          </a:xfrm>
        </p:grpSpPr>
        <p:sp>
          <p:nvSpPr>
            <p:cNvPr id="106" name="Google Shape;106;p19"/>
            <p:cNvSpPr txBox="1"/>
            <p:nvPr/>
          </p:nvSpPr>
          <p:spPr>
            <a:xfrm>
              <a:off x="4633388" y="3216396"/>
              <a:ext cx="18138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Computer Science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4705167" y="3557548"/>
              <a:ext cx="1813800" cy="66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Serves as the technology hub with advanced computer labs and facilities for programming, software development, AI, and cybersecurity studies.</a:t>
              </a:r>
              <a:endParaRPr sz="10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5312002" y="2566596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03</a:t>
              </a:r>
              <a:endParaRPr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6618392" y="2566596"/>
            <a:ext cx="1813800" cy="1734627"/>
            <a:chOff x="6618392" y="2566596"/>
            <a:chExt cx="1813800" cy="1734627"/>
          </a:xfrm>
        </p:grpSpPr>
        <p:sp>
          <p:nvSpPr>
            <p:cNvPr id="109" name="Google Shape;109;p19"/>
            <p:cNvSpPr txBox="1"/>
            <p:nvPr/>
          </p:nvSpPr>
          <p:spPr>
            <a:xfrm>
              <a:off x="6618392" y="3178223"/>
              <a:ext cx="18138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Library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6618392" y="3635823"/>
              <a:ext cx="1813800" cy="66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Acts as a learning and research center offering books, digital resources, study spaces, and access to academic databases.</a:t>
              </a:r>
              <a:endParaRPr sz="10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7290927" y="2566596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04</a:t>
              </a:r>
              <a:endParaRPr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41BE55F-5A96-AFCB-E555-3BF72AC33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492" y="1634528"/>
            <a:ext cx="479453" cy="439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FABD9E-CC74-1912-8A98-DCE2B588B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227" y="1704860"/>
            <a:ext cx="335309" cy="31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6"/>
          <p:cNvSpPr/>
          <p:nvPr/>
        </p:nvSpPr>
        <p:spPr>
          <a:xfrm>
            <a:off x="6872621" y="4772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641" name="Google Shape;641;p3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Administration Building 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642" name="Google Shape;642;p36"/>
          <p:cNvGrpSpPr/>
          <p:nvPr/>
        </p:nvGrpSpPr>
        <p:grpSpPr>
          <a:xfrm>
            <a:off x="569600" y="1031725"/>
            <a:ext cx="3559088" cy="3332611"/>
            <a:chOff x="607585" y="1363993"/>
            <a:chExt cx="3559088" cy="3332611"/>
          </a:xfrm>
        </p:grpSpPr>
        <p:sp>
          <p:nvSpPr>
            <p:cNvPr id="643" name="Google Shape;643;p36"/>
            <p:cNvSpPr txBox="1"/>
            <p:nvPr/>
          </p:nvSpPr>
          <p:spPr>
            <a:xfrm>
              <a:off x="607585" y="3336789"/>
              <a:ext cx="3536400" cy="1359815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Student registration and records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Finance and payroll</a:t>
              </a:r>
            </a:p>
            <a:p>
              <a:pPr marL="323850" lvl="0" indent="-171450">
                <a:lnSpc>
                  <a:spcPct val="115000"/>
                </a:lnSpc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Human resources</a:t>
              </a:r>
            </a:p>
            <a:p>
              <a:pPr marL="323850" lvl="0" indent="-171450">
                <a:lnSpc>
                  <a:spcPct val="115000"/>
                </a:lnSpc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Academic coordination</a:t>
              </a:r>
            </a:p>
            <a:p>
              <a:pPr marL="323850" lvl="0" indent="-171450">
                <a:lnSpc>
                  <a:spcPct val="115000"/>
                </a:lnSpc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IT and network control offices</a:t>
              </a:r>
              <a:b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</a:b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4" name="Google Shape;644;p36"/>
            <p:cNvSpPr txBox="1"/>
            <p:nvPr/>
          </p:nvSpPr>
          <p:spPr>
            <a:xfrm>
              <a:off x="650257" y="1363993"/>
              <a:ext cx="21780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800" dirty="0">
                  <a:solidFill>
                    <a:schemeClr val="accent2"/>
                  </a:solidFill>
                </a:rPr>
                <a:t>Purpose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5" name="Google Shape;645;p36"/>
            <p:cNvSpPr txBox="1"/>
            <p:nvPr/>
          </p:nvSpPr>
          <p:spPr>
            <a:xfrm>
              <a:off x="630273" y="1851122"/>
              <a:ext cx="3536400" cy="620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This building serves as the operational and management center of the college.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646" name="Google Shape;646;p36"/>
          <p:cNvGrpSpPr/>
          <p:nvPr/>
        </p:nvGrpSpPr>
        <p:grpSpPr>
          <a:xfrm>
            <a:off x="4887051" y="1315293"/>
            <a:ext cx="3536400" cy="3212555"/>
            <a:chOff x="4887050" y="1652938"/>
            <a:chExt cx="3536400" cy="2857062"/>
          </a:xfrm>
        </p:grpSpPr>
        <p:sp>
          <p:nvSpPr>
            <p:cNvPr id="647" name="Google Shape;647;p36"/>
            <p:cNvSpPr txBox="1"/>
            <p:nvPr/>
          </p:nvSpPr>
          <p:spPr>
            <a:xfrm>
              <a:off x="4887050" y="3327700"/>
              <a:ext cx="3536400" cy="11823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Secure wired LAN for staff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Limited guest Wi-Fi for students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Strong access control and data protection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8" name="Google Shape;648;p36"/>
            <p:cNvSpPr txBox="1"/>
            <p:nvPr/>
          </p:nvSpPr>
          <p:spPr>
            <a:xfrm>
              <a:off x="4887050" y="1652938"/>
              <a:ext cx="2940214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oppio One"/>
                  <a:ea typeface="Doppio One"/>
                  <a:cs typeface="Doppio One"/>
                  <a:sym typeface="Doppio One"/>
                </a:rPr>
                <a:t>Technical Requirements</a:t>
              </a:r>
              <a:endParaRPr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9" name="Google Shape;649;p36"/>
            <p:cNvSpPr txBox="1"/>
            <p:nvPr/>
          </p:nvSpPr>
          <p:spPr>
            <a:xfrm>
              <a:off x="4887050" y="2024673"/>
              <a:ext cx="3536400" cy="11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cxnSp>
        <p:nvCxnSpPr>
          <p:cNvPr id="650" name="Google Shape;650;p36"/>
          <p:cNvCxnSpPr/>
          <p:nvPr/>
        </p:nvCxnSpPr>
        <p:spPr>
          <a:xfrm>
            <a:off x="4572000" y="1301075"/>
            <a:ext cx="0" cy="3222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51" name="Google Shape;651;p36"/>
          <p:cNvGrpSpPr/>
          <p:nvPr/>
        </p:nvGrpSpPr>
        <p:grpSpPr>
          <a:xfrm>
            <a:off x="7095493" y="742593"/>
            <a:ext cx="367255" cy="282364"/>
            <a:chOff x="1781317" y="3391400"/>
            <a:chExt cx="367255" cy="282364"/>
          </a:xfrm>
        </p:grpSpPr>
        <p:sp>
          <p:nvSpPr>
            <p:cNvPr id="652" name="Google Shape;652;p36"/>
            <p:cNvSpPr/>
            <p:nvPr/>
          </p:nvSpPr>
          <p:spPr>
            <a:xfrm>
              <a:off x="1901061" y="3639610"/>
              <a:ext cx="11013" cy="33772"/>
            </a:xfrm>
            <a:custGeom>
              <a:avLst/>
              <a:gdLst/>
              <a:ahLst/>
              <a:cxnLst/>
              <a:rect l="l" t="t" r="r" b="b"/>
              <a:pathLst>
                <a:path w="346" h="1061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894"/>
                  </a:lnTo>
                  <a:cubicBezTo>
                    <a:pt x="1" y="977"/>
                    <a:pt x="72" y="1060"/>
                    <a:pt x="167" y="1060"/>
                  </a:cubicBezTo>
                  <a:cubicBezTo>
                    <a:pt x="251" y="1060"/>
                    <a:pt x="334" y="977"/>
                    <a:pt x="334" y="894"/>
                  </a:cubicBezTo>
                  <a:lnTo>
                    <a:pt x="334" y="167"/>
                  </a:lnTo>
                  <a:cubicBezTo>
                    <a:pt x="346" y="72"/>
                    <a:pt x="274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2016668" y="3639610"/>
              <a:ext cx="10631" cy="33772"/>
            </a:xfrm>
            <a:custGeom>
              <a:avLst/>
              <a:gdLst/>
              <a:ahLst/>
              <a:cxnLst/>
              <a:rect l="l" t="t" r="r" b="b"/>
              <a:pathLst>
                <a:path w="334" h="1061" extrusionOk="0">
                  <a:moveTo>
                    <a:pt x="167" y="1"/>
                  </a:moveTo>
                  <a:cubicBezTo>
                    <a:pt x="71" y="1"/>
                    <a:pt x="0" y="72"/>
                    <a:pt x="0" y="167"/>
                  </a:cubicBezTo>
                  <a:lnTo>
                    <a:pt x="0" y="894"/>
                  </a:lnTo>
                  <a:cubicBezTo>
                    <a:pt x="0" y="977"/>
                    <a:pt x="71" y="1060"/>
                    <a:pt x="167" y="1060"/>
                  </a:cubicBezTo>
                  <a:cubicBezTo>
                    <a:pt x="250" y="1060"/>
                    <a:pt x="333" y="977"/>
                    <a:pt x="333" y="894"/>
                  </a:cubicBezTo>
                  <a:lnTo>
                    <a:pt x="333" y="167"/>
                  </a:lnTo>
                  <a:cubicBezTo>
                    <a:pt x="333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1820340" y="3518720"/>
              <a:ext cx="46281" cy="16329"/>
            </a:xfrm>
            <a:custGeom>
              <a:avLst/>
              <a:gdLst/>
              <a:ahLst/>
              <a:cxnLst/>
              <a:rect l="l" t="t" r="r" b="b"/>
              <a:pathLst>
                <a:path w="1454" h="513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34"/>
                    <a:pt x="167" y="334"/>
                  </a:cubicBezTo>
                  <a:cubicBezTo>
                    <a:pt x="370" y="334"/>
                    <a:pt x="917" y="358"/>
                    <a:pt x="1179" y="489"/>
                  </a:cubicBezTo>
                  <a:cubicBezTo>
                    <a:pt x="1215" y="513"/>
                    <a:pt x="1227" y="513"/>
                    <a:pt x="1263" y="513"/>
                  </a:cubicBezTo>
                  <a:cubicBezTo>
                    <a:pt x="1310" y="513"/>
                    <a:pt x="1382" y="477"/>
                    <a:pt x="1406" y="417"/>
                  </a:cubicBezTo>
                  <a:cubicBezTo>
                    <a:pt x="1453" y="346"/>
                    <a:pt x="1417" y="239"/>
                    <a:pt x="1334" y="191"/>
                  </a:cubicBezTo>
                  <a:cubicBezTo>
                    <a:pt x="941" y="1"/>
                    <a:pt x="203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1802898" y="3628247"/>
              <a:ext cx="11045" cy="45135"/>
            </a:xfrm>
            <a:custGeom>
              <a:avLst/>
              <a:gdLst/>
              <a:ahLst/>
              <a:cxnLst/>
              <a:rect l="l" t="t" r="r" b="b"/>
              <a:pathLst>
                <a:path w="347" h="1418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251"/>
                  </a:lnTo>
                  <a:cubicBezTo>
                    <a:pt x="1" y="1334"/>
                    <a:pt x="72" y="1417"/>
                    <a:pt x="168" y="1417"/>
                  </a:cubicBezTo>
                  <a:cubicBezTo>
                    <a:pt x="263" y="1417"/>
                    <a:pt x="334" y="1334"/>
                    <a:pt x="334" y="1251"/>
                  </a:cubicBezTo>
                  <a:lnTo>
                    <a:pt x="334" y="167"/>
                  </a:lnTo>
                  <a:cubicBezTo>
                    <a:pt x="346" y="72"/>
                    <a:pt x="275" y="1"/>
                    <a:pt x="1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1781317" y="3391400"/>
              <a:ext cx="367255" cy="282364"/>
            </a:xfrm>
            <a:custGeom>
              <a:avLst/>
              <a:gdLst/>
              <a:ahLst/>
              <a:cxnLst/>
              <a:rect l="l" t="t" r="r" b="b"/>
              <a:pathLst>
                <a:path w="11538" h="8871" extrusionOk="0">
                  <a:moveTo>
                    <a:pt x="9728" y="2703"/>
                  </a:moveTo>
                  <a:cubicBezTo>
                    <a:pt x="10049" y="2703"/>
                    <a:pt x="10287" y="2917"/>
                    <a:pt x="10287" y="3167"/>
                  </a:cubicBezTo>
                  <a:lnTo>
                    <a:pt x="10287" y="3203"/>
                  </a:lnTo>
                  <a:cubicBezTo>
                    <a:pt x="10121" y="3120"/>
                    <a:pt x="9930" y="3096"/>
                    <a:pt x="9728" y="3096"/>
                  </a:cubicBezTo>
                  <a:cubicBezTo>
                    <a:pt x="9537" y="3096"/>
                    <a:pt x="9347" y="3143"/>
                    <a:pt x="9180" y="3203"/>
                  </a:cubicBezTo>
                  <a:lnTo>
                    <a:pt x="9180" y="3167"/>
                  </a:lnTo>
                  <a:cubicBezTo>
                    <a:pt x="9180" y="2917"/>
                    <a:pt x="9430" y="2703"/>
                    <a:pt x="9728" y="2703"/>
                  </a:cubicBezTo>
                  <a:close/>
                  <a:moveTo>
                    <a:pt x="9728" y="3405"/>
                  </a:moveTo>
                  <a:cubicBezTo>
                    <a:pt x="10347" y="3405"/>
                    <a:pt x="10835" y="3893"/>
                    <a:pt x="10835" y="4513"/>
                  </a:cubicBezTo>
                  <a:cubicBezTo>
                    <a:pt x="10835" y="4632"/>
                    <a:pt x="10811" y="4751"/>
                    <a:pt x="10775" y="4846"/>
                  </a:cubicBezTo>
                  <a:cubicBezTo>
                    <a:pt x="10299" y="4358"/>
                    <a:pt x="9454" y="4167"/>
                    <a:pt x="9406" y="4167"/>
                  </a:cubicBezTo>
                  <a:cubicBezTo>
                    <a:pt x="9392" y="4160"/>
                    <a:pt x="9377" y="4157"/>
                    <a:pt x="9362" y="4157"/>
                  </a:cubicBezTo>
                  <a:cubicBezTo>
                    <a:pt x="9325" y="4157"/>
                    <a:pt x="9285" y="4174"/>
                    <a:pt x="9251" y="4191"/>
                  </a:cubicBezTo>
                  <a:cubicBezTo>
                    <a:pt x="9216" y="4227"/>
                    <a:pt x="9192" y="4274"/>
                    <a:pt x="9192" y="4334"/>
                  </a:cubicBezTo>
                  <a:cubicBezTo>
                    <a:pt x="9192" y="4334"/>
                    <a:pt x="9180" y="4441"/>
                    <a:pt x="9061" y="4572"/>
                  </a:cubicBezTo>
                  <a:cubicBezTo>
                    <a:pt x="9001" y="4632"/>
                    <a:pt x="9001" y="4751"/>
                    <a:pt x="9061" y="4810"/>
                  </a:cubicBezTo>
                  <a:cubicBezTo>
                    <a:pt x="9091" y="4840"/>
                    <a:pt x="9135" y="4855"/>
                    <a:pt x="9180" y="4855"/>
                  </a:cubicBezTo>
                  <a:cubicBezTo>
                    <a:pt x="9225" y="4855"/>
                    <a:pt x="9269" y="4840"/>
                    <a:pt x="9299" y="4810"/>
                  </a:cubicBezTo>
                  <a:cubicBezTo>
                    <a:pt x="9394" y="4715"/>
                    <a:pt x="9454" y="4608"/>
                    <a:pt x="9478" y="4536"/>
                  </a:cubicBezTo>
                  <a:cubicBezTo>
                    <a:pt x="9763" y="4632"/>
                    <a:pt x="10359" y="4834"/>
                    <a:pt x="10621" y="5203"/>
                  </a:cubicBezTo>
                  <a:cubicBezTo>
                    <a:pt x="10561" y="5668"/>
                    <a:pt x="10192" y="5977"/>
                    <a:pt x="9728" y="5977"/>
                  </a:cubicBezTo>
                  <a:cubicBezTo>
                    <a:pt x="9251" y="5977"/>
                    <a:pt x="8870" y="5620"/>
                    <a:pt x="8823" y="5167"/>
                  </a:cubicBezTo>
                  <a:cubicBezTo>
                    <a:pt x="8823" y="5132"/>
                    <a:pt x="8811" y="5120"/>
                    <a:pt x="8799" y="5084"/>
                  </a:cubicBezTo>
                  <a:cubicBezTo>
                    <a:pt x="8692" y="4906"/>
                    <a:pt x="8632" y="4715"/>
                    <a:pt x="8632" y="4513"/>
                  </a:cubicBezTo>
                  <a:cubicBezTo>
                    <a:pt x="8632" y="3893"/>
                    <a:pt x="9120" y="3405"/>
                    <a:pt x="9728" y="3405"/>
                  </a:cubicBezTo>
                  <a:close/>
                  <a:moveTo>
                    <a:pt x="3048" y="3405"/>
                  </a:moveTo>
                  <a:lnTo>
                    <a:pt x="3048" y="4108"/>
                  </a:lnTo>
                  <a:cubicBezTo>
                    <a:pt x="3048" y="4227"/>
                    <a:pt x="3024" y="4334"/>
                    <a:pt x="2977" y="4429"/>
                  </a:cubicBezTo>
                  <a:lnTo>
                    <a:pt x="2882" y="4608"/>
                  </a:lnTo>
                  <a:cubicBezTo>
                    <a:pt x="2870" y="4644"/>
                    <a:pt x="2870" y="4655"/>
                    <a:pt x="2870" y="4691"/>
                  </a:cubicBezTo>
                  <a:lnTo>
                    <a:pt x="2870" y="5048"/>
                  </a:lnTo>
                  <a:cubicBezTo>
                    <a:pt x="2870" y="5298"/>
                    <a:pt x="2763" y="5537"/>
                    <a:pt x="2584" y="5703"/>
                  </a:cubicBezTo>
                  <a:cubicBezTo>
                    <a:pt x="2413" y="5885"/>
                    <a:pt x="2203" y="5981"/>
                    <a:pt x="1989" y="5981"/>
                  </a:cubicBezTo>
                  <a:cubicBezTo>
                    <a:pt x="1965" y="5981"/>
                    <a:pt x="1941" y="5979"/>
                    <a:pt x="1917" y="5977"/>
                  </a:cubicBezTo>
                  <a:cubicBezTo>
                    <a:pt x="1429" y="5965"/>
                    <a:pt x="1024" y="5537"/>
                    <a:pt x="1024" y="5013"/>
                  </a:cubicBezTo>
                  <a:lnTo>
                    <a:pt x="1024" y="4703"/>
                  </a:lnTo>
                  <a:cubicBezTo>
                    <a:pt x="1024" y="4667"/>
                    <a:pt x="1024" y="4644"/>
                    <a:pt x="1012" y="4632"/>
                  </a:cubicBezTo>
                  <a:lnTo>
                    <a:pt x="905" y="4417"/>
                  </a:lnTo>
                  <a:cubicBezTo>
                    <a:pt x="858" y="4346"/>
                    <a:pt x="846" y="4251"/>
                    <a:pt x="846" y="4167"/>
                  </a:cubicBezTo>
                  <a:lnTo>
                    <a:pt x="846" y="4144"/>
                  </a:lnTo>
                  <a:cubicBezTo>
                    <a:pt x="846" y="3751"/>
                    <a:pt x="1179" y="3405"/>
                    <a:pt x="1596" y="3405"/>
                  </a:cubicBezTo>
                  <a:close/>
                  <a:moveTo>
                    <a:pt x="5763" y="322"/>
                  </a:moveTo>
                  <a:cubicBezTo>
                    <a:pt x="6358" y="322"/>
                    <a:pt x="6870" y="536"/>
                    <a:pt x="7263" y="905"/>
                  </a:cubicBezTo>
                  <a:cubicBezTo>
                    <a:pt x="7668" y="1298"/>
                    <a:pt x="7882" y="1858"/>
                    <a:pt x="7942" y="2524"/>
                  </a:cubicBezTo>
                  <a:cubicBezTo>
                    <a:pt x="8085" y="4346"/>
                    <a:pt x="8227" y="5346"/>
                    <a:pt x="8287" y="5703"/>
                  </a:cubicBezTo>
                  <a:lnTo>
                    <a:pt x="8287" y="5715"/>
                  </a:lnTo>
                  <a:cubicBezTo>
                    <a:pt x="8108" y="5834"/>
                    <a:pt x="7763" y="6025"/>
                    <a:pt x="7215" y="6179"/>
                  </a:cubicBezTo>
                  <a:lnTo>
                    <a:pt x="6930" y="6060"/>
                  </a:lnTo>
                  <a:cubicBezTo>
                    <a:pt x="6858" y="6025"/>
                    <a:pt x="6811" y="5953"/>
                    <a:pt x="6811" y="5882"/>
                  </a:cubicBezTo>
                  <a:lnTo>
                    <a:pt x="6811" y="5298"/>
                  </a:lnTo>
                  <a:cubicBezTo>
                    <a:pt x="7370" y="4941"/>
                    <a:pt x="7727" y="4334"/>
                    <a:pt x="7727" y="3632"/>
                  </a:cubicBezTo>
                  <a:lnTo>
                    <a:pt x="7727" y="3322"/>
                  </a:lnTo>
                  <a:cubicBezTo>
                    <a:pt x="7727" y="3108"/>
                    <a:pt x="7632" y="2917"/>
                    <a:pt x="7489" y="2786"/>
                  </a:cubicBezTo>
                  <a:cubicBezTo>
                    <a:pt x="7144" y="2489"/>
                    <a:pt x="6370" y="1965"/>
                    <a:pt x="5025" y="1834"/>
                  </a:cubicBezTo>
                  <a:cubicBezTo>
                    <a:pt x="5015" y="1831"/>
                    <a:pt x="5005" y="1830"/>
                    <a:pt x="4995" y="1830"/>
                  </a:cubicBezTo>
                  <a:cubicBezTo>
                    <a:pt x="4920" y="1830"/>
                    <a:pt x="4846" y="1903"/>
                    <a:pt x="4846" y="1977"/>
                  </a:cubicBezTo>
                  <a:cubicBezTo>
                    <a:pt x="4834" y="2072"/>
                    <a:pt x="4906" y="2155"/>
                    <a:pt x="5001" y="2155"/>
                  </a:cubicBezTo>
                  <a:cubicBezTo>
                    <a:pt x="6251" y="2274"/>
                    <a:pt x="6954" y="2750"/>
                    <a:pt x="7263" y="3024"/>
                  </a:cubicBezTo>
                  <a:cubicBezTo>
                    <a:pt x="7335" y="3096"/>
                    <a:pt x="7382" y="3179"/>
                    <a:pt x="7382" y="3298"/>
                  </a:cubicBezTo>
                  <a:lnTo>
                    <a:pt x="7382" y="3620"/>
                  </a:lnTo>
                  <a:cubicBezTo>
                    <a:pt x="7382" y="4525"/>
                    <a:pt x="6632" y="5251"/>
                    <a:pt x="5739" y="5251"/>
                  </a:cubicBezTo>
                  <a:cubicBezTo>
                    <a:pt x="4846" y="5251"/>
                    <a:pt x="4108" y="4513"/>
                    <a:pt x="4108" y="3620"/>
                  </a:cubicBezTo>
                  <a:lnTo>
                    <a:pt x="4108" y="3465"/>
                  </a:lnTo>
                  <a:cubicBezTo>
                    <a:pt x="4108" y="3405"/>
                    <a:pt x="4132" y="3346"/>
                    <a:pt x="4191" y="3298"/>
                  </a:cubicBezTo>
                  <a:cubicBezTo>
                    <a:pt x="4406" y="3179"/>
                    <a:pt x="4691" y="2965"/>
                    <a:pt x="4822" y="2572"/>
                  </a:cubicBezTo>
                  <a:cubicBezTo>
                    <a:pt x="4846" y="2489"/>
                    <a:pt x="4810" y="2393"/>
                    <a:pt x="4715" y="2369"/>
                  </a:cubicBezTo>
                  <a:cubicBezTo>
                    <a:pt x="4696" y="2361"/>
                    <a:pt x="4676" y="2357"/>
                    <a:pt x="4657" y="2357"/>
                  </a:cubicBezTo>
                  <a:cubicBezTo>
                    <a:pt x="4592" y="2357"/>
                    <a:pt x="4531" y="2401"/>
                    <a:pt x="4513" y="2465"/>
                  </a:cubicBezTo>
                  <a:cubicBezTo>
                    <a:pt x="4417" y="2750"/>
                    <a:pt x="4191" y="2917"/>
                    <a:pt x="4048" y="3024"/>
                  </a:cubicBezTo>
                  <a:cubicBezTo>
                    <a:pt x="3882" y="3108"/>
                    <a:pt x="3775" y="3286"/>
                    <a:pt x="3775" y="3465"/>
                  </a:cubicBezTo>
                  <a:lnTo>
                    <a:pt x="3775" y="3620"/>
                  </a:lnTo>
                  <a:cubicBezTo>
                    <a:pt x="3775" y="4310"/>
                    <a:pt x="4132" y="4929"/>
                    <a:pt x="4691" y="5287"/>
                  </a:cubicBezTo>
                  <a:lnTo>
                    <a:pt x="4691" y="5858"/>
                  </a:lnTo>
                  <a:cubicBezTo>
                    <a:pt x="4691" y="5941"/>
                    <a:pt x="4644" y="6013"/>
                    <a:pt x="4572" y="6037"/>
                  </a:cubicBezTo>
                  <a:lnTo>
                    <a:pt x="4287" y="6156"/>
                  </a:lnTo>
                  <a:cubicBezTo>
                    <a:pt x="3739" y="6013"/>
                    <a:pt x="3394" y="5822"/>
                    <a:pt x="3227" y="5715"/>
                  </a:cubicBezTo>
                  <a:lnTo>
                    <a:pt x="3227" y="5703"/>
                  </a:lnTo>
                  <a:cubicBezTo>
                    <a:pt x="3286" y="5346"/>
                    <a:pt x="3441" y="4346"/>
                    <a:pt x="3572" y="2524"/>
                  </a:cubicBezTo>
                  <a:cubicBezTo>
                    <a:pt x="3620" y="1858"/>
                    <a:pt x="3858" y="1310"/>
                    <a:pt x="4251" y="905"/>
                  </a:cubicBezTo>
                  <a:cubicBezTo>
                    <a:pt x="4644" y="524"/>
                    <a:pt x="5168" y="322"/>
                    <a:pt x="5763" y="322"/>
                  </a:cubicBezTo>
                  <a:close/>
                  <a:moveTo>
                    <a:pt x="2917" y="5870"/>
                  </a:moveTo>
                  <a:cubicBezTo>
                    <a:pt x="2941" y="5929"/>
                    <a:pt x="2989" y="5977"/>
                    <a:pt x="3036" y="6013"/>
                  </a:cubicBezTo>
                  <a:cubicBezTo>
                    <a:pt x="3167" y="6096"/>
                    <a:pt x="3417" y="6251"/>
                    <a:pt x="3810" y="6382"/>
                  </a:cubicBezTo>
                  <a:lnTo>
                    <a:pt x="3334" y="6596"/>
                  </a:lnTo>
                  <a:lnTo>
                    <a:pt x="2798" y="6441"/>
                  </a:lnTo>
                  <a:cubicBezTo>
                    <a:pt x="2667" y="6394"/>
                    <a:pt x="2667" y="6382"/>
                    <a:pt x="2667" y="6358"/>
                  </a:cubicBezTo>
                  <a:lnTo>
                    <a:pt x="2667" y="6120"/>
                  </a:lnTo>
                  <a:cubicBezTo>
                    <a:pt x="2727" y="6072"/>
                    <a:pt x="2763" y="6025"/>
                    <a:pt x="2822" y="5977"/>
                  </a:cubicBezTo>
                  <a:cubicBezTo>
                    <a:pt x="2858" y="5953"/>
                    <a:pt x="2882" y="5906"/>
                    <a:pt x="2917" y="5870"/>
                  </a:cubicBezTo>
                  <a:close/>
                  <a:moveTo>
                    <a:pt x="8620" y="5620"/>
                  </a:moveTo>
                  <a:cubicBezTo>
                    <a:pt x="8704" y="5822"/>
                    <a:pt x="8859" y="5977"/>
                    <a:pt x="9037" y="6096"/>
                  </a:cubicBezTo>
                  <a:lnTo>
                    <a:pt x="9037" y="6453"/>
                  </a:lnTo>
                  <a:lnTo>
                    <a:pt x="9013" y="6453"/>
                  </a:lnTo>
                  <a:lnTo>
                    <a:pt x="8478" y="6739"/>
                  </a:lnTo>
                  <a:cubicBezTo>
                    <a:pt x="8478" y="6739"/>
                    <a:pt x="8466" y="6739"/>
                    <a:pt x="8466" y="6727"/>
                  </a:cubicBezTo>
                  <a:lnTo>
                    <a:pt x="7692" y="6382"/>
                  </a:lnTo>
                  <a:cubicBezTo>
                    <a:pt x="8061" y="6251"/>
                    <a:pt x="8335" y="6096"/>
                    <a:pt x="8466" y="6013"/>
                  </a:cubicBezTo>
                  <a:cubicBezTo>
                    <a:pt x="8585" y="5941"/>
                    <a:pt x="8644" y="5798"/>
                    <a:pt x="8620" y="5656"/>
                  </a:cubicBezTo>
                  <a:lnTo>
                    <a:pt x="8620" y="5620"/>
                  </a:lnTo>
                  <a:close/>
                  <a:moveTo>
                    <a:pt x="2322" y="6263"/>
                  </a:moveTo>
                  <a:lnTo>
                    <a:pt x="2322" y="6334"/>
                  </a:lnTo>
                  <a:cubicBezTo>
                    <a:pt x="2322" y="6370"/>
                    <a:pt x="2322" y="6418"/>
                    <a:pt x="2334" y="6441"/>
                  </a:cubicBezTo>
                  <a:lnTo>
                    <a:pt x="1929" y="6834"/>
                  </a:lnTo>
                  <a:lnTo>
                    <a:pt x="1548" y="6441"/>
                  </a:lnTo>
                  <a:cubicBezTo>
                    <a:pt x="1560" y="6418"/>
                    <a:pt x="1560" y="6382"/>
                    <a:pt x="1560" y="6334"/>
                  </a:cubicBezTo>
                  <a:lnTo>
                    <a:pt x="1560" y="6263"/>
                  </a:lnTo>
                  <a:cubicBezTo>
                    <a:pt x="1667" y="6299"/>
                    <a:pt x="1786" y="6322"/>
                    <a:pt x="1905" y="6322"/>
                  </a:cubicBezTo>
                  <a:lnTo>
                    <a:pt x="1953" y="6322"/>
                  </a:lnTo>
                  <a:cubicBezTo>
                    <a:pt x="2084" y="6322"/>
                    <a:pt x="2203" y="6310"/>
                    <a:pt x="2322" y="6263"/>
                  </a:cubicBezTo>
                  <a:close/>
                  <a:moveTo>
                    <a:pt x="10109" y="6275"/>
                  </a:moveTo>
                  <a:lnTo>
                    <a:pt x="10109" y="6453"/>
                  </a:lnTo>
                  <a:cubicBezTo>
                    <a:pt x="10109" y="6513"/>
                    <a:pt x="10121" y="6572"/>
                    <a:pt x="10144" y="6620"/>
                  </a:cubicBezTo>
                  <a:lnTo>
                    <a:pt x="10002" y="6775"/>
                  </a:lnTo>
                  <a:cubicBezTo>
                    <a:pt x="9924" y="6840"/>
                    <a:pt x="9832" y="6873"/>
                    <a:pt x="9740" y="6873"/>
                  </a:cubicBezTo>
                  <a:cubicBezTo>
                    <a:pt x="9647" y="6873"/>
                    <a:pt x="9555" y="6840"/>
                    <a:pt x="9478" y="6775"/>
                  </a:cubicBezTo>
                  <a:lnTo>
                    <a:pt x="9311" y="6620"/>
                  </a:lnTo>
                  <a:cubicBezTo>
                    <a:pt x="9347" y="6572"/>
                    <a:pt x="9359" y="6513"/>
                    <a:pt x="9359" y="6453"/>
                  </a:cubicBezTo>
                  <a:lnTo>
                    <a:pt x="9359" y="6275"/>
                  </a:lnTo>
                  <a:cubicBezTo>
                    <a:pt x="9478" y="6310"/>
                    <a:pt x="9597" y="6334"/>
                    <a:pt x="9728" y="6334"/>
                  </a:cubicBezTo>
                  <a:cubicBezTo>
                    <a:pt x="9859" y="6334"/>
                    <a:pt x="9978" y="6322"/>
                    <a:pt x="10109" y="6275"/>
                  </a:cubicBezTo>
                  <a:close/>
                  <a:moveTo>
                    <a:pt x="6501" y="5477"/>
                  </a:moveTo>
                  <a:lnTo>
                    <a:pt x="6501" y="5882"/>
                  </a:lnTo>
                  <a:cubicBezTo>
                    <a:pt x="6501" y="6084"/>
                    <a:pt x="6620" y="6275"/>
                    <a:pt x="6811" y="6370"/>
                  </a:cubicBezTo>
                  <a:lnTo>
                    <a:pt x="7073" y="6477"/>
                  </a:lnTo>
                  <a:cubicBezTo>
                    <a:pt x="6799" y="6953"/>
                    <a:pt x="6299" y="7263"/>
                    <a:pt x="5739" y="7263"/>
                  </a:cubicBezTo>
                  <a:cubicBezTo>
                    <a:pt x="5191" y="7263"/>
                    <a:pt x="4691" y="6953"/>
                    <a:pt x="4453" y="6477"/>
                  </a:cubicBezTo>
                  <a:lnTo>
                    <a:pt x="4703" y="6370"/>
                  </a:lnTo>
                  <a:cubicBezTo>
                    <a:pt x="4894" y="6275"/>
                    <a:pt x="5013" y="6084"/>
                    <a:pt x="5013" y="5882"/>
                  </a:cubicBezTo>
                  <a:lnTo>
                    <a:pt x="5013" y="5477"/>
                  </a:lnTo>
                  <a:cubicBezTo>
                    <a:pt x="5239" y="5560"/>
                    <a:pt x="5489" y="5620"/>
                    <a:pt x="5763" y="5620"/>
                  </a:cubicBezTo>
                  <a:cubicBezTo>
                    <a:pt x="6025" y="5620"/>
                    <a:pt x="6263" y="5584"/>
                    <a:pt x="6501" y="5477"/>
                  </a:cubicBezTo>
                  <a:close/>
                  <a:moveTo>
                    <a:pt x="5763" y="0"/>
                  </a:moveTo>
                  <a:cubicBezTo>
                    <a:pt x="5072" y="0"/>
                    <a:pt x="4465" y="238"/>
                    <a:pt x="4013" y="679"/>
                  </a:cubicBezTo>
                  <a:cubicBezTo>
                    <a:pt x="3560" y="1131"/>
                    <a:pt x="3286" y="1774"/>
                    <a:pt x="3239" y="2512"/>
                  </a:cubicBezTo>
                  <a:cubicBezTo>
                    <a:pt x="3227" y="2703"/>
                    <a:pt x="3215" y="2905"/>
                    <a:pt x="3203" y="3084"/>
                  </a:cubicBezTo>
                  <a:lnTo>
                    <a:pt x="1608" y="3084"/>
                  </a:lnTo>
                  <a:cubicBezTo>
                    <a:pt x="1012" y="3084"/>
                    <a:pt x="536" y="3560"/>
                    <a:pt x="536" y="4155"/>
                  </a:cubicBezTo>
                  <a:lnTo>
                    <a:pt x="536" y="4167"/>
                  </a:lnTo>
                  <a:cubicBezTo>
                    <a:pt x="536" y="4298"/>
                    <a:pt x="560" y="4453"/>
                    <a:pt x="619" y="4572"/>
                  </a:cubicBezTo>
                  <a:lnTo>
                    <a:pt x="715" y="4751"/>
                  </a:lnTo>
                  <a:lnTo>
                    <a:pt x="715" y="5025"/>
                  </a:lnTo>
                  <a:cubicBezTo>
                    <a:pt x="715" y="5465"/>
                    <a:pt x="941" y="5858"/>
                    <a:pt x="1262" y="6096"/>
                  </a:cubicBezTo>
                  <a:lnTo>
                    <a:pt x="1262" y="6334"/>
                  </a:lnTo>
                  <a:cubicBezTo>
                    <a:pt x="1262" y="6370"/>
                    <a:pt x="1250" y="6394"/>
                    <a:pt x="1215" y="6418"/>
                  </a:cubicBezTo>
                  <a:lnTo>
                    <a:pt x="524" y="6608"/>
                  </a:lnTo>
                  <a:cubicBezTo>
                    <a:pt x="226" y="6691"/>
                    <a:pt x="0" y="6977"/>
                    <a:pt x="0" y="7287"/>
                  </a:cubicBezTo>
                  <a:lnTo>
                    <a:pt x="0" y="8692"/>
                  </a:lnTo>
                  <a:cubicBezTo>
                    <a:pt x="0" y="8775"/>
                    <a:pt x="72" y="8858"/>
                    <a:pt x="167" y="8858"/>
                  </a:cubicBezTo>
                  <a:cubicBezTo>
                    <a:pt x="250" y="8858"/>
                    <a:pt x="322" y="8775"/>
                    <a:pt x="322" y="8692"/>
                  </a:cubicBezTo>
                  <a:lnTo>
                    <a:pt x="322" y="7287"/>
                  </a:lnTo>
                  <a:cubicBezTo>
                    <a:pt x="322" y="7132"/>
                    <a:pt x="441" y="6977"/>
                    <a:pt x="596" y="6930"/>
                  </a:cubicBezTo>
                  <a:lnTo>
                    <a:pt x="1298" y="6739"/>
                  </a:lnTo>
                  <a:cubicBezTo>
                    <a:pt x="1322" y="6739"/>
                    <a:pt x="1334" y="6727"/>
                    <a:pt x="1369" y="6715"/>
                  </a:cubicBezTo>
                  <a:lnTo>
                    <a:pt x="1798" y="7144"/>
                  </a:lnTo>
                  <a:lnTo>
                    <a:pt x="1798" y="8704"/>
                  </a:lnTo>
                  <a:cubicBezTo>
                    <a:pt x="1798" y="8799"/>
                    <a:pt x="1870" y="8870"/>
                    <a:pt x="1965" y="8870"/>
                  </a:cubicBezTo>
                  <a:cubicBezTo>
                    <a:pt x="2048" y="8870"/>
                    <a:pt x="2131" y="8799"/>
                    <a:pt x="2131" y="8704"/>
                  </a:cubicBezTo>
                  <a:lnTo>
                    <a:pt x="2131" y="7144"/>
                  </a:lnTo>
                  <a:lnTo>
                    <a:pt x="2560" y="6715"/>
                  </a:lnTo>
                  <a:cubicBezTo>
                    <a:pt x="2620" y="6739"/>
                    <a:pt x="2679" y="6751"/>
                    <a:pt x="2727" y="6775"/>
                  </a:cubicBezTo>
                  <a:lnTo>
                    <a:pt x="2905" y="6811"/>
                  </a:lnTo>
                  <a:cubicBezTo>
                    <a:pt x="2667" y="6977"/>
                    <a:pt x="2524" y="7251"/>
                    <a:pt x="2524" y="7549"/>
                  </a:cubicBezTo>
                  <a:lnTo>
                    <a:pt x="2524" y="8704"/>
                  </a:lnTo>
                  <a:cubicBezTo>
                    <a:pt x="2524" y="8799"/>
                    <a:pt x="2608" y="8870"/>
                    <a:pt x="2691" y="8870"/>
                  </a:cubicBezTo>
                  <a:cubicBezTo>
                    <a:pt x="2786" y="8870"/>
                    <a:pt x="2858" y="8799"/>
                    <a:pt x="2858" y="8704"/>
                  </a:cubicBezTo>
                  <a:lnTo>
                    <a:pt x="2858" y="7549"/>
                  </a:lnTo>
                  <a:cubicBezTo>
                    <a:pt x="2858" y="7322"/>
                    <a:pt x="2989" y="7132"/>
                    <a:pt x="3179" y="7037"/>
                  </a:cubicBezTo>
                  <a:lnTo>
                    <a:pt x="4156" y="6608"/>
                  </a:lnTo>
                  <a:cubicBezTo>
                    <a:pt x="4453" y="7215"/>
                    <a:pt x="5072" y="7608"/>
                    <a:pt x="5763" y="7608"/>
                  </a:cubicBezTo>
                  <a:cubicBezTo>
                    <a:pt x="6442" y="7608"/>
                    <a:pt x="7073" y="7215"/>
                    <a:pt x="7370" y="6608"/>
                  </a:cubicBezTo>
                  <a:lnTo>
                    <a:pt x="8335" y="7037"/>
                  </a:lnTo>
                  <a:cubicBezTo>
                    <a:pt x="8537" y="7132"/>
                    <a:pt x="8656" y="7322"/>
                    <a:pt x="8656" y="7549"/>
                  </a:cubicBezTo>
                  <a:lnTo>
                    <a:pt x="8656" y="8704"/>
                  </a:lnTo>
                  <a:cubicBezTo>
                    <a:pt x="8656" y="8799"/>
                    <a:pt x="8739" y="8870"/>
                    <a:pt x="8823" y="8870"/>
                  </a:cubicBezTo>
                  <a:cubicBezTo>
                    <a:pt x="8918" y="8870"/>
                    <a:pt x="8989" y="8799"/>
                    <a:pt x="8989" y="8704"/>
                  </a:cubicBezTo>
                  <a:lnTo>
                    <a:pt x="8989" y="7549"/>
                  </a:lnTo>
                  <a:cubicBezTo>
                    <a:pt x="8989" y="7322"/>
                    <a:pt x="8918" y="7132"/>
                    <a:pt x="8775" y="6965"/>
                  </a:cubicBezTo>
                  <a:lnTo>
                    <a:pt x="9049" y="6834"/>
                  </a:lnTo>
                  <a:lnTo>
                    <a:pt x="9240" y="7025"/>
                  </a:lnTo>
                  <a:cubicBezTo>
                    <a:pt x="9370" y="7156"/>
                    <a:pt x="9549" y="7215"/>
                    <a:pt x="9728" y="7215"/>
                  </a:cubicBezTo>
                  <a:cubicBezTo>
                    <a:pt x="9906" y="7215"/>
                    <a:pt x="10085" y="7156"/>
                    <a:pt x="10228" y="7025"/>
                  </a:cubicBezTo>
                  <a:lnTo>
                    <a:pt x="10418" y="6834"/>
                  </a:lnTo>
                  <a:lnTo>
                    <a:pt x="10978" y="7108"/>
                  </a:lnTo>
                  <a:cubicBezTo>
                    <a:pt x="11121" y="7168"/>
                    <a:pt x="11192" y="7311"/>
                    <a:pt x="11192" y="7442"/>
                  </a:cubicBezTo>
                  <a:lnTo>
                    <a:pt x="11192" y="8692"/>
                  </a:lnTo>
                  <a:cubicBezTo>
                    <a:pt x="11192" y="8775"/>
                    <a:pt x="11264" y="8858"/>
                    <a:pt x="11359" y="8858"/>
                  </a:cubicBezTo>
                  <a:cubicBezTo>
                    <a:pt x="11442" y="8858"/>
                    <a:pt x="11514" y="8775"/>
                    <a:pt x="11514" y="8692"/>
                  </a:cubicBezTo>
                  <a:lnTo>
                    <a:pt x="11514" y="7442"/>
                  </a:lnTo>
                  <a:cubicBezTo>
                    <a:pt x="11537" y="7168"/>
                    <a:pt x="11383" y="6930"/>
                    <a:pt x="11145" y="6799"/>
                  </a:cubicBezTo>
                  <a:lnTo>
                    <a:pt x="10466" y="6453"/>
                  </a:lnTo>
                  <a:lnTo>
                    <a:pt x="10466" y="6441"/>
                  </a:lnTo>
                  <a:lnTo>
                    <a:pt x="10466" y="6096"/>
                  </a:lnTo>
                  <a:cubicBezTo>
                    <a:pt x="10740" y="5906"/>
                    <a:pt x="10942" y="5596"/>
                    <a:pt x="11002" y="5239"/>
                  </a:cubicBezTo>
                  <a:cubicBezTo>
                    <a:pt x="11133" y="5013"/>
                    <a:pt x="11192" y="4775"/>
                    <a:pt x="11192" y="4525"/>
                  </a:cubicBezTo>
                  <a:cubicBezTo>
                    <a:pt x="11192" y="4048"/>
                    <a:pt x="10966" y="3632"/>
                    <a:pt x="10609" y="3382"/>
                  </a:cubicBezTo>
                  <a:cubicBezTo>
                    <a:pt x="10621" y="3298"/>
                    <a:pt x="10644" y="3239"/>
                    <a:pt x="10644" y="3167"/>
                  </a:cubicBezTo>
                  <a:cubicBezTo>
                    <a:pt x="10644" y="2727"/>
                    <a:pt x="10240" y="2369"/>
                    <a:pt x="9751" y="2369"/>
                  </a:cubicBezTo>
                  <a:cubicBezTo>
                    <a:pt x="9251" y="2369"/>
                    <a:pt x="8859" y="2727"/>
                    <a:pt x="8859" y="3167"/>
                  </a:cubicBezTo>
                  <a:cubicBezTo>
                    <a:pt x="8859" y="3239"/>
                    <a:pt x="8870" y="3322"/>
                    <a:pt x="8882" y="3382"/>
                  </a:cubicBezTo>
                  <a:cubicBezTo>
                    <a:pt x="8680" y="3536"/>
                    <a:pt x="8513" y="3751"/>
                    <a:pt x="8406" y="3989"/>
                  </a:cubicBezTo>
                  <a:cubicBezTo>
                    <a:pt x="8358" y="3572"/>
                    <a:pt x="8323" y="3084"/>
                    <a:pt x="8275" y="2512"/>
                  </a:cubicBezTo>
                  <a:cubicBezTo>
                    <a:pt x="8216" y="1774"/>
                    <a:pt x="7942" y="1131"/>
                    <a:pt x="7501" y="679"/>
                  </a:cubicBezTo>
                  <a:cubicBezTo>
                    <a:pt x="7049" y="238"/>
                    <a:pt x="6442" y="0"/>
                    <a:pt x="57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2114800" y="3635440"/>
              <a:ext cx="11045" cy="37941"/>
            </a:xfrm>
            <a:custGeom>
              <a:avLst/>
              <a:gdLst/>
              <a:ahLst/>
              <a:cxnLst/>
              <a:rect l="l" t="t" r="r" b="b"/>
              <a:pathLst>
                <a:path w="347" h="1192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025"/>
                  </a:lnTo>
                  <a:cubicBezTo>
                    <a:pt x="1" y="1108"/>
                    <a:pt x="72" y="1191"/>
                    <a:pt x="167" y="1191"/>
                  </a:cubicBezTo>
                  <a:cubicBezTo>
                    <a:pt x="251" y="1191"/>
                    <a:pt x="322" y="1108"/>
                    <a:pt x="322" y="1025"/>
                  </a:cubicBezTo>
                  <a:lnTo>
                    <a:pt x="322" y="156"/>
                  </a:lnTo>
                  <a:cubicBezTo>
                    <a:pt x="346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644;p36">
            <a:extLst>
              <a:ext uri="{FF2B5EF4-FFF2-40B4-BE49-F238E27FC236}">
                <a16:creationId xmlns:a16="http://schemas.microsoft.com/office/drawing/2014/main" id="{B9182219-76F6-B8EB-F778-052F3409F6B5}"/>
              </a:ext>
            </a:extLst>
          </p:cNvPr>
          <p:cNvSpPr txBox="1"/>
          <p:nvPr/>
        </p:nvSpPr>
        <p:spPr>
          <a:xfrm>
            <a:off x="569600" y="2459307"/>
            <a:ext cx="21780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>
                <a:solidFill>
                  <a:schemeClr val="accent2"/>
                </a:solidFill>
              </a:rPr>
              <a:t>Key Functions</a:t>
            </a:r>
            <a:endParaRPr sz="1800" b="1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0DBA8-1FCA-8099-974E-27FC020F092E}"/>
              </a:ext>
            </a:extLst>
          </p:cNvPr>
          <p:cNvSpPr txBox="1"/>
          <p:nvPr/>
        </p:nvSpPr>
        <p:spPr>
          <a:xfrm>
            <a:off x="4614672" y="1794940"/>
            <a:ext cx="42001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Office computers for staff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Secure access to student information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Internal servers (or access to centralized data center)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 availability and secure networking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Printers, scanners, and document management systems</a:t>
            </a:r>
          </a:p>
        </p:txBody>
      </p:sp>
      <p:sp>
        <p:nvSpPr>
          <p:cNvPr id="8" name="Google Shape;648;p36">
            <a:extLst>
              <a:ext uri="{FF2B5EF4-FFF2-40B4-BE49-F238E27FC236}">
                <a16:creationId xmlns:a16="http://schemas.microsoft.com/office/drawing/2014/main" id="{3C5173A4-E9E4-1115-CBF7-18F8500F3C55}"/>
              </a:ext>
            </a:extLst>
          </p:cNvPr>
          <p:cNvSpPr txBox="1"/>
          <p:nvPr/>
        </p:nvSpPr>
        <p:spPr>
          <a:xfrm>
            <a:off x="4841953" y="2763838"/>
            <a:ext cx="2940214" cy="48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rPr>
              <a:t>Networking Needs</a:t>
            </a:r>
            <a:endParaRPr sz="1800" b="1" dirty="0">
              <a:solidFill>
                <a:schemeClr val="accent2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B0B07931-5CE8-7D7F-72F0-2A7257B7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67383284-585F-10F9-1604-8E6044BE35BC}"/>
              </a:ext>
            </a:extLst>
          </p:cNvPr>
          <p:cNvSpPr/>
          <p:nvPr/>
        </p:nvSpPr>
        <p:spPr>
          <a:xfrm>
            <a:off x="6872621" y="4772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641" name="Google Shape;641;p36">
            <a:extLst>
              <a:ext uri="{FF2B5EF4-FFF2-40B4-BE49-F238E27FC236}">
                <a16:creationId xmlns:a16="http://schemas.microsoft.com/office/drawing/2014/main" id="{EC2662AD-758B-8D23-B75C-18273D5EA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Engineering Building 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642" name="Google Shape;642;p36">
            <a:extLst>
              <a:ext uri="{FF2B5EF4-FFF2-40B4-BE49-F238E27FC236}">
                <a16:creationId xmlns:a16="http://schemas.microsoft.com/office/drawing/2014/main" id="{13C3C264-7A4B-E243-8A18-E3E0A2BF441C}"/>
              </a:ext>
            </a:extLst>
          </p:cNvPr>
          <p:cNvGrpSpPr/>
          <p:nvPr/>
        </p:nvGrpSpPr>
        <p:grpSpPr>
          <a:xfrm>
            <a:off x="569600" y="1170125"/>
            <a:ext cx="3559088" cy="3252381"/>
            <a:chOff x="607585" y="1502393"/>
            <a:chExt cx="3559088" cy="3252381"/>
          </a:xfrm>
        </p:grpSpPr>
        <p:sp>
          <p:nvSpPr>
            <p:cNvPr id="643" name="Google Shape;643;p36">
              <a:extLst>
                <a:ext uri="{FF2B5EF4-FFF2-40B4-BE49-F238E27FC236}">
                  <a16:creationId xmlns:a16="http://schemas.microsoft.com/office/drawing/2014/main" id="{7BC29629-4136-F586-9188-4BB462F20A2A}"/>
                </a:ext>
              </a:extLst>
            </p:cNvPr>
            <p:cNvSpPr txBox="1"/>
            <p:nvPr/>
          </p:nvSpPr>
          <p:spPr>
            <a:xfrm>
              <a:off x="607585" y="3394959"/>
              <a:ext cx="3536400" cy="1359815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Electrical Engineering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Mechanical Engineering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Civil Engineering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Electronics and Communication</a:t>
              </a:r>
              <a:b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</a:b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4" name="Google Shape;644;p36">
              <a:extLst>
                <a:ext uri="{FF2B5EF4-FFF2-40B4-BE49-F238E27FC236}">
                  <a16:creationId xmlns:a16="http://schemas.microsoft.com/office/drawing/2014/main" id="{02B725FA-D9DB-2A6B-3DB5-EC06899DE2F3}"/>
                </a:ext>
              </a:extLst>
            </p:cNvPr>
            <p:cNvSpPr txBox="1"/>
            <p:nvPr/>
          </p:nvSpPr>
          <p:spPr>
            <a:xfrm>
              <a:off x="630273" y="1502393"/>
              <a:ext cx="21780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800" dirty="0">
                  <a:solidFill>
                    <a:schemeClr val="accent2"/>
                  </a:solidFill>
                </a:rPr>
                <a:t>Purpose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5" name="Google Shape;645;p36">
              <a:extLst>
                <a:ext uri="{FF2B5EF4-FFF2-40B4-BE49-F238E27FC236}">
                  <a16:creationId xmlns:a16="http://schemas.microsoft.com/office/drawing/2014/main" id="{67A135CE-DF2B-95D9-0704-581918EF7D86}"/>
                </a:ext>
              </a:extLst>
            </p:cNvPr>
            <p:cNvSpPr txBox="1"/>
            <p:nvPr/>
          </p:nvSpPr>
          <p:spPr>
            <a:xfrm>
              <a:off x="630273" y="1930493"/>
              <a:ext cx="3536400" cy="620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This building supports hands-on engineering education and applied technical training.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646" name="Google Shape;646;p36">
            <a:extLst>
              <a:ext uri="{FF2B5EF4-FFF2-40B4-BE49-F238E27FC236}">
                <a16:creationId xmlns:a16="http://schemas.microsoft.com/office/drawing/2014/main" id="{FAEB39C8-8E37-2399-2A6A-DCC9E633FA65}"/>
              </a:ext>
            </a:extLst>
          </p:cNvPr>
          <p:cNvGrpSpPr/>
          <p:nvPr/>
        </p:nvGrpSpPr>
        <p:grpSpPr>
          <a:xfrm>
            <a:off x="4841952" y="1315293"/>
            <a:ext cx="3680251" cy="3138465"/>
            <a:chOff x="4841951" y="1652938"/>
            <a:chExt cx="3680251" cy="2791171"/>
          </a:xfrm>
        </p:grpSpPr>
        <p:sp>
          <p:nvSpPr>
            <p:cNvPr id="647" name="Google Shape;647;p36">
              <a:extLst>
                <a:ext uri="{FF2B5EF4-FFF2-40B4-BE49-F238E27FC236}">
                  <a16:creationId xmlns:a16="http://schemas.microsoft.com/office/drawing/2014/main" id="{D13F2098-10DE-9716-3D9C-33ED90FA2EDA}"/>
                </a:ext>
              </a:extLst>
            </p:cNvPr>
            <p:cNvSpPr txBox="1"/>
            <p:nvPr/>
          </p:nvSpPr>
          <p:spPr>
            <a:xfrm>
              <a:off x="4841951" y="3329614"/>
              <a:ext cx="3680251" cy="1114495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High-power electrical supply for equipment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Wired network connections for lab machines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Lab management software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Safety and access control systems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8" name="Google Shape;648;p36">
              <a:extLst>
                <a:ext uri="{FF2B5EF4-FFF2-40B4-BE49-F238E27FC236}">
                  <a16:creationId xmlns:a16="http://schemas.microsoft.com/office/drawing/2014/main" id="{2F314E40-FDE3-94AD-E158-A034D32C3FE4}"/>
                </a:ext>
              </a:extLst>
            </p:cNvPr>
            <p:cNvSpPr txBox="1"/>
            <p:nvPr/>
          </p:nvSpPr>
          <p:spPr>
            <a:xfrm>
              <a:off x="4887050" y="1652938"/>
              <a:ext cx="2940214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oppio One"/>
                  <a:ea typeface="Doppio One"/>
                  <a:cs typeface="Doppio One"/>
                  <a:sym typeface="Doppio One"/>
                </a:rPr>
                <a:t>Facilities</a:t>
              </a:r>
              <a:endParaRPr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9" name="Google Shape;649;p36">
              <a:extLst>
                <a:ext uri="{FF2B5EF4-FFF2-40B4-BE49-F238E27FC236}">
                  <a16:creationId xmlns:a16="http://schemas.microsoft.com/office/drawing/2014/main" id="{C6E8B05D-5664-A7DC-4931-92F7EC792EC2}"/>
                </a:ext>
              </a:extLst>
            </p:cNvPr>
            <p:cNvSpPr txBox="1"/>
            <p:nvPr/>
          </p:nvSpPr>
          <p:spPr>
            <a:xfrm>
              <a:off x="4887050" y="2024673"/>
              <a:ext cx="3536400" cy="11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cxnSp>
        <p:nvCxnSpPr>
          <p:cNvPr id="650" name="Google Shape;650;p36">
            <a:extLst>
              <a:ext uri="{FF2B5EF4-FFF2-40B4-BE49-F238E27FC236}">
                <a16:creationId xmlns:a16="http://schemas.microsoft.com/office/drawing/2014/main" id="{30DCCE1C-4895-09B3-128D-A4A1C42CAA19}"/>
              </a:ext>
            </a:extLst>
          </p:cNvPr>
          <p:cNvCxnSpPr/>
          <p:nvPr/>
        </p:nvCxnSpPr>
        <p:spPr>
          <a:xfrm>
            <a:off x="4572000" y="1301075"/>
            <a:ext cx="0" cy="3222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644;p36">
            <a:extLst>
              <a:ext uri="{FF2B5EF4-FFF2-40B4-BE49-F238E27FC236}">
                <a16:creationId xmlns:a16="http://schemas.microsoft.com/office/drawing/2014/main" id="{CF18505B-391E-402F-6317-78C867D4A864}"/>
              </a:ext>
            </a:extLst>
          </p:cNvPr>
          <p:cNvSpPr txBox="1"/>
          <p:nvPr/>
        </p:nvSpPr>
        <p:spPr>
          <a:xfrm>
            <a:off x="569600" y="2459307"/>
            <a:ext cx="3403788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>
                <a:solidFill>
                  <a:schemeClr val="accent2"/>
                </a:solidFill>
              </a:rPr>
              <a:t>Departments Typically Included</a:t>
            </a:r>
            <a:endParaRPr sz="1800" b="1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CDC8C-6787-A6EE-63E2-E620D98DFEDD}"/>
              </a:ext>
            </a:extLst>
          </p:cNvPr>
          <p:cNvSpPr txBox="1"/>
          <p:nvPr/>
        </p:nvSpPr>
        <p:spPr>
          <a:xfrm>
            <a:off x="4841952" y="1794940"/>
            <a:ext cx="3832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Lecture halls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Engineering laboratories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Workshops (e.g., circuits, robotics, materials)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Faculty offices</a:t>
            </a:r>
          </a:p>
        </p:txBody>
      </p:sp>
      <p:sp>
        <p:nvSpPr>
          <p:cNvPr id="8" name="Google Shape;648;p36">
            <a:extLst>
              <a:ext uri="{FF2B5EF4-FFF2-40B4-BE49-F238E27FC236}">
                <a16:creationId xmlns:a16="http://schemas.microsoft.com/office/drawing/2014/main" id="{E3722F5E-98F3-06CC-694E-A1BD87AD7C18}"/>
              </a:ext>
            </a:extLst>
          </p:cNvPr>
          <p:cNvSpPr txBox="1"/>
          <p:nvPr/>
        </p:nvSpPr>
        <p:spPr>
          <a:xfrm>
            <a:off x="4841953" y="2763838"/>
            <a:ext cx="2940214" cy="48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rPr>
              <a:t>Technical Requirements</a:t>
            </a:r>
            <a:endParaRPr sz="1800" b="1" dirty="0">
              <a:solidFill>
                <a:schemeClr val="accent2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grpSp>
        <p:nvGrpSpPr>
          <p:cNvPr id="11" name="Google Shape;685;p37">
            <a:extLst>
              <a:ext uri="{FF2B5EF4-FFF2-40B4-BE49-F238E27FC236}">
                <a16:creationId xmlns:a16="http://schemas.microsoft.com/office/drawing/2014/main" id="{9F555CE2-B74A-E6DB-B19A-8FD55752ACFA}"/>
              </a:ext>
            </a:extLst>
          </p:cNvPr>
          <p:cNvGrpSpPr/>
          <p:nvPr/>
        </p:nvGrpSpPr>
        <p:grpSpPr>
          <a:xfrm>
            <a:off x="7051692" y="657428"/>
            <a:ext cx="454857" cy="467865"/>
            <a:chOff x="6099375" y="2456075"/>
            <a:chExt cx="337684" cy="314194"/>
          </a:xfrm>
        </p:grpSpPr>
        <p:sp>
          <p:nvSpPr>
            <p:cNvPr id="12" name="Google Shape;686;p37">
              <a:extLst>
                <a:ext uri="{FF2B5EF4-FFF2-40B4-BE49-F238E27FC236}">
                  <a16:creationId xmlns:a16="http://schemas.microsoft.com/office/drawing/2014/main" id="{313D165B-8519-8C75-C33B-69D8DE6E3554}"/>
                </a:ext>
              </a:extLst>
            </p:cNvPr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87;p37">
              <a:extLst>
                <a:ext uri="{FF2B5EF4-FFF2-40B4-BE49-F238E27FC236}">
                  <a16:creationId xmlns:a16="http://schemas.microsoft.com/office/drawing/2014/main" id="{A9D36800-0991-B17C-35DF-1B22D4ADE0C4}"/>
                </a:ext>
              </a:extLst>
            </p:cNvPr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7833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D344A9AE-EF6E-1B2A-C072-92CC9FF2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20FE36F3-EA51-20B6-9612-FFEE4C7D7860}"/>
              </a:ext>
            </a:extLst>
          </p:cNvPr>
          <p:cNvSpPr/>
          <p:nvPr/>
        </p:nvSpPr>
        <p:spPr>
          <a:xfrm>
            <a:off x="7157656" y="504080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641" name="Google Shape;641;p36">
            <a:extLst>
              <a:ext uri="{FF2B5EF4-FFF2-40B4-BE49-F238E27FC236}">
                <a16:creationId xmlns:a16="http://schemas.microsoft.com/office/drawing/2014/main" id="{043DFAB6-077E-C6C0-7EAB-A1B9A1F9A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Computer Science Building  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642" name="Google Shape;642;p36">
            <a:extLst>
              <a:ext uri="{FF2B5EF4-FFF2-40B4-BE49-F238E27FC236}">
                <a16:creationId xmlns:a16="http://schemas.microsoft.com/office/drawing/2014/main" id="{1291C444-48CA-196B-31AB-913DE2C4F328}"/>
              </a:ext>
            </a:extLst>
          </p:cNvPr>
          <p:cNvGrpSpPr/>
          <p:nvPr/>
        </p:nvGrpSpPr>
        <p:grpSpPr>
          <a:xfrm>
            <a:off x="569600" y="1232046"/>
            <a:ext cx="3536400" cy="2928747"/>
            <a:chOff x="607585" y="1564314"/>
            <a:chExt cx="3536400" cy="2928747"/>
          </a:xfrm>
        </p:grpSpPr>
        <p:sp>
          <p:nvSpPr>
            <p:cNvPr id="643" name="Google Shape;643;p36">
              <a:extLst>
                <a:ext uri="{FF2B5EF4-FFF2-40B4-BE49-F238E27FC236}">
                  <a16:creationId xmlns:a16="http://schemas.microsoft.com/office/drawing/2014/main" id="{8AA6301A-080B-6F65-58D4-597EF202D81A}"/>
                </a:ext>
              </a:extLst>
            </p:cNvPr>
            <p:cNvSpPr txBox="1"/>
            <p:nvPr/>
          </p:nvSpPr>
          <p:spPr>
            <a:xfrm>
              <a:off x="607585" y="3096106"/>
              <a:ext cx="3536400" cy="1396955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Computer Science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Software Engineering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Artificial Intelligence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Data Science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Cybersecurity</a:t>
              </a:r>
              <a:b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</a:b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4" name="Google Shape;644;p36">
              <a:extLst>
                <a:ext uri="{FF2B5EF4-FFF2-40B4-BE49-F238E27FC236}">
                  <a16:creationId xmlns:a16="http://schemas.microsoft.com/office/drawing/2014/main" id="{F7D797B2-3047-0A01-296A-8C3D10A652DC}"/>
                </a:ext>
              </a:extLst>
            </p:cNvPr>
            <p:cNvSpPr txBox="1"/>
            <p:nvPr/>
          </p:nvSpPr>
          <p:spPr>
            <a:xfrm>
              <a:off x="607585" y="1564314"/>
              <a:ext cx="21780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800" dirty="0">
                  <a:solidFill>
                    <a:schemeClr val="accent2"/>
                  </a:solidFill>
                </a:rPr>
                <a:t>Purpose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5" name="Google Shape;645;p36">
              <a:extLst>
                <a:ext uri="{FF2B5EF4-FFF2-40B4-BE49-F238E27FC236}">
                  <a16:creationId xmlns:a16="http://schemas.microsoft.com/office/drawing/2014/main" id="{9E72345A-3BEE-938C-B973-ABD6E2FB9D16}"/>
                </a:ext>
              </a:extLst>
            </p:cNvPr>
            <p:cNvSpPr txBox="1"/>
            <p:nvPr/>
          </p:nvSpPr>
          <p:spPr>
            <a:xfrm>
              <a:off x="607585" y="2054336"/>
              <a:ext cx="3536400" cy="416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This is the core technology hub of the campus.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646" name="Google Shape;646;p36">
            <a:extLst>
              <a:ext uri="{FF2B5EF4-FFF2-40B4-BE49-F238E27FC236}">
                <a16:creationId xmlns:a16="http://schemas.microsoft.com/office/drawing/2014/main" id="{5768C2E5-A2C2-856E-5C98-2BD51796EDE9}"/>
              </a:ext>
            </a:extLst>
          </p:cNvPr>
          <p:cNvGrpSpPr/>
          <p:nvPr/>
        </p:nvGrpSpPr>
        <p:grpSpPr>
          <a:xfrm>
            <a:off x="4841953" y="1315293"/>
            <a:ext cx="3581498" cy="3208082"/>
            <a:chOff x="4841952" y="1652938"/>
            <a:chExt cx="3581498" cy="2853084"/>
          </a:xfrm>
        </p:grpSpPr>
        <p:sp>
          <p:nvSpPr>
            <p:cNvPr id="647" name="Google Shape;647;p36">
              <a:extLst>
                <a:ext uri="{FF2B5EF4-FFF2-40B4-BE49-F238E27FC236}">
                  <a16:creationId xmlns:a16="http://schemas.microsoft.com/office/drawing/2014/main" id="{D25D9BEF-55E0-895D-5A7F-F5C5D49835A6}"/>
                </a:ext>
              </a:extLst>
            </p:cNvPr>
            <p:cNvSpPr txBox="1"/>
            <p:nvPr/>
          </p:nvSpPr>
          <p:spPr>
            <a:xfrm>
              <a:off x="4841952" y="3323722"/>
              <a:ext cx="3536400" cy="11823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Very high bandwidth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Wired Ethernet for labs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Secure segmentation (VLANs)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Controlled internet access for experiments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8" name="Google Shape;648;p36">
              <a:extLst>
                <a:ext uri="{FF2B5EF4-FFF2-40B4-BE49-F238E27FC236}">
                  <a16:creationId xmlns:a16="http://schemas.microsoft.com/office/drawing/2014/main" id="{A0237A51-2C84-E6DB-9CA2-48802FC1DC20}"/>
                </a:ext>
              </a:extLst>
            </p:cNvPr>
            <p:cNvSpPr txBox="1"/>
            <p:nvPr/>
          </p:nvSpPr>
          <p:spPr>
            <a:xfrm>
              <a:off x="4887049" y="1652938"/>
              <a:ext cx="3126271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oppio One"/>
                  <a:ea typeface="Doppio One"/>
                  <a:cs typeface="Doppio One"/>
                  <a:sym typeface="Doppio One"/>
                </a:rPr>
                <a:t>Specialized Computer Labs</a:t>
              </a:r>
              <a:endParaRPr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9" name="Google Shape;649;p36">
              <a:extLst>
                <a:ext uri="{FF2B5EF4-FFF2-40B4-BE49-F238E27FC236}">
                  <a16:creationId xmlns:a16="http://schemas.microsoft.com/office/drawing/2014/main" id="{1920234C-50CC-1F29-375E-00A48B931593}"/>
                </a:ext>
              </a:extLst>
            </p:cNvPr>
            <p:cNvSpPr txBox="1"/>
            <p:nvPr/>
          </p:nvSpPr>
          <p:spPr>
            <a:xfrm>
              <a:off x="4887050" y="2024673"/>
              <a:ext cx="3536400" cy="11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cxnSp>
        <p:nvCxnSpPr>
          <p:cNvPr id="650" name="Google Shape;650;p36">
            <a:extLst>
              <a:ext uri="{FF2B5EF4-FFF2-40B4-BE49-F238E27FC236}">
                <a16:creationId xmlns:a16="http://schemas.microsoft.com/office/drawing/2014/main" id="{328CD6FC-1BB9-E6A6-370D-F31328BA8D52}"/>
              </a:ext>
            </a:extLst>
          </p:cNvPr>
          <p:cNvCxnSpPr/>
          <p:nvPr/>
        </p:nvCxnSpPr>
        <p:spPr>
          <a:xfrm>
            <a:off x="4572000" y="1301075"/>
            <a:ext cx="0" cy="3222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644;p36">
            <a:extLst>
              <a:ext uri="{FF2B5EF4-FFF2-40B4-BE49-F238E27FC236}">
                <a16:creationId xmlns:a16="http://schemas.microsoft.com/office/drawing/2014/main" id="{3A3F1A92-7BA9-7FF8-E47A-E27858500455}"/>
              </a:ext>
            </a:extLst>
          </p:cNvPr>
          <p:cNvSpPr txBox="1"/>
          <p:nvPr/>
        </p:nvSpPr>
        <p:spPr>
          <a:xfrm>
            <a:off x="455936" y="2397986"/>
            <a:ext cx="3295261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>
                <a:solidFill>
                  <a:schemeClr val="accent2"/>
                </a:solidFill>
              </a:rPr>
              <a:t>Departments and Programs</a:t>
            </a:r>
            <a:endParaRPr sz="1800" b="1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4A163-E747-16FD-B022-0C72AA68B7AE}"/>
              </a:ext>
            </a:extLst>
          </p:cNvPr>
          <p:cNvSpPr txBox="1"/>
          <p:nvPr/>
        </p:nvSpPr>
        <p:spPr>
          <a:xfrm>
            <a:off x="4614672" y="1794940"/>
            <a:ext cx="4200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High-performance PCs or workstations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Virtualization and cloud platforms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Isolated lab networks for cybersecurity 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Central servers for code repositories and databases</a:t>
            </a:r>
          </a:p>
        </p:txBody>
      </p:sp>
      <p:sp>
        <p:nvSpPr>
          <p:cNvPr id="8" name="Google Shape;648;p36">
            <a:extLst>
              <a:ext uri="{FF2B5EF4-FFF2-40B4-BE49-F238E27FC236}">
                <a16:creationId xmlns:a16="http://schemas.microsoft.com/office/drawing/2014/main" id="{DB7A24FA-B93C-6B9B-742D-B12F50131C4E}"/>
              </a:ext>
            </a:extLst>
          </p:cNvPr>
          <p:cNvSpPr txBox="1"/>
          <p:nvPr/>
        </p:nvSpPr>
        <p:spPr>
          <a:xfrm>
            <a:off x="4841953" y="2763838"/>
            <a:ext cx="2940214" cy="48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rPr>
              <a:t>Networking Needs</a:t>
            </a:r>
            <a:endParaRPr sz="1800" b="1" dirty="0">
              <a:solidFill>
                <a:schemeClr val="accent2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3819FC-76FD-117D-BBFC-82B25D294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20" y="659708"/>
            <a:ext cx="542545" cy="46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8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>
          <a:extLst>
            <a:ext uri="{FF2B5EF4-FFF2-40B4-BE49-F238E27FC236}">
              <a16:creationId xmlns:a16="http://schemas.microsoft.com/office/drawing/2014/main" id="{1FE22750-D0B8-957F-90B4-1FCBBF0E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DDAC17A6-4A1D-0AE4-56B8-AB7D709FC6BB}"/>
              </a:ext>
            </a:extLst>
          </p:cNvPr>
          <p:cNvSpPr/>
          <p:nvPr/>
        </p:nvSpPr>
        <p:spPr>
          <a:xfrm>
            <a:off x="6872621" y="477275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641" name="Google Shape;641;p36">
            <a:extLst>
              <a:ext uri="{FF2B5EF4-FFF2-40B4-BE49-F238E27FC236}">
                <a16:creationId xmlns:a16="http://schemas.microsoft.com/office/drawing/2014/main" id="{D4A9FBB2-FF80-00C9-953F-7E49E6823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133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Library Building</a:t>
            </a:r>
            <a:endParaRPr dirty="0"/>
          </a:p>
        </p:txBody>
      </p:sp>
      <p:grpSp>
        <p:nvGrpSpPr>
          <p:cNvPr id="642" name="Google Shape;642;p36">
            <a:extLst>
              <a:ext uri="{FF2B5EF4-FFF2-40B4-BE49-F238E27FC236}">
                <a16:creationId xmlns:a16="http://schemas.microsoft.com/office/drawing/2014/main" id="{F409DBD3-4C8F-15DB-692F-776AEBDC2618}"/>
              </a:ext>
            </a:extLst>
          </p:cNvPr>
          <p:cNvGrpSpPr/>
          <p:nvPr/>
        </p:nvGrpSpPr>
        <p:grpSpPr>
          <a:xfrm>
            <a:off x="511714" y="1031725"/>
            <a:ext cx="3616974" cy="3332611"/>
            <a:chOff x="549699" y="1363993"/>
            <a:chExt cx="3616974" cy="3332611"/>
          </a:xfrm>
        </p:grpSpPr>
        <p:sp>
          <p:nvSpPr>
            <p:cNvPr id="643" name="Google Shape;643;p36">
              <a:extLst>
                <a:ext uri="{FF2B5EF4-FFF2-40B4-BE49-F238E27FC236}">
                  <a16:creationId xmlns:a16="http://schemas.microsoft.com/office/drawing/2014/main" id="{B1ABEE0D-A753-DAD2-FC2C-08E062A9DDD4}"/>
                </a:ext>
              </a:extLst>
            </p:cNvPr>
            <p:cNvSpPr txBox="1"/>
            <p:nvPr/>
          </p:nvSpPr>
          <p:spPr>
            <a:xfrm>
              <a:off x="549699" y="3336789"/>
              <a:ext cx="3536400" cy="1359815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Reading areas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Group study rooms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Digital library stations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Quiet zones</a:t>
              </a:r>
            </a:p>
            <a:p>
              <a:pPr marL="323850" marR="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Printing and scanning services</a:t>
              </a:r>
              <a:b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</a:b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4" name="Google Shape;644;p36">
              <a:extLst>
                <a:ext uri="{FF2B5EF4-FFF2-40B4-BE49-F238E27FC236}">
                  <a16:creationId xmlns:a16="http://schemas.microsoft.com/office/drawing/2014/main" id="{6988B19F-654C-28BE-85F2-E420502D2072}"/>
                </a:ext>
              </a:extLst>
            </p:cNvPr>
            <p:cNvSpPr txBox="1"/>
            <p:nvPr/>
          </p:nvSpPr>
          <p:spPr>
            <a:xfrm>
              <a:off x="650257" y="1363993"/>
              <a:ext cx="21780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800" dirty="0">
                  <a:solidFill>
                    <a:schemeClr val="accent2"/>
                  </a:solidFill>
                </a:rPr>
                <a:t>Purpose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5" name="Google Shape;645;p36">
              <a:extLst>
                <a:ext uri="{FF2B5EF4-FFF2-40B4-BE49-F238E27FC236}">
                  <a16:creationId xmlns:a16="http://schemas.microsoft.com/office/drawing/2014/main" id="{3F53F32A-7114-04B0-9B86-7B094567ACD3}"/>
                </a:ext>
              </a:extLst>
            </p:cNvPr>
            <p:cNvSpPr txBox="1"/>
            <p:nvPr/>
          </p:nvSpPr>
          <p:spPr>
            <a:xfrm>
              <a:off x="630273" y="1851122"/>
              <a:ext cx="3536400" cy="620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The library acts as a knowledge and research center.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646" name="Google Shape;646;p36">
            <a:extLst>
              <a:ext uri="{FF2B5EF4-FFF2-40B4-BE49-F238E27FC236}">
                <a16:creationId xmlns:a16="http://schemas.microsoft.com/office/drawing/2014/main" id="{5FF9002A-A241-BDAE-0C7D-136F652DE44E}"/>
              </a:ext>
            </a:extLst>
          </p:cNvPr>
          <p:cNvGrpSpPr/>
          <p:nvPr/>
        </p:nvGrpSpPr>
        <p:grpSpPr>
          <a:xfrm>
            <a:off x="4887051" y="1315293"/>
            <a:ext cx="3536400" cy="3212555"/>
            <a:chOff x="4887050" y="1652938"/>
            <a:chExt cx="3536400" cy="2857062"/>
          </a:xfrm>
        </p:grpSpPr>
        <p:sp>
          <p:nvSpPr>
            <p:cNvPr id="647" name="Google Shape;647;p36">
              <a:extLst>
                <a:ext uri="{FF2B5EF4-FFF2-40B4-BE49-F238E27FC236}">
                  <a16:creationId xmlns:a16="http://schemas.microsoft.com/office/drawing/2014/main" id="{52E74771-54E9-8F2E-192F-205135AD95A7}"/>
                </a:ext>
              </a:extLst>
            </p:cNvPr>
            <p:cNvSpPr txBox="1"/>
            <p:nvPr/>
          </p:nvSpPr>
          <p:spPr>
            <a:xfrm>
              <a:off x="4887050" y="3327700"/>
              <a:ext cx="3536400" cy="1182300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Online academic databases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E-books and journals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Learning management system access</a:t>
              </a:r>
            </a:p>
            <a:p>
              <a:pPr marL="457200" marR="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Encode Sans"/>
                <a:buChar char="●"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Research software tools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648" name="Google Shape;648;p36">
              <a:extLst>
                <a:ext uri="{FF2B5EF4-FFF2-40B4-BE49-F238E27FC236}">
                  <a16:creationId xmlns:a16="http://schemas.microsoft.com/office/drawing/2014/main" id="{261782F2-C236-63D1-925F-840728E822E4}"/>
                </a:ext>
              </a:extLst>
            </p:cNvPr>
            <p:cNvSpPr txBox="1"/>
            <p:nvPr/>
          </p:nvSpPr>
          <p:spPr>
            <a:xfrm>
              <a:off x="4887050" y="1652938"/>
              <a:ext cx="2940214" cy="4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Doppio One"/>
                  <a:ea typeface="Doppio One"/>
                  <a:cs typeface="Doppio One"/>
                  <a:sym typeface="Doppio One"/>
                </a:rPr>
                <a:t>Technical Requirements</a:t>
              </a:r>
              <a:endParaRPr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49" name="Google Shape;649;p36">
              <a:extLst>
                <a:ext uri="{FF2B5EF4-FFF2-40B4-BE49-F238E27FC236}">
                  <a16:creationId xmlns:a16="http://schemas.microsoft.com/office/drawing/2014/main" id="{0ACD575B-A17E-583E-AA86-D0FFEBBA80D2}"/>
                </a:ext>
              </a:extLst>
            </p:cNvPr>
            <p:cNvSpPr txBox="1"/>
            <p:nvPr/>
          </p:nvSpPr>
          <p:spPr>
            <a:xfrm>
              <a:off x="4887050" y="2024673"/>
              <a:ext cx="3536400" cy="118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cxnSp>
        <p:nvCxnSpPr>
          <p:cNvPr id="650" name="Google Shape;650;p36">
            <a:extLst>
              <a:ext uri="{FF2B5EF4-FFF2-40B4-BE49-F238E27FC236}">
                <a16:creationId xmlns:a16="http://schemas.microsoft.com/office/drawing/2014/main" id="{6C32F171-7A39-0AF9-1666-C0EE319D8B25}"/>
              </a:ext>
            </a:extLst>
          </p:cNvPr>
          <p:cNvCxnSpPr/>
          <p:nvPr/>
        </p:nvCxnSpPr>
        <p:spPr>
          <a:xfrm>
            <a:off x="4572000" y="1301075"/>
            <a:ext cx="0" cy="32223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644;p36">
            <a:extLst>
              <a:ext uri="{FF2B5EF4-FFF2-40B4-BE49-F238E27FC236}">
                <a16:creationId xmlns:a16="http://schemas.microsoft.com/office/drawing/2014/main" id="{7EEDEAA7-CF88-52A5-3341-791793E5F21D}"/>
              </a:ext>
            </a:extLst>
          </p:cNvPr>
          <p:cNvSpPr txBox="1"/>
          <p:nvPr/>
        </p:nvSpPr>
        <p:spPr>
          <a:xfrm>
            <a:off x="511714" y="2549788"/>
            <a:ext cx="21780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>
                <a:solidFill>
                  <a:schemeClr val="accent2"/>
                </a:solidFill>
              </a:rPr>
              <a:t>Facilities</a:t>
            </a:r>
            <a:endParaRPr sz="1800" b="1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207A7-6C47-1434-380D-BEF1C5499148}"/>
              </a:ext>
            </a:extLst>
          </p:cNvPr>
          <p:cNvSpPr txBox="1"/>
          <p:nvPr/>
        </p:nvSpPr>
        <p:spPr>
          <a:xfrm>
            <a:off x="4637360" y="1772418"/>
            <a:ext cx="4200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Public computers for students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Strong Wi-Fi coverage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Content filtering and access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Quiet and low-noise infrastructure</a:t>
            </a:r>
          </a:p>
        </p:txBody>
      </p:sp>
      <p:sp>
        <p:nvSpPr>
          <p:cNvPr id="8" name="Google Shape;648;p36">
            <a:extLst>
              <a:ext uri="{FF2B5EF4-FFF2-40B4-BE49-F238E27FC236}">
                <a16:creationId xmlns:a16="http://schemas.microsoft.com/office/drawing/2014/main" id="{BEC748AC-603F-15B0-DD6C-E0DE526E37F1}"/>
              </a:ext>
            </a:extLst>
          </p:cNvPr>
          <p:cNvSpPr txBox="1"/>
          <p:nvPr/>
        </p:nvSpPr>
        <p:spPr>
          <a:xfrm>
            <a:off x="4841953" y="2763838"/>
            <a:ext cx="2940214" cy="481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rPr>
              <a:t>Digital Services</a:t>
            </a:r>
            <a:endParaRPr sz="1800" b="1" dirty="0">
              <a:solidFill>
                <a:schemeClr val="accent2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grpSp>
        <p:nvGrpSpPr>
          <p:cNvPr id="2" name="Google Shape;337;p25">
            <a:extLst>
              <a:ext uri="{FF2B5EF4-FFF2-40B4-BE49-F238E27FC236}">
                <a16:creationId xmlns:a16="http://schemas.microsoft.com/office/drawing/2014/main" id="{E2DB1C34-A472-C3E5-7752-D355B934887B}"/>
              </a:ext>
            </a:extLst>
          </p:cNvPr>
          <p:cNvGrpSpPr/>
          <p:nvPr/>
        </p:nvGrpSpPr>
        <p:grpSpPr>
          <a:xfrm>
            <a:off x="7101189" y="669261"/>
            <a:ext cx="355863" cy="361911"/>
            <a:chOff x="7967103" y="2415041"/>
            <a:chExt cx="355863" cy="361911"/>
          </a:xfrm>
        </p:grpSpPr>
        <p:sp>
          <p:nvSpPr>
            <p:cNvPr id="4" name="Google Shape;338;p25">
              <a:extLst>
                <a:ext uri="{FF2B5EF4-FFF2-40B4-BE49-F238E27FC236}">
                  <a16:creationId xmlns:a16="http://schemas.microsoft.com/office/drawing/2014/main" id="{37540BF0-C254-7013-9159-4AA9803776BB}"/>
                </a:ext>
              </a:extLst>
            </p:cNvPr>
            <p:cNvSpPr/>
            <p:nvPr/>
          </p:nvSpPr>
          <p:spPr>
            <a:xfrm>
              <a:off x="7967103" y="2584427"/>
              <a:ext cx="111810" cy="192525"/>
            </a:xfrm>
            <a:custGeom>
              <a:avLst/>
              <a:gdLst/>
              <a:ahLst/>
              <a:cxnLst/>
              <a:rect l="l" t="t" r="r" b="b"/>
              <a:pathLst>
                <a:path w="3513" h="6049" extrusionOk="0">
                  <a:moveTo>
                    <a:pt x="1738" y="346"/>
                  </a:moveTo>
                  <a:cubicBezTo>
                    <a:pt x="2036" y="346"/>
                    <a:pt x="2298" y="560"/>
                    <a:pt x="2298" y="810"/>
                  </a:cubicBezTo>
                  <a:lnTo>
                    <a:pt x="2298" y="846"/>
                  </a:lnTo>
                  <a:cubicBezTo>
                    <a:pt x="2131" y="762"/>
                    <a:pt x="1941" y="739"/>
                    <a:pt x="1738" y="739"/>
                  </a:cubicBezTo>
                  <a:cubicBezTo>
                    <a:pt x="1548" y="739"/>
                    <a:pt x="1369" y="786"/>
                    <a:pt x="1191" y="846"/>
                  </a:cubicBezTo>
                  <a:lnTo>
                    <a:pt x="1191" y="810"/>
                  </a:lnTo>
                  <a:cubicBezTo>
                    <a:pt x="1203" y="560"/>
                    <a:pt x="1441" y="346"/>
                    <a:pt x="1738" y="346"/>
                  </a:cubicBezTo>
                  <a:close/>
                  <a:moveTo>
                    <a:pt x="1738" y="1048"/>
                  </a:moveTo>
                  <a:cubicBezTo>
                    <a:pt x="2334" y="1048"/>
                    <a:pt x="2834" y="1536"/>
                    <a:pt x="2834" y="2132"/>
                  </a:cubicBezTo>
                  <a:cubicBezTo>
                    <a:pt x="2834" y="2251"/>
                    <a:pt x="2810" y="2358"/>
                    <a:pt x="2762" y="2477"/>
                  </a:cubicBezTo>
                  <a:cubicBezTo>
                    <a:pt x="2286" y="2001"/>
                    <a:pt x="1453" y="1810"/>
                    <a:pt x="1429" y="1798"/>
                  </a:cubicBezTo>
                  <a:cubicBezTo>
                    <a:pt x="1415" y="1791"/>
                    <a:pt x="1400" y="1788"/>
                    <a:pt x="1385" y="1788"/>
                  </a:cubicBezTo>
                  <a:cubicBezTo>
                    <a:pt x="1347" y="1788"/>
                    <a:pt x="1308" y="1805"/>
                    <a:pt x="1274" y="1822"/>
                  </a:cubicBezTo>
                  <a:cubicBezTo>
                    <a:pt x="1238" y="1858"/>
                    <a:pt x="1215" y="1893"/>
                    <a:pt x="1215" y="1953"/>
                  </a:cubicBezTo>
                  <a:cubicBezTo>
                    <a:pt x="1215" y="1977"/>
                    <a:pt x="1203" y="2072"/>
                    <a:pt x="1084" y="2191"/>
                  </a:cubicBezTo>
                  <a:cubicBezTo>
                    <a:pt x="1024" y="2251"/>
                    <a:pt x="1024" y="2358"/>
                    <a:pt x="1084" y="2429"/>
                  </a:cubicBezTo>
                  <a:cubicBezTo>
                    <a:pt x="1111" y="2467"/>
                    <a:pt x="1148" y="2483"/>
                    <a:pt x="1188" y="2483"/>
                  </a:cubicBezTo>
                  <a:cubicBezTo>
                    <a:pt x="1234" y="2483"/>
                    <a:pt x="1283" y="2461"/>
                    <a:pt x="1322" y="2429"/>
                  </a:cubicBezTo>
                  <a:cubicBezTo>
                    <a:pt x="1417" y="2346"/>
                    <a:pt x="1477" y="2239"/>
                    <a:pt x="1500" y="2167"/>
                  </a:cubicBezTo>
                  <a:cubicBezTo>
                    <a:pt x="1786" y="2251"/>
                    <a:pt x="2370" y="2465"/>
                    <a:pt x="2631" y="2834"/>
                  </a:cubicBezTo>
                  <a:cubicBezTo>
                    <a:pt x="2560" y="3263"/>
                    <a:pt x="2191" y="3584"/>
                    <a:pt x="1738" y="3584"/>
                  </a:cubicBezTo>
                  <a:cubicBezTo>
                    <a:pt x="1286" y="3584"/>
                    <a:pt x="893" y="3239"/>
                    <a:pt x="846" y="2774"/>
                  </a:cubicBezTo>
                  <a:cubicBezTo>
                    <a:pt x="846" y="2751"/>
                    <a:pt x="834" y="2727"/>
                    <a:pt x="822" y="2703"/>
                  </a:cubicBezTo>
                  <a:cubicBezTo>
                    <a:pt x="715" y="2536"/>
                    <a:pt x="655" y="2334"/>
                    <a:pt x="655" y="2132"/>
                  </a:cubicBezTo>
                  <a:cubicBezTo>
                    <a:pt x="655" y="1536"/>
                    <a:pt x="1143" y="1048"/>
                    <a:pt x="1738" y="1048"/>
                  </a:cubicBezTo>
                  <a:close/>
                  <a:moveTo>
                    <a:pt x="2131" y="3858"/>
                  </a:moveTo>
                  <a:lnTo>
                    <a:pt x="2131" y="4037"/>
                  </a:lnTo>
                  <a:cubicBezTo>
                    <a:pt x="2131" y="4096"/>
                    <a:pt x="2143" y="4156"/>
                    <a:pt x="2167" y="4203"/>
                  </a:cubicBezTo>
                  <a:lnTo>
                    <a:pt x="1738" y="4596"/>
                  </a:lnTo>
                  <a:lnTo>
                    <a:pt x="1346" y="4203"/>
                  </a:lnTo>
                  <a:cubicBezTo>
                    <a:pt x="1369" y="4156"/>
                    <a:pt x="1381" y="4096"/>
                    <a:pt x="1381" y="4037"/>
                  </a:cubicBezTo>
                  <a:lnTo>
                    <a:pt x="1381" y="3858"/>
                  </a:lnTo>
                  <a:cubicBezTo>
                    <a:pt x="1500" y="3894"/>
                    <a:pt x="1619" y="3917"/>
                    <a:pt x="1750" y="3917"/>
                  </a:cubicBezTo>
                  <a:cubicBezTo>
                    <a:pt x="1893" y="3917"/>
                    <a:pt x="2012" y="3906"/>
                    <a:pt x="2131" y="3858"/>
                  </a:cubicBezTo>
                  <a:close/>
                  <a:moveTo>
                    <a:pt x="1762" y="0"/>
                  </a:moveTo>
                  <a:cubicBezTo>
                    <a:pt x="1286" y="0"/>
                    <a:pt x="881" y="358"/>
                    <a:pt x="881" y="798"/>
                  </a:cubicBezTo>
                  <a:cubicBezTo>
                    <a:pt x="881" y="869"/>
                    <a:pt x="893" y="929"/>
                    <a:pt x="905" y="1000"/>
                  </a:cubicBezTo>
                  <a:cubicBezTo>
                    <a:pt x="572" y="1250"/>
                    <a:pt x="345" y="1667"/>
                    <a:pt x="345" y="2132"/>
                  </a:cubicBezTo>
                  <a:cubicBezTo>
                    <a:pt x="345" y="2382"/>
                    <a:pt x="405" y="2632"/>
                    <a:pt x="536" y="2834"/>
                  </a:cubicBezTo>
                  <a:cubicBezTo>
                    <a:pt x="584" y="3191"/>
                    <a:pt x="774" y="3489"/>
                    <a:pt x="1060" y="3679"/>
                  </a:cubicBezTo>
                  <a:lnTo>
                    <a:pt x="1060" y="4025"/>
                  </a:lnTo>
                  <a:lnTo>
                    <a:pt x="1060" y="4037"/>
                  </a:lnTo>
                  <a:lnTo>
                    <a:pt x="393" y="4382"/>
                  </a:lnTo>
                  <a:cubicBezTo>
                    <a:pt x="155" y="4501"/>
                    <a:pt x="0" y="4739"/>
                    <a:pt x="0" y="5013"/>
                  </a:cubicBezTo>
                  <a:lnTo>
                    <a:pt x="0" y="5882"/>
                  </a:lnTo>
                  <a:cubicBezTo>
                    <a:pt x="0" y="5977"/>
                    <a:pt x="72" y="6049"/>
                    <a:pt x="167" y="6049"/>
                  </a:cubicBezTo>
                  <a:cubicBezTo>
                    <a:pt x="250" y="6049"/>
                    <a:pt x="334" y="5977"/>
                    <a:pt x="334" y="5882"/>
                  </a:cubicBezTo>
                  <a:lnTo>
                    <a:pt x="334" y="5013"/>
                  </a:lnTo>
                  <a:cubicBezTo>
                    <a:pt x="334" y="4870"/>
                    <a:pt x="405" y="4739"/>
                    <a:pt x="536" y="4679"/>
                  </a:cubicBezTo>
                  <a:lnTo>
                    <a:pt x="1084" y="4394"/>
                  </a:lnTo>
                  <a:lnTo>
                    <a:pt x="1596" y="4894"/>
                  </a:lnTo>
                  <a:lnTo>
                    <a:pt x="1596" y="5882"/>
                  </a:lnTo>
                  <a:cubicBezTo>
                    <a:pt x="1596" y="5977"/>
                    <a:pt x="1667" y="6049"/>
                    <a:pt x="1762" y="6049"/>
                  </a:cubicBezTo>
                  <a:cubicBezTo>
                    <a:pt x="1846" y="6049"/>
                    <a:pt x="1917" y="5977"/>
                    <a:pt x="1917" y="5882"/>
                  </a:cubicBezTo>
                  <a:lnTo>
                    <a:pt x="1917" y="4894"/>
                  </a:lnTo>
                  <a:lnTo>
                    <a:pt x="2429" y="4394"/>
                  </a:lnTo>
                  <a:lnTo>
                    <a:pt x="2977" y="4679"/>
                  </a:lnTo>
                  <a:cubicBezTo>
                    <a:pt x="3096" y="4739"/>
                    <a:pt x="3191" y="4870"/>
                    <a:pt x="3191" y="5013"/>
                  </a:cubicBezTo>
                  <a:lnTo>
                    <a:pt x="3191" y="5882"/>
                  </a:lnTo>
                  <a:cubicBezTo>
                    <a:pt x="3191" y="5977"/>
                    <a:pt x="3262" y="6049"/>
                    <a:pt x="3346" y="6049"/>
                  </a:cubicBezTo>
                  <a:cubicBezTo>
                    <a:pt x="3441" y="6049"/>
                    <a:pt x="3513" y="5977"/>
                    <a:pt x="3513" y="5882"/>
                  </a:cubicBezTo>
                  <a:lnTo>
                    <a:pt x="3513" y="5013"/>
                  </a:lnTo>
                  <a:cubicBezTo>
                    <a:pt x="3513" y="4739"/>
                    <a:pt x="3370" y="4501"/>
                    <a:pt x="3132" y="4382"/>
                  </a:cubicBezTo>
                  <a:lnTo>
                    <a:pt x="2453" y="4037"/>
                  </a:lnTo>
                  <a:lnTo>
                    <a:pt x="2453" y="4025"/>
                  </a:lnTo>
                  <a:lnTo>
                    <a:pt x="2453" y="3679"/>
                  </a:lnTo>
                  <a:cubicBezTo>
                    <a:pt x="2739" y="3489"/>
                    <a:pt x="2929" y="3191"/>
                    <a:pt x="2977" y="2834"/>
                  </a:cubicBezTo>
                  <a:cubicBezTo>
                    <a:pt x="3096" y="2632"/>
                    <a:pt x="3167" y="2370"/>
                    <a:pt x="3167" y="2132"/>
                  </a:cubicBezTo>
                  <a:cubicBezTo>
                    <a:pt x="3167" y="1667"/>
                    <a:pt x="2953" y="1262"/>
                    <a:pt x="2608" y="1000"/>
                  </a:cubicBezTo>
                  <a:cubicBezTo>
                    <a:pt x="2620" y="941"/>
                    <a:pt x="2631" y="869"/>
                    <a:pt x="2631" y="798"/>
                  </a:cubicBezTo>
                  <a:cubicBezTo>
                    <a:pt x="2631" y="369"/>
                    <a:pt x="2239" y="0"/>
                    <a:pt x="17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39;p25">
              <a:extLst>
                <a:ext uri="{FF2B5EF4-FFF2-40B4-BE49-F238E27FC236}">
                  <a16:creationId xmlns:a16="http://schemas.microsoft.com/office/drawing/2014/main" id="{C40DF2AC-84D6-A7E2-110F-483412106F71}"/>
                </a:ext>
              </a:extLst>
            </p:cNvPr>
            <p:cNvSpPr/>
            <p:nvPr/>
          </p:nvSpPr>
          <p:spPr>
            <a:xfrm>
              <a:off x="7989446" y="2750789"/>
              <a:ext cx="10280" cy="26162"/>
            </a:xfrm>
            <a:custGeom>
              <a:avLst/>
              <a:gdLst/>
              <a:ahLst/>
              <a:cxnLst/>
              <a:rect l="l" t="t" r="r" b="b"/>
              <a:pathLst>
                <a:path w="323" h="822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655"/>
                  </a:lnTo>
                  <a:cubicBezTo>
                    <a:pt x="1" y="750"/>
                    <a:pt x="72" y="822"/>
                    <a:pt x="167" y="822"/>
                  </a:cubicBezTo>
                  <a:cubicBezTo>
                    <a:pt x="251" y="822"/>
                    <a:pt x="322" y="750"/>
                    <a:pt x="322" y="655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40;p25">
              <a:extLst>
                <a:ext uri="{FF2B5EF4-FFF2-40B4-BE49-F238E27FC236}">
                  <a16:creationId xmlns:a16="http://schemas.microsoft.com/office/drawing/2014/main" id="{D05A6D1C-5149-FE6B-A340-72CF61CF6378}"/>
                </a:ext>
              </a:extLst>
            </p:cNvPr>
            <p:cNvSpPr/>
            <p:nvPr/>
          </p:nvSpPr>
          <p:spPr>
            <a:xfrm>
              <a:off x="8045908" y="2750789"/>
              <a:ext cx="10662" cy="26162"/>
            </a:xfrm>
            <a:custGeom>
              <a:avLst/>
              <a:gdLst/>
              <a:ahLst/>
              <a:cxnLst/>
              <a:rect l="l" t="t" r="r" b="b"/>
              <a:pathLst>
                <a:path w="335" h="822" extrusionOk="0">
                  <a:moveTo>
                    <a:pt x="155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655"/>
                  </a:lnTo>
                  <a:cubicBezTo>
                    <a:pt x="1" y="750"/>
                    <a:pt x="72" y="822"/>
                    <a:pt x="155" y="822"/>
                  </a:cubicBezTo>
                  <a:cubicBezTo>
                    <a:pt x="251" y="822"/>
                    <a:pt x="322" y="750"/>
                    <a:pt x="322" y="655"/>
                  </a:cubicBezTo>
                  <a:lnTo>
                    <a:pt x="322" y="167"/>
                  </a:lnTo>
                  <a:cubicBezTo>
                    <a:pt x="334" y="83"/>
                    <a:pt x="263" y="0"/>
                    <a:pt x="1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41;p25">
              <a:extLst>
                <a:ext uri="{FF2B5EF4-FFF2-40B4-BE49-F238E27FC236}">
                  <a16:creationId xmlns:a16="http://schemas.microsoft.com/office/drawing/2014/main" id="{6C858C91-8174-A3DF-17EB-02F6C78EBC3D}"/>
                </a:ext>
              </a:extLst>
            </p:cNvPr>
            <p:cNvSpPr/>
            <p:nvPr/>
          </p:nvSpPr>
          <p:spPr>
            <a:xfrm>
              <a:off x="8073184" y="2595789"/>
              <a:ext cx="136858" cy="112956"/>
            </a:xfrm>
            <a:custGeom>
              <a:avLst/>
              <a:gdLst/>
              <a:ahLst/>
              <a:cxnLst/>
              <a:rect l="l" t="t" r="r" b="b"/>
              <a:pathLst>
                <a:path w="4300" h="3549" extrusionOk="0">
                  <a:moveTo>
                    <a:pt x="2156" y="1"/>
                  </a:moveTo>
                  <a:cubicBezTo>
                    <a:pt x="2073" y="1"/>
                    <a:pt x="2001" y="84"/>
                    <a:pt x="2001" y="167"/>
                  </a:cubicBezTo>
                  <a:lnTo>
                    <a:pt x="2001" y="2048"/>
                  </a:lnTo>
                  <a:lnTo>
                    <a:pt x="108" y="3251"/>
                  </a:lnTo>
                  <a:cubicBezTo>
                    <a:pt x="37" y="3299"/>
                    <a:pt x="1" y="3406"/>
                    <a:pt x="60" y="3477"/>
                  </a:cubicBezTo>
                  <a:cubicBezTo>
                    <a:pt x="96" y="3525"/>
                    <a:pt x="156" y="3549"/>
                    <a:pt x="191" y="3549"/>
                  </a:cubicBezTo>
                  <a:cubicBezTo>
                    <a:pt x="227" y="3549"/>
                    <a:pt x="251" y="3537"/>
                    <a:pt x="287" y="3525"/>
                  </a:cubicBezTo>
                  <a:lnTo>
                    <a:pt x="2156" y="2334"/>
                  </a:lnTo>
                  <a:lnTo>
                    <a:pt x="4037" y="3525"/>
                  </a:lnTo>
                  <a:cubicBezTo>
                    <a:pt x="4063" y="3538"/>
                    <a:pt x="4093" y="3544"/>
                    <a:pt x="4123" y="3544"/>
                  </a:cubicBezTo>
                  <a:cubicBezTo>
                    <a:pt x="4178" y="3544"/>
                    <a:pt x="4233" y="3523"/>
                    <a:pt x="4263" y="3477"/>
                  </a:cubicBezTo>
                  <a:cubicBezTo>
                    <a:pt x="4299" y="3406"/>
                    <a:pt x="4287" y="3299"/>
                    <a:pt x="4216" y="3251"/>
                  </a:cubicBezTo>
                  <a:lnTo>
                    <a:pt x="2323" y="2048"/>
                  </a:lnTo>
                  <a:lnTo>
                    <a:pt x="2323" y="167"/>
                  </a:lnTo>
                  <a:cubicBezTo>
                    <a:pt x="2323" y="84"/>
                    <a:pt x="2251" y="1"/>
                    <a:pt x="2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42;p25">
              <a:extLst>
                <a:ext uri="{FF2B5EF4-FFF2-40B4-BE49-F238E27FC236}">
                  <a16:creationId xmlns:a16="http://schemas.microsoft.com/office/drawing/2014/main" id="{2A1C1419-BE6A-5EF7-DCED-DAAFB07E2E4D}"/>
                </a:ext>
              </a:extLst>
            </p:cNvPr>
            <p:cNvSpPr/>
            <p:nvPr/>
          </p:nvSpPr>
          <p:spPr>
            <a:xfrm>
              <a:off x="8085310" y="2415041"/>
              <a:ext cx="112956" cy="169036"/>
            </a:xfrm>
            <a:custGeom>
              <a:avLst/>
              <a:gdLst/>
              <a:ahLst/>
              <a:cxnLst/>
              <a:rect l="l" t="t" r="r" b="b"/>
              <a:pathLst>
                <a:path w="3549" h="5311" extrusionOk="0">
                  <a:moveTo>
                    <a:pt x="1775" y="334"/>
                  </a:moveTo>
                  <a:cubicBezTo>
                    <a:pt x="2061" y="334"/>
                    <a:pt x="2335" y="453"/>
                    <a:pt x="2525" y="643"/>
                  </a:cubicBezTo>
                  <a:cubicBezTo>
                    <a:pt x="2716" y="846"/>
                    <a:pt x="2835" y="1119"/>
                    <a:pt x="2870" y="1417"/>
                  </a:cubicBezTo>
                  <a:cubicBezTo>
                    <a:pt x="2882" y="1524"/>
                    <a:pt x="2894" y="1655"/>
                    <a:pt x="2906" y="1822"/>
                  </a:cubicBezTo>
                  <a:cubicBezTo>
                    <a:pt x="2727" y="1500"/>
                    <a:pt x="2430" y="1286"/>
                    <a:pt x="2061" y="1167"/>
                  </a:cubicBezTo>
                  <a:cubicBezTo>
                    <a:pt x="1727" y="1060"/>
                    <a:pt x="1430" y="1060"/>
                    <a:pt x="1418" y="1060"/>
                  </a:cubicBezTo>
                  <a:cubicBezTo>
                    <a:pt x="1382" y="1060"/>
                    <a:pt x="1334" y="1072"/>
                    <a:pt x="1299" y="1108"/>
                  </a:cubicBezTo>
                  <a:lnTo>
                    <a:pt x="1001" y="1417"/>
                  </a:lnTo>
                  <a:cubicBezTo>
                    <a:pt x="942" y="1477"/>
                    <a:pt x="942" y="1596"/>
                    <a:pt x="1001" y="1655"/>
                  </a:cubicBezTo>
                  <a:cubicBezTo>
                    <a:pt x="1031" y="1685"/>
                    <a:pt x="1075" y="1700"/>
                    <a:pt x="1120" y="1700"/>
                  </a:cubicBezTo>
                  <a:cubicBezTo>
                    <a:pt x="1165" y="1700"/>
                    <a:pt x="1209" y="1685"/>
                    <a:pt x="1239" y="1655"/>
                  </a:cubicBezTo>
                  <a:lnTo>
                    <a:pt x="1501" y="1405"/>
                  </a:lnTo>
                  <a:cubicBezTo>
                    <a:pt x="1584" y="1405"/>
                    <a:pt x="1763" y="1417"/>
                    <a:pt x="1954" y="1489"/>
                  </a:cubicBezTo>
                  <a:cubicBezTo>
                    <a:pt x="2299" y="1608"/>
                    <a:pt x="2537" y="1798"/>
                    <a:pt x="2668" y="2084"/>
                  </a:cubicBezTo>
                  <a:cubicBezTo>
                    <a:pt x="2596" y="2512"/>
                    <a:pt x="2227" y="2846"/>
                    <a:pt x="1775" y="2846"/>
                  </a:cubicBezTo>
                  <a:cubicBezTo>
                    <a:pt x="1287" y="2846"/>
                    <a:pt x="870" y="2441"/>
                    <a:pt x="870" y="1941"/>
                  </a:cubicBezTo>
                  <a:cubicBezTo>
                    <a:pt x="870" y="1846"/>
                    <a:pt x="799" y="1774"/>
                    <a:pt x="703" y="1774"/>
                  </a:cubicBezTo>
                  <a:cubicBezTo>
                    <a:pt x="691" y="1774"/>
                    <a:pt x="680" y="1774"/>
                    <a:pt x="644" y="1786"/>
                  </a:cubicBezTo>
                  <a:cubicBezTo>
                    <a:pt x="668" y="1655"/>
                    <a:pt x="680" y="1524"/>
                    <a:pt x="691" y="1417"/>
                  </a:cubicBezTo>
                  <a:cubicBezTo>
                    <a:pt x="703" y="1119"/>
                    <a:pt x="822" y="834"/>
                    <a:pt x="1037" y="643"/>
                  </a:cubicBezTo>
                  <a:cubicBezTo>
                    <a:pt x="1227" y="429"/>
                    <a:pt x="1501" y="334"/>
                    <a:pt x="1775" y="334"/>
                  </a:cubicBezTo>
                  <a:close/>
                  <a:moveTo>
                    <a:pt x="572" y="2239"/>
                  </a:moveTo>
                  <a:cubicBezTo>
                    <a:pt x="644" y="2536"/>
                    <a:pt x="822" y="2786"/>
                    <a:pt x="1084" y="2965"/>
                  </a:cubicBezTo>
                  <a:lnTo>
                    <a:pt x="1084" y="3143"/>
                  </a:lnTo>
                  <a:cubicBezTo>
                    <a:pt x="763" y="3084"/>
                    <a:pt x="549" y="3013"/>
                    <a:pt x="394" y="2929"/>
                  </a:cubicBezTo>
                  <a:cubicBezTo>
                    <a:pt x="382" y="2929"/>
                    <a:pt x="394" y="2917"/>
                    <a:pt x="394" y="2917"/>
                  </a:cubicBezTo>
                  <a:cubicBezTo>
                    <a:pt x="465" y="2727"/>
                    <a:pt x="525" y="2477"/>
                    <a:pt x="572" y="2239"/>
                  </a:cubicBezTo>
                  <a:close/>
                  <a:moveTo>
                    <a:pt x="2989" y="2239"/>
                  </a:moveTo>
                  <a:cubicBezTo>
                    <a:pt x="3025" y="2489"/>
                    <a:pt x="3108" y="2727"/>
                    <a:pt x="3168" y="2917"/>
                  </a:cubicBezTo>
                  <a:lnTo>
                    <a:pt x="3168" y="2929"/>
                  </a:lnTo>
                  <a:cubicBezTo>
                    <a:pt x="3025" y="2989"/>
                    <a:pt x="2811" y="3084"/>
                    <a:pt x="2477" y="3143"/>
                  </a:cubicBezTo>
                  <a:lnTo>
                    <a:pt x="2477" y="2965"/>
                  </a:lnTo>
                  <a:cubicBezTo>
                    <a:pt x="2716" y="2798"/>
                    <a:pt x="2906" y="2536"/>
                    <a:pt x="2989" y="2239"/>
                  </a:cubicBezTo>
                  <a:close/>
                  <a:moveTo>
                    <a:pt x="2168" y="3108"/>
                  </a:moveTo>
                  <a:lnTo>
                    <a:pt x="2168" y="3286"/>
                  </a:lnTo>
                  <a:cubicBezTo>
                    <a:pt x="2168" y="3346"/>
                    <a:pt x="2180" y="3405"/>
                    <a:pt x="2204" y="3453"/>
                  </a:cubicBezTo>
                  <a:lnTo>
                    <a:pt x="2037" y="3608"/>
                  </a:lnTo>
                  <a:cubicBezTo>
                    <a:pt x="1960" y="3673"/>
                    <a:pt x="1864" y="3706"/>
                    <a:pt x="1772" y="3706"/>
                  </a:cubicBezTo>
                  <a:cubicBezTo>
                    <a:pt x="1680" y="3706"/>
                    <a:pt x="1590" y="3673"/>
                    <a:pt x="1525" y="3608"/>
                  </a:cubicBezTo>
                  <a:lnTo>
                    <a:pt x="1382" y="3453"/>
                  </a:lnTo>
                  <a:cubicBezTo>
                    <a:pt x="1406" y="3405"/>
                    <a:pt x="1418" y="3346"/>
                    <a:pt x="1418" y="3286"/>
                  </a:cubicBezTo>
                  <a:lnTo>
                    <a:pt x="1418" y="3108"/>
                  </a:lnTo>
                  <a:cubicBezTo>
                    <a:pt x="1537" y="3143"/>
                    <a:pt x="1656" y="3167"/>
                    <a:pt x="1799" y="3167"/>
                  </a:cubicBezTo>
                  <a:cubicBezTo>
                    <a:pt x="1930" y="3167"/>
                    <a:pt x="2049" y="3155"/>
                    <a:pt x="2168" y="3108"/>
                  </a:cubicBezTo>
                  <a:close/>
                  <a:moveTo>
                    <a:pt x="1775" y="0"/>
                  </a:moveTo>
                  <a:cubicBezTo>
                    <a:pt x="1037" y="0"/>
                    <a:pt x="418" y="607"/>
                    <a:pt x="358" y="1405"/>
                  </a:cubicBezTo>
                  <a:cubicBezTo>
                    <a:pt x="334" y="1727"/>
                    <a:pt x="227" y="2417"/>
                    <a:pt x="84" y="2810"/>
                  </a:cubicBezTo>
                  <a:cubicBezTo>
                    <a:pt x="25" y="2989"/>
                    <a:pt x="96" y="3167"/>
                    <a:pt x="263" y="3251"/>
                  </a:cubicBezTo>
                  <a:cubicBezTo>
                    <a:pt x="382" y="3310"/>
                    <a:pt x="572" y="3382"/>
                    <a:pt x="822" y="3441"/>
                  </a:cubicBezTo>
                  <a:lnTo>
                    <a:pt x="394" y="3644"/>
                  </a:lnTo>
                  <a:cubicBezTo>
                    <a:pt x="156" y="3763"/>
                    <a:pt x="1" y="4001"/>
                    <a:pt x="1" y="4275"/>
                  </a:cubicBezTo>
                  <a:lnTo>
                    <a:pt x="1" y="5156"/>
                  </a:lnTo>
                  <a:cubicBezTo>
                    <a:pt x="1" y="5239"/>
                    <a:pt x="84" y="5310"/>
                    <a:pt x="168" y="5310"/>
                  </a:cubicBezTo>
                  <a:cubicBezTo>
                    <a:pt x="263" y="5310"/>
                    <a:pt x="334" y="5239"/>
                    <a:pt x="334" y="5156"/>
                  </a:cubicBezTo>
                  <a:lnTo>
                    <a:pt x="334" y="4275"/>
                  </a:lnTo>
                  <a:cubicBezTo>
                    <a:pt x="334" y="4144"/>
                    <a:pt x="406" y="4001"/>
                    <a:pt x="537" y="3941"/>
                  </a:cubicBezTo>
                  <a:lnTo>
                    <a:pt x="1096" y="3667"/>
                  </a:lnTo>
                  <a:lnTo>
                    <a:pt x="1287" y="3846"/>
                  </a:lnTo>
                  <a:cubicBezTo>
                    <a:pt x="1418" y="3977"/>
                    <a:pt x="1596" y="4036"/>
                    <a:pt x="1763" y="4036"/>
                  </a:cubicBezTo>
                  <a:cubicBezTo>
                    <a:pt x="1942" y="4036"/>
                    <a:pt x="2108" y="3977"/>
                    <a:pt x="2239" y="3846"/>
                  </a:cubicBezTo>
                  <a:lnTo>
                    <a:pt x="2430" y="3667"/>
                  </a:lnTo>
                  <a:lnTo>
                    <a:pt x="2977" y="3941"/>
                  </a:lnTo>
                  <a:cubicBezTo>
                    <a:pt x="3097" y="4001"/>
                    <a:pt x="3192" y="4144"/>
                    <a:pt x="3192" y="4275"/>
                  </a:cubicBezTo>
                  <a:lnTo>
                    <a:pt x="3192" y="5156"/>
                  </a:lnTo>
                  <a:cubicBezTo>
                    <a:pt x="3192" y="5239"/>
                    <a:pt x="3263" y="5310"/>
                    <a:pt x="3358" y="5310"/>
                  </a:cubicBezTo>
                  <a:cubicBezTo>
                    <a:pt x="3442" y="5310"/>
                    <a:pt x="3513" y="5239"/>
                    <a:pt x="3513" y="5156"/>
                  </a:cubicBezTo>
                  <a:lnTo>
                    <a:pt x="3513" y="4275"/>
                  </a:lnTo>
                  <a:cubicBezTo>
                    <a:pt x="3549" y="4001"/>
                    <a:pt x="3406" y="3763"/>
                    <a:pt x="3168" y="3644"/>
                  </a:cubicBezTo>
                  <a:lnTo>
                    <a:pt x="2727" y="3441"/>
                  </a:lnTo>
                  <a:cubicBezTo>
                    <a:pt x="2989" y="3382"/>
                    <a:pt x="3180" y="3310"/>
                    <a:pt x="3299" y="3251"/>
                  </a:cubicBezTo>
                  <a:cubicBezTo>
                    <a:pt x="3454" y="3167"/>
                    <a:pt x="3537" y="2977"/>
                    <a:pt x="3478" y="2810"/>
                  </a:cubicBezTo>
                  <a:cubicBezTo>
                    <a:pt x="3323" y="2417"/>
                    <a:pt x="3204" y="1727"/>
                    <a:pt x="3192" y="1405"/>
                  </a:cubicBezTo>
                  <a:cubicBezTo>
                    <a:pt x="3132" y="596"/>
                    <a:pt x="2525" y="0"/>
                    <a:pt x="1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43;p25">
              <a:extLst>
                <a:ext uri="{FF2B5EF4-FFF2-40B4-BE49-F238E27FC236}">
                  <a16:creationId xmlns:a16="http://schemas.microsoft.com/office/drawing/2014/main" id="{9732E9FF-657E-6CEC-ABA7-DB6DC4A6657B}"/>
                </a:ext>
              </a:extLst>
            </p:cNvPr>
            <p:cNvSpPr/>
            <p:nvPr/>
          </p:nvSpPr>
          <p:spPr>
            <a:xfrm>
              <a:off x="8108449" y="2557501"/>
              <a:ext cx="10248" cy="26194"/>
            </a:xfrm>
            <a:custGeom>
              <a:avLst/>
              <a:gdLst/>
              <a:ahLst/>
              <a:cxnLst/>
              <a:rect l="l" t="t" r="r" b="b"/>
              <a:pathLst>
                <a:path w="322" h="823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lnTo>
                    <a:pt x="0" y="656"/>
                  </a:lnTo>
                  <a:cubicBezTo>
                    <a:pt x="0" y="751"/>
                    <a:pt x="72" y="823"/>
                    <a:pt x="155" y="823"/>
                  </a:cubicBezTo>
                  <a:cubicBezTo>
                    <a:pt x="250" y="823"/>
                    <a:pt x="322" y="751"/>
                    <a:pt x="322" y="656"/>
                  </a:cubicBezTo>
                  <a:lnTo>
                    <a:pt x="322" y="168"/>
                  </a:lnTo>
                  <a:cubicBezTo>
                    <a:pt x="322" y="84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44;p25">
              <a:extLst>
                <a:ext uri="{FF2B5EF4-FFF2-40B4-BE49-F238E27FC236}">
                  <a16:creationId xmlns:a16="http://schemas.microsoft.com/office/drawing/2014/main" id="{07A30948-481A-7EAF-E85C-3EC4B2555279}"/>
                </a:ext>
              </a:extLst>
            </p:cNvPr>
            <p:cNvSpPr/>
            <p:nvPr/>
          </p:nvSpPr>
          <p:spPr>
            <a:xfrm>
              <a:off x="8165293" y="2557501"/>
              <a:ext cx="10248" cy="26194"/>
            </a:xfrm>
            <a:custGeom>
              <a:avLst/>
              <a:gdLst/>
              <a:ahLst/>
              <a:cxnLst/>
              <a:rect l="l" t="t" r="r" b="b"/>
              <a:pathLst>
                <a:path w="322" h="823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lnTo>
                    <a:pt x="0" y="656"/>
                  </a:lnTo>
                  <a:cubicBezTo>
                    <a:pt x="0" y="751"/>
                    <a:pt x="72" y="823"/>
                    <a:pt x="155" y="823"/>
                  </a:cubicBezTo>
                  <a:cubicBezTo>
                    <a:pt x="250" y="823"/>
                    <a:pt x="322" y="751"/>
                    <a:pt x="322" y="656"/>
                  </a:cubicBezTo>
                  <a:lnTo>
                    <a:pt x="322" y="168"/>
                  </a:lnTo>
                  <a:cubicBezTo>
                    <a:pt x="322" y="84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45;p25">
              <a:extLst>
                <a:ext uri="{FF2B5EF4-FFF2-40B4-BE49-F238E27FC236}">
                  <a16:creationId xmlns:a16="http://schemas.microsoft.com/office/drawing/2014/main" id="{B9D50799-278B-5DCE-48A0-F6FC7F2C91BD}"/>
                </a:ext>
              </a:extLst>
            </p:cNvPr>
            <p:cNvSpPr/>
            <p:nvPr/>
          </p:nvSpPr>
          <p:spPr>
            <a:xfrm>
              <a:off x="8238432" y="2635956"/>
              <a:ext cx="45481" cy="15946"/>
            </a:xfrm>
            <a:custGeom>
              <a:avLst/>
              <a:gdLst/>
              <a:ahLst/>
              <a:cxnLst/>
              <a:rect l="l" t="t" r="r" b="b"/>
              <a:pathLst>
                <a:path w="1429" h="501" extrusionOk="0">
                  <a:moveTo>
                    <a:pt x="167" y="1"/>
                  </a:moveTo>
                  <a:cubicBezTo>
                    <a:pt x="83" y="1"/>
                    <a:pt x="0" y="72"/>
                    <a:pt x="0" y="155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357" y="322"/>
                    <a:pt x="893" y="358"/>
                    <a:pt x="1167" y="489"/>
                  </a:cubicBezTo>
                  <a:cubicBezTo>
                    <a:pt x="1191" y="501"/>
                    <a:pt x="1214" y="501"/>
                    <a:pt x="1238" y="501"/>
                  </a:cubicBezTo>
                  <a:cubicBezTo>
                    <a:pt x="1298" y="501"/>
                    <a:pt x="1357" y="477"/>
                    <a:pt x="1393" y="417"/>
                  </a:cubicBezTo>
                  <a:cubicBezTo>
                    <a:pt x="1429" y="334"/>
                    <a:pt x="1405" y="239"/>
                    <a:pt x="1310" y="191"/>
                  </a:cubicBezTo>
                  <a:cubicBezTo>
                    <a:pt x="929" y="1"/>
                    <a:pt x="202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46;p25">
              <a:extLst>
                <a:ext uri="{FF2B5EF4-FFF2-40B4-BE49-F238E27FC236}">
                  <a16:creationId xmlns:a16="http://schemas.microsoft.com/office/drawing/2014/main" id="{56BA7881-85DA-860E-86F3-91193BEBA7C8}"/>
                </a:ext>
              </a:extLst>
            </p:cNvPr>
            <p:cNvSpPr/>
            <p:nvPr/>
          </p:nvSpPr>
          <p:spPr>
            <a:xfrm>
              <a:off x="8198998" y="2607534"/>
              <a:ext cx="123968" cy="169036"/>
            </a:xfrm>
            <a:custGeom>
              <a:avLst/>
              <a:gdLst/>
              <a:ahLst/>
              <a:cxnLst/>
              <a:rect l="l" t="t" r="r" b="b"/>
              <a:pathLst>
                <a:path w="3895" h="5311" extrusionOk="0">
                  <a:moveTo>
                    <a:pt x="3049" y="322"/>
                  </a:moveTo>
                  <a:lnTo>
                    <a:pt x="3049" y="1025"/>
                  </a:lnTo>
                  <a:cubicBezTo>
                    <a:pt x="3049" y="1144"/>
                    <a:pt x="3013" y="1251"/>
                    <a:pt x="2965" y="1346"/>
                  </a:cubicBezTo>
                  <a:lnTo>
                    <a:pt x="2882" y="1513"/>
                  </a:lnTo>
                  <a:cubicBezTo>
                    <a:pt x="2870" y="1548"/>
                    <a:pt x="2870" y="1560"/>
                    <a:pt x="2870" y="1584"/>
                  </a:cubicBezTo>
                  <a:lnTo>
                    <a:pt x="2870" y="1941"/>
                  </a:lnTo>
                  <a:cubicBezTo>
                    <a:pt x="2870" y="2203"/>
                    <a:pt x="2763" y="2418"/>
                    <a:pt x="2596" y="2596"/>
                  </a:cubicBezTo>
                  <a:cubicBezTo>
                    <a:pt x="2406" y="2763"/>
                    <a:pt x="2168" y="2858"/>
                    <a:pt x="1930" y="2858"/>
                  </a:cubicBezTo>
                  <a:cubicBezTo>
                    <a:pt x="1453" y="2834"/>
                    <a:pt x="1049" y="2406"/>
                    <a:pt x="1049" y="1906"/>
                  </a:cubicBezTo>
                  <a:lnTo>
                    <a:pt x="1049" y="1584"/>
                  </a:lnTo>
                  <a:cubicBezTo>
                    <a:pt x="1049" y="1560"/>
                    <a:pt x="1049" y="1548"/>
                    <a:pt x="1037" y="1513"/>
                  </a:cubicBezTo>
                  <a:lnTo>
                    <a:pt x="929" y="1310"/>
                  </a:lnTo>
                  <a:cubicBezTo>
                    <a:pt x="882" y="1227"/>
                    <a:pt x="870" y="1144"/>
                    <a:pt x="870" y="1072"/>
                  </a:cubicBezTo>
                  <a:lnTo>
                    <a:pt x="870" y="1048"/>
                  </a:lnTo>
                  <a:cubicBezTo>
                    <a:pt x="870" y="655"/>
                    <a:pt x="1203" y="322"/>
                    <a:pt x="1596" y="322"/>
                  </a:cubicBezTo>
                  <a:close/>
                  <a:moveTo>
                    <a:pt x="2334" y="3132"/>
                  </a:moveTo>
                  <a:cubicBezTo>
                    <a:pt x="2334" y="3180"/>
                    <a:pt x="2346" y="3239"/>
                    <a:pt x="2358" y="3287"/>
                  </a:cubicBezTo>
                  <a:lnTo>
                    <a:pt x="2215" y="3418"/>
                  </a:lnTo>
                  <a:cubicBezTo>
                    <a:pt x="2138" y="3495"/>
                    <a:pt x="2043" y="3534"/>
                    <a:pt x="1949" y="3534"/>
                  </a:cubicBezTo>
                  <a:cubicBezTo>
                    <a:pt x="1855" y="3534"/>
                    <a:pt x="1763" y="3495"/>
                    <a:pt x="1691" y="3418"/>
                  </a:cubicBezTo>
                  <a:lnTo>
                    <a:pt x="1561" y="3287"/>
                  </a:lnTo>
                  <a:cubicBezTo>
                    <a:pt x="1572" y="3239"/>
                    <a:pt x="1584" y="3180"/>
                    <a:pt x="1584" y="3132"/>
                  </a:cubicBezTo>
                  <a:cubicBezTo>
                    <a:pt x="1691" y="3168"/>
                    <a:pt x="1811" y="3191"/>
                    <a:pt x="1918" y="3191"/>
                  </a:cubicBezTo>
                  <a:lnTo>
                    <a:pt x="1953" y="3191"/>
                  </a:lnTo>
                  <a:cubicBezTo>
                    <a:pt x="2096" y="3191"/>
                    <a:pt x="2215" y="3180"/>
                    <a:pt x="2334" y="3132"/>
                  </a:cubicBezTo>
                  <a:close/>
                  <a:moveTo>
                    <a:pt x="1584" y="1"/>
                  </a:moveTo>
                  <a:cubicBezTo>
                    <a:pt x="1001" y="1"/>
                    <a:pt x="525" y="477"/>
                    <a:pt x="525" y="1048"/>
                  </a:cubicBezTo>
                  <a:lnTo>
                    <a:pt x="525" y="1072"/>
                  </a:lnTo>
                  <a:cubicBezTo>
                    <a:pt x="525" y="1203"/>
                    <a:pt x="560" y="1334"/>
                    <a:pt x="620" y="1453"/>
                  </a:cubicBezTo>
                  <a:lnTo>
                    <a:pt x="703" y="1620"/>
                  </a:lnTo>
                  <a:lnTo>
                    <a:pt x="703" y="1882"/>
                  </a:lnTo>
                  <a:cubicBezTo>
                    <a:pt x="703" y="2322"/>
                    <a:pt x="918" y="2703"/>
                    <a:pt x="1239" y="2941"/>
                  </a:cubicBezTo>
                  <a:lnTo>
                    <a:pt x="1239" y="3096"/>
                  </a:lnTo>
                  <a:cubicBezTo>
                    <a:pt x="1239" y="3180"/>
                    <a:pt x="1180" y="3251"/>
                    <a:pt x="1108" y="3275"/>
                  </a:cubicBezTo>
                  <a:lnTo>
                    <a:pt x="513" y="3453"/>
                  </a:lnTo>
                  <a:cubicBezTo>
                    <a:pt x="215" y="3537"/>
                    <a:pt x="1" y="3811"/>
                    <a:pt x="1" y="4120"/>
                  </a:cubicBezTo>
                  <a:lnTo>
                    <a:pt x="1" y="5144"/>
                  </a:lnTo>
                  <a:cubicBezTo>
                    <a:pt x="1" y="5239"/>
                    <a:pt x="84" y="5311"/>
                    <a:pt x="167" y="5311"/>
                  </a:cubicBezTo>
                  <a:cubicBezTo>
                    <a:pt x="263" y="5311"/>
                    <a:pt x="334" y="5239"/>
                    <a:pt x="334" y="5144"/>
                  </a:cubicBezTo>
                  <a:lnTo>
                    <a:pt x="334" y="4120"/>
                  </a:lnTo>
                  <a:cubicBezTo>
                    <a:pt x="334" y="3953"/>
                    <a:pt x="441" y="3811"/>
                    <a:pt x="596" y="3763"/>
                  </a:cubicBezTo>
                  <a:lnTo>
                    <a:pt x="1191" y="3584"/>
                  </a:lnTo>
                  <a:cubicBezTo>
                    <a:pt x="1251" y="3572"/>
                    <a:pt x="1299" y="3537"/>
                    <a:pt x="1346" y="3525"/>
                  </a:cubicBezTo>
                  <a:lnTo>
                    <a:pt x="1453" y="3632"/>
                  </a:lnTo>
                  <a:cubicBezTo>
                    <a:pt x="1584" y="3763"/>
                    <a:pt x="1763" y="3834"/>
                    <a:pt x="1942" y="3834"/>
                  </a:cubicBezTo>
                  <a:cubicBezTo>
                    <a:pt x="2120" y="3834"/>
                    <a:pt x="2299" y="3763"/>
                    <a:pt x="2430" y="3632"/>
                  </a:cubicBezTo>
                  <a:lnTo>
                    <a:pt x="2537" y="3525"/>
                  </a:lnTo>
                  <a:cubicBezTo>
                    <a:pt x="2584" y="3549"/>
                    <a:pt x="2620" y="3572"/>
                    <a:pt x="2680" y="3584"/>
                  </a:cubicBezTo>
                  <a:lnTo>
                    <a:pt x="3275" y="3763"/>
                  </a:lnTo>
                  <a:cubicBezTo>
                    <a:pt x="3442" y="3811"/>
                    <a:pt x="3549" y="3953"/>
                    <a:pt x="3549" y="4120"/>
                  </a:cubicBezTo>
                  <a:lnTo>
                    <a:pt x="3549" y="5144"/>
                  </a:lnTo>
                  <a:cubicBezTo>
                    <a:pt x="3549" y="5239"/>
                    <a:pt x="3620" y="5311"/>
                    <a:pt x="3716" y="5311"/>
                  </a:cubicBezTo>
                  <a:cubicBezTo>
                    <a:pt x="3799" y="5311"/>
                    <a:pt x="3870" y="5239"/>
                    <a:pt x="3870" y="5144"/>
                  </a:cubicBezTo>
                  <a:lnTo>
                    <a:pt x="3870" y="4120"/>
                  </a:lnTo>
                  <a:cubicBezTo>
                    <a:pt x="3894" y="3822"/>
                    <a:pt x="3680" y="3549"/>
                    <a:pt x="3382" y="3465"/>
                  </a:cubicBezTo>
                  <a:lnTo>
                    <a:pt x="2787" y="3287"/>
                  </a:lnTo>
                  <a:cubicBezTo>
                    <a:pt x="2715" y="3251"/>
                    <a:pt x="2656" y="3180"/>
                    <a:pt x="2656" y="3108"/>
                  </a:cubicBezTo>
                  <a:lnTo>
                    <a:pt x="2656" y="2977"/>
                  </a:lnTo>
                  <a:cubicBezTo>
                    <a:pt x="2715" y="2930"/>
                    <a:pt x="2763" y="2882"/>
                    <a:pt x="2823" y="2834"/>
                  </a:cubicBezTo>
                  <a:cubicBezTo>
                    <a:pt x="3061" y="2596"/>
                    <a:pt x="3192" y="2287"/>
                    <a:pt x="3192" y="1941"/>
                  </a:cubicBezTo>
                  <a:lnTo>
                    <a:pt x="3192" y="1632"/>
                  </a:lnTo>
                  <a:lnTo>
                    <a:pt x="3251" y="1501"/>
                  </a:lnTo>
                  <a:cubicBezTo>
                    <a:pt x="3323" y="1346"/>
                    <a:pt x="3370" y="1191"/>
                    <a:pt x="3370" y="1025"/>
                  </a:cubicBezTo>
                  <a:lnTo>
                    <a:pt x="3370" y="155"/>
                  </a:lnTo>
                  <a:cubicBezTo>
                    <a:pt x="3370" y="72"/>
                    <a:pt x="3299" y="1"/>
                    <a:pt x="3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47;p25">
              <a:extLst>
                <a:ext uri="{FF2B5EF4-FFF2-40B4-BE49-F238E27FC236}">
                  <a16:creationId xmlns:a16="http://schemas.microsoft.com/office/drawing/2014/main" id="{023D0FB5-3494-BD89-C786-FE397FCF5A1D}"/>
                </a:ext>
              </a:extLst>
            </p:cNvPr>
            <p:cNvSpPr/>
            <p:nvPr/>
          </p:nvSpPr>
          <p:spPr>
            <a:xfrm>
              <a:off x="8222137" y="2743946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870"/>
                  </a:lnTo>
                  <a:cubicBezTo>
                    <a:pt x="0" y="965"/>
                    <a:pt x="72" y="1037"/>
                    <a:pt x="155" y="1037"/>
                  </a:cubicBezTo>
                  <a:cubicBezTo>
                    <a:pt x="250" y="1037"/>
                    <a:pt x="322" y="965"/>
                    <a:pt x="322" y="870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48;p25">
              <a:extLst>
                <a:ext uri="{FF2B5EF4-FFF2-40B4-BE49-F238E27FC236}">
                  <a16:creationId xmlns:a16="http://schemas.microsoft.com/office/drawing/2014/main" id="{F2067A6A-7C8E-6DAA-FCDB-1D187ACDD44D}"/>
                </a:ext>
              </a:extLst>
            </p:cNvPr>
            <p:cNvSpPr/>
            <p:nvPr/>
          </p:nvSpPr>
          <p:spPr>
            <a:xfrm>
              <a:off x="8289579" y="2743946"/>
              <a:ext cx="10630" cy="33005"/>
            </a:xfrm>
            <a:custGeom>
              <a:avLst/>
              <a:gdLst/>
              <a:ahLst/>
              <a:cxnLst/>
              <a:rect l="l" t="t" r="r" b="b"/>
              <a:pathLst>
                <a:path w="334" h="1037" extrusionOk="0">
                  <a:moveTo>
                    <a:pt x="167" y="1"/>
                  </a:moveTo>
                  <a:cubicBezTo>
                    <a:pt x="84" y="1"/>
                    <a:pt x="0" y="72"/>
                    <a:pt x="0" y="156"/>
                  </a:cubicBezTo>
                  <a:lnTo>
                    <a:pt x="0" y="870"/>
                  </a:lnTo>
                  <a:cubicBezTo>
                    <a:pt x="0" y="965"/>
                    <a:pt x="84" y="1037"/>
                    <a:pt x="167" y="1037"/>
                  </a:cubicBezTo>
                  <a:cubicBezTo>
                    <a:pt x="250" y="1037"/>
                    <a:pt x="334" y="965"/>
                    <a:pt x="334" y="870"/>
                  </a:cubicBezTo>
                  <a:lnTo>
                    <a:pt x="334" y="156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973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Campus Buildings &amp; Users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2847274" y="2762112"/>
            <a:ext cx="3448800" cy="3448952"/>
          </a:xfrm>
          <a:prstGeom prst="pie">
            <a:avLst>
              <a:gd name="adj1" fmla="val 10800110"/>
              <a:gd name="adj2" fmla="val 710"/>
            </a:avLst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2847126" y="2761964"/>
            <a:ext cx="3449100" cy="3449100"/>
          </a:xfrm>
          <a:prstGeom prst="pie">
            <a:avLst>
              <a:gd name="adj1" fmla="val 18579745"/>
              <a:gd name="adj2" fmla="val 710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7" name="Google Shape;387;p27"/>
          <p:cNvGrpSpPr/>
          <p:nvPr/>
        </p:nvGrpSpPr>
        <p:grpSpPr>
          <a:xfrm>
            <a:off x="3204982" y="1526383"/>
            <a:ext cx="5467605" cy="706407"/>
            <a:chOff x="3244126" y="1263564"/>
            <a:chExt cx="5467605" cy="585618"/>
          </a:xfrm>
        </p:grpSpPr>
        <p:sp>
          <p:nvSpPr>
            <p:cNvPr id="388" name="Google Shape;388;p27"/>
            <p:cNvSpPr txBox="1"/>
            <p:nvPr/>
          </p:nvSpPr>
          <p:spPr>
            <a:xfrm>
              <a:off x="6167391" y="1263564"/>
              <a:ext cx="2544340" cy="47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Computer Science Building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389" name="Google Shape;389;p27"/>
            <p:cNvSpPr txBox="1"/>
            <p:nvPr/>
          </p:nvSpPr>
          <p:spPr>
            <a:xfrm>
              <a:off x="3244126" y="1362556"/>
              <a:ext cx="2244425" cy="4866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200"/>
                </a:spcAft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  3 Labs × 25 PCs = 75 PCs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390" name="Google Shape;390;p27"/>
          <p:cNvGrpSpPr/>
          <p:nvPr/>
        </p:nvGrpSpPr>
        <p:grpSpPr>
          <a:xfrm>
            <a:off x="717154" y="1887558"/>
            <a:ext cx="2061000" cy="961419"/>
            <a:chOff x="709975" y="1985613"/>
            <a:chExt cx="2061000" cy="961419"/>
          </a:xfrm>
        </p:grpSpPr>
        <p:sp>
          <p:nvSpPr>
            <p:cNvPr id="391" name="Google Shape;391;p27"/>
            <p:cNvSpPr txBox="1"/>
            <p:nvPr/>
          </p:nvSpPr>
          <p:spPr>
            <a:xfrm>
              <a:off x="709975" y="1985613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Engineering Building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392" name="Google Shape;392;p27"/>
            <p:cNvSpPr txBox="1"/>
            <p:nvPr/>
          </p:nvSpPr>
          <p:spPr>
            <a:xfrm>
              <a:off x="709975" y="2571750"/>
              <a:ext cx="2061000" cy="375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 3 Labs × 25 PCs = 75 PCs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394" name="Google Shape;394;p27"/>
          <p:cNvGrpSpPr/>
          <p:nvPr/>
        </p:nvGrpSpPr>
        <p:grpSpPr>
          <a:xfrm>
            <a:off x="3413751" y="1406284"/>
            <a:ext cx="5012445" cy="2683477"/>
            <a:chOff x="3421580" y="1577586"/>
            <a:chExt cx="5012445" cy="2797193"/>
          </a:xfrm>
        </p:grpSpPr>
        <p:sp>
          <p:nvSpPr>
            <p:cNvPr id="395" name="Google Shape;395;p27"/>
            <p:cNvSpPr txBox="1"/>
            <p:nvPr/>
          </p:nvSpPr>
          <p:spPr>
            <a:xfrm>
              <a:off x="3421580" y="1577586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Library Building</a:t>
              </a:r>
              <a:endParaRPr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396" name="Google Shape;396;p27"/>
            <p:cNvSpPr txBox="1"/>
            <p:nvPr/>
          </p:nvSpPr>
          <p:spPr>
            <a:xfrm>
              <a:off x="6373025" y="2618256"/>
              <a:ext cx="2061000" cy="6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 3 Labs × 25 PCs = 75 PCs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6922469" y="3334379"/>
              <a:ext cx="1040400" cy="10404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25%</a:t>
              </a:r>
              <a:endParaRPr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85158E6-3BDF-8441-07C3-CA4F0816D01E}"/>
              </a:ext>
            </a:extLst>
          </p:cNvPr>
          <p:cNvSpPr txBox="1"/>
          <p:nvPr/>
        </p:nvSpPr>
        <p:spPr>
          <a:xfrm>
            <a:off x="2621579" y="4483523"/>
            <a:ext cx="390479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Total PCs FOR 3 studding buildings = 225</a:t>
            </a:r>
          </a:p>
        </p:txBody>
      </p:sp>
      <p:sp>
        <p:nvSpPr>
          <p:cNvPr id="8" name="Google Shape;397;p27">
            <a:extLst>
              <a:ext uri="{FF2B5EF4-FFF2-40B4-BE49-F238E27FC236}">
                <a16:creationId xmlns:a16="http://schemas.microsoft.com/office/drawing/2014/main" id="{17C7E4B8-822E-8DBE-F861-D2AF6226E039}"/>
              </a:ext>
            </a:extLst>
          </p:cNvPr>
          <p:cNvSpPr/>
          <p:nvPr/>
        </p:nvSpPr>
        <p:spPr>
          <a:xfrm>
            <a:off x="1073858" y="3095810"/>
            <a:ext cx="1040400" cy="10404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rPr>
              <a:t>25%</a:t>
            </a:r>
            <a:endParaRPr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" name="Google Shape;393;p27">
            <a:extLst>
              <a:ext uri="{FF2B5EF4-FFF2-40B4-BE49-F238E27FC236}">
                <a16:creationId xmlns:a16="http://schemas.microsoft.com/office/drawing/2014/main" id="{6BFE721C-335B-D768-B1E2-A9759FF687D8}"/>
              </a:ext>
            </a:extLst>
          </p:cNvPr>
          <p:cNvSpPr/>
          <p:nvPr/>
        </p:nvSpPr>
        <p:spPr>
          <a:xfrm>
            <a:off x="3919900" y="1988616"/>
            <a:ext cx="1040400" cy="750736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Encode Sans"/>
                <a:ea typeface="Encode Sans"/>
                <a:cs typeface="Encode Sans"/>
                <a:sym typeface="Encode Sans"/>
              </a:rPr>
              <a:t>25%</a:t>
            </a:r>
            <a:endParaRPr b="1" dirty="0">
              <a:solidFill>
                <a:schemeClr val="accent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" name="Google Shape;386;p27">
            <a:extLst>
              <a:ext uri="{FF2B5EF4-FFF2-40B4-BE49-F238E27FC236}">
                <a16:creationId xmlns:a16="http://schemas.microsoft.com/office/drawing/2014/main" id="{3FB63718-1CE2-BA8D-9B23-B02B139F0466}"/>
              </a:ext>
            </a:extLst>
          </p:cNvPr>
          <p:cNvSpPr/>
          <p:nvPr/>
        </p:nvSpPr>
        <p:spPr>
          <a:xfrm rot="13860450">
            <a:off x="2815196" y="2781790"/>
            <a:ext cx="3449100" cy="3449100"/>
          </a:xfrm>
          <a:prstGeom prst="pie">
            <a:avLst>
              <a:gd name="adj1" fmla="val 18579745"/>
              <a:gd name="adj2" fmla="val 710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Network Topology design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2855268" y="4077206"/>
            <a:ext cx="1150848" cy="55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</a:rPr>
              <a:t>Library</a:t>
            </a:r>
            <a:endParaRPr lang="en-US" b="1"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4365113" y="4077207"/>
            <a:ext cx="2383694" cy="55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Administration</a:t>
            </a:r>
            <a:endParaRPr lang="en" sz="1800" b="1" dirty="0">
              <a:solidFill>
                <a:schemeClr val="dk1"/>
              </a:solidFill>
              <a:latin typeface="Doppio One"/>
              <a:ea typeface="Doppio One"/>
              <a:cs typeface="Doppio One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6410794" y="4050500"/>
            <a:ext cx="213402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Computer Science </a:t>
            </a:r>
            <a:endParaRPr sz="1800" b="1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846067" y="4051992"/>
            <a:ext cx="1583362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Engineering</a:t>
            </a:r>
            <a:endParaRPr sz="1800" dirty="0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ABC9D-27EC-AFFA-590B-97CB67CF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37" y="1167140"/>
            <a:ext cx="8009681" cy="2784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F7E6D6-9460-F408-A2A5-B5D68D6045E9}"/>
              </a:ext>
            </a:extLst>
          </p:cNvPr>
          <p:cNvSpPr/>
          <p:nvPr/>
        </p:nvSpPr>
        <p:spPr>
          <a:xfrm>
            <a:off x="596423" y="4227584"/>
            <a:ext cx="252016" cy="1680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DCAED3-CD39-0513-84D3-7D674BC91C6C}"/>
              </a:ext>
            </a:extLst>
          </p:cNvPr>
          <p:cNvSpPr/>
          <p:nvPr/>
        </p:nvSpPr>
        <p:spPr>
          <a:xfrm>
            <a:off x="2605077" y="4227583"/>
            <a:ext cx="252016" cy="168010"/>
          </a:xfrm>
          <a:prstGeom prst="rect">
            <a:avLst/>
          </a:prstGeom>
          <a:solidFill>
            <a:srgbClr val="F8A0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3A098-9A14-6A27-8D9D-DD3DB6B1FD74}"/>
              </a:ext>
            </a:extLst>
          </p:cNvPr>
          <p:cNvSpPr/>
          <p:nvPr/>
        </p:nvSpPr>
        <p:spPr>
          <a:xfrm>
            <a:off x="4109468" y="4227583"/>
            <a:ext cx="252016" cy="16801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D1D02D-CF81-218A-FB3C-8C279B5A20D0}"/>
              </a:ext>
            </a:extLst>
          </p:cNvPr>
          <p:cNvSpPr/>
          <p:nvPr/>
        </p:nvSpPr>
        <p:spPr>
          <a:xfrm>
            <a:off x="6160144" y="4227583"/>
            <a:ext cx="252016" cy="1680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7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Users / Devices per Building</a:t>
            </a:r>
            <a:endParaRPr dirty="0">
              <a:solidFill>
                <a:schemeClr val="accent2"/>
              </a:solidFill>
            </a:endParaRPr>
          </a:p>
        </p:txBody>
      </p:sp>
      <p:graphicFrame>
        <p:nvGraphicFramePr>
          <p:cNvPr id="669" name="Google Shape;669;p37"/>
          <p:cNvGraphicFramePr/>
          <p:nvPr>
            <p:extLst>
              <p:ext uri="{D42A27DB-BD31-4B8C-83A1-F6EECF244321}">
                <p14:modId xmlns:p14="http://schemas.microsoft.com/office/powerpoint/2010/main" val="2924839111"/>
              </p:ext>
            </p:extLst>
          </p:nvPr>
        </p:nvGraphicFramePr>
        <p:xfrm>
          <a:off x="3532646" y="1435964"/>
          <a:ext cx="4891353" cy="2904425"/>
        </p:xfrm>
        <a:graphic>
          <a:graphicData uri="http://schemas.openxmlformats.org/drawingml/2006/table">
            <a:tbl>
              <a:tblPr>
                <a:noFill/>
                <a:tableStyleId>{31988482-2AD6-472E-B716-1CEAD55E5BF9}</a:tableStyleId>
              </a:tblPr>
              <a:tblGrid>
                <a:gridCol w="238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661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Category</a:t>
                      </a:r>
                      <a:endParaRPr sz="16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PCS</a:t>
                      </a:r>
                      <a:endParaRPr sz="16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Doppio One"/>
                          <a:ea typeface="Doppio One"/>
                          <a:cs typeface="Doppio One"/>
                        </a:rPr>
                        <a:t>Wireless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 APs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Administration Building</a:t>
                      </a:r>
                      <a:endParaRPr sz="1200" b="1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75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Engineering Building</a:t>
                      </a:r>
                      <a:endParaRPr sz="1200" b="1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75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Computer Science Building</a:t>
                      </a:r>
                      <a:endParaRPr sz="1200" b="1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75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8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Library</a:t>
                      </a:r>
                      <a:endParaRPr sz="1200" b="1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75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71" name="Google Shape;671;p37"/>
          <p:cNvGrpSpPr/>
          <p:nvPr/>
        </p:nvGrpSpPr>
        <p:grpSpPr>
          <a:xfrm>
            <a:off x="719400" y="2084789"/>
            <a:ext cx="2164508" cy="1040150"/>
            <a:chOff x="719400" y="2084789"/>
            <a:chExt cx="2164508" cy="1040150"/>
          </a:xfrm>
        </p:grpSpPr>
        <p:sp>
          <p:nvSpPr>
            <p:cNvPr id="672" name="Google Shape;672;p37"/>
            <p:cNvSpPr txBox="1"/>
            <p:nvPr/>
          </p:nvSpPr>
          <p:spPr>
            <a:xfrm>
              <a:off x="719408" y="2084789"/>
              <a:ext cx="2164500" cy="34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PCS NUMBER</a:t>
              </a:r>
              <a:endParaRPr sz="16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673" name="Google Shape;673;p37"/>
            <p:cNvSpPr txBox="1"/>
            <p:nvPr/>
          </p:nvSpPr>
          <p:spPr>
            <a:xfrm>
              <a:off x="719400" y="2437939"/>
              <a:ext cx="21645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 dirty="0">
                  <a:solidFill>
                    <a:schemeClr val="accent2"/>
                  </a:solidFill>
                  <a:latin typeface="Doppio One"/>
                  <a:ea typeface="Doppio One"/>
                  <a:cs typeface="Doppio One"/>
                  <a:sym typeface="Doppio One"/>
                </a:rPr>
                <a:t>300</a:t>
              </a:r>
              <a:endParaRPr sz="3600" b="1" dirty="0">
                <a:solidFill>
                  <a:schemeClr val="accent2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</p:grpSp>
      <p:sp>
        <p:nvSpPr>
          <p:cNvPr id="677" name="Google Shape;677;p37"/>
          <p:cNvSpPr/>
          <p:nvPr/>
        </p:nvSpPr>
        <p:spPr>
          <a:xfrm>
            <a:off x="2539432" y="2450238"/>
            <a:ext cx="674700" cy="6747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685" name="Google Shape;685;p37"/>
          <p:cNvGrpSpPr/>
          <p:nvPr/>
        </p:nvGrpSpPr>
        <p:grpSpPr>
          <a:xfrm>
            <a:off x="2707936" y="2630500"/>
            <a:ext cx="337684" cy="314194"/>
            <a:chOff x="6099375" y="2456075"/>
            <a:chExt cx="337684" cy="314194"/>
          </a:xfrm>
        </p:grpSpPr>
        <p:sp>
          <p:nvSpPr>
            <p:cNvPr id="686" name="Google Shape;686;p37"/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7"/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Building LAN Subnets</a:t>
            </a:r>
            <a:endParaRPr dirty="0">
              <a:solidFill>
                <a:schemeClr val="accent2"/>
              </a:solidFill>
            </a:endParaRPr>
          </a:p>
        </p:txBody>
      </p:sp>
      <p:graphicFrame>
        <p:nvGraphicFramePr>
          <p:cNvPr id="452" name="Google Shape;452;p31"/>
          <p:cNvGraphicFramePr/>
          <p:nvPr>
            <p:extLst>
              <p:ext uri="{D42A27DB-BD31-4B8C-83A1-F6EECF244321}">
                <p14:modId xmlns:p14="http://schemas.microsoft.com/office/powerpoint/2010/main" val="3400944697"/>
              </p:ext>
            </p:extLst>
          </p:nvPr>
        </p:nvGraphicFramePr>
        <p:xfrm>
          <a:off x="719999" y="1170125"/>
          <a:ext cx="7509601" cy="3401569"/>
        </p:xfrm>
        <a:graphic>
          <a:graphicData uri="http://schemas.openxmlformats.org/drawingml/2006/table">
            <a:tbl>
              <a:tblPr>
                <a:noFill/>
                <a:tableStyleId>{31988482-2AD6-472E-B716-1CEAD55E5BF9}</a:tableStyleId>
              </a:tblPr>
              <a:tblGrid>
                <a:gridCol w="928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0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83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VLAN                           subnet</a:t>
                      </a:r>
                      <a:endParaRPr sz="18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Assets</a:t>
                      </a:r>
                      <a:endParaRPr sz="18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Usable Range</a:t>
                      </a:r>
                      <a:endParaRPr sz="1800" b="1" dirty="0">
                        <a:solidFill>
                          <a:schemeClr val="dk1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4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10</a:t>
                      </a:r>
                      <a:endParaRPr sz="1800" b="1" dirty="0">
                        <a:solidFill>
                          <a:schemeClr val="accent2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10.10.10.0/24</a:t>
                      </a:r>
                      <a:endParaRPr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255.255.255.0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10.10.10.1 – 10.10.10.254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20</a:t>
                      </a:r>
                      <a:endParaRPr sz="1800" b="1" dirty="0">
                        <a:solidFill>
                          <a:schemeClr val="accent2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10.10.20.0/24</a:t>
                      </a:r>
                      <a:endParaRPr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255.255.255.0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10.10.20.1 – 10.10.20.254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30</a:t>
                      </a:r>
                      <a:endParaRPr sz="1800" b="1" dirty="0">
                        <a:solidFill>
                          <a:schemeClr val="accent2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10.10.30.0/24</a:t>
                      </a:r>
                      <a:endParaRPr sz="18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255.255.255.0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10.10.30.1 – 10.10.30.254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40</a:t>
                      </a:r>
                      <a:endParaRPr sz="1800" b="1" dirty="0">
                        <a:solidFill>
                          <a:schemeClr val="accent2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Doppio One"/>
                          <a:cs typeface="Doppio One"/>
                          <a:sym typeface="Doppio One"/>
                        </a:rPr>
                        <a:t>10.10.40.0/24</a:t>
                      </a:r>
                      <a:endParaRPr sz="2000" b="1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255.255.255.0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10.10.40.1 – 10.10.40.254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50</a:t>
                      </a:r>
                      <a:endParaRPr sz="1800" b="1" dirty="0">
                        <a:solidFill>
                          <a:schemeClr val="accent2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Doppio One"/>
                          <a:cs typeface="Doppio One"/>
                          <a:sym typeface="Doppio One"/>
                        </a:rPr>
                        <a:t>10.10.50.0/24</a:t>
                      </a:r>
                      <a:endParaRPr sz="2000" b="1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255.255.255.0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10.10.50.1 – 10.10.50.254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Doppio One"/>
                          <a:ea typeface="Doppio One"/>
                          <a:cs typeface="Doppio One"/>
                          <a:sym typeface="Doppio One"/>
                        </a:rPr>
                        <a:t>60</a:t>
                      </a:r>
                      <a:endParaRPr sz="1800" b="1" dirty="0">
                        <a:solidFill>
                          <a:schemeClr val="accent2"/>
                        </a:solidFill>
                        <a:latin typeface="Doppio One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Doppio One"/>
                          <a:cs typeface="Doppio One"/>
                          <a:sym typeface="Doppio One"/>
                        </a:rPr>
                        <a:t>10.10.60.0/24</a:t>
                      </a:r>
                      <a:endParaRPr sz="2000" b="1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Doppio One"/>
                        <a:cs typeface="Doppio One"/>
                        <a:sym typeface="Doppio One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255.255.255.0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10.10.60.1 – 10.10.60.254</a:t>
                      </a:r>
                      <a:endParaRPr sz="1200" dirty="0">
                        <a:solidFill>
                          <a:schemeClr val="dk1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L="91425" marR="91425" marT="91425" marB="91425" anchor="ctr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5DD03E2-EE45-3FB0-618B-A1B573FB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53EF763B-F4F4-4757-FF75-2FC53316D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accent2"/>
                </a:solidFill>
              </a:rPr>
              <a:t>Main Topology</a:t>
            </a:r>
            <a:endParaRPr sz="4000" dirty="0">
              <a:solidFill>
                <a:schemeClr val="accent2"/>
              </a:solidFill>
            </a:endParaRPr>
          </a:p>
        </p:txBody>
      </p:sp>
      <p:sp>
        <p:nvSpPr>
          <p:cNvPr id="249" name="Google Shape;249;p23">
            <a:extLst>
              <a:ext uri="{FF2B5EF4-FFF2-40B4-BE49-F238E27FC236}">
                <a16:creationId xmlns:a16="http://schemas.microsoft.com/office/drawing/2014/main" id="{BF2451D0-A727-F1D5-602F-530F09CC43E0}"/>
              </a:ext>
            </a:extLst>
          </p:cNvPr>
          <p:cNvSpPr txBox="1"/>
          <p:nvPr/>
        </p:nvSpPr>
        <p:spPr>
          <a:xfrm>
            <a:off x="644362" y="1606450"/>
            <a:ext cx="1813800" cy="101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Star topology is used within each building.</a:t>
            </a:r>
            <a:endParaRPr sz="28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9BC210E3-0B48-E165-F5B4-B8A51678814D}"/>
              </a:ext>
            </a:extLst>
          </p:cNvPr>
          <p:cNvSpPr txBox="1"/>
          <p:nvPr/>
        </p:nvSpPr>
        <p:spPr>
          <a:xfrm>
            <a:off x="6350000" y="1416775"/>
            <a:ext cx="2074000" cy="134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Centralized control improves performance and management.</a:t>
            </a:r>
            <a:endParaRPr sz="16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5" name="Google Shape;255;p23">
            <a:extLst>
              <a:ext uri="{FF2B5EF4-FFF2-40B4-BE49-F238E27FC236}">
                <a16:creationId xmlns:a16="http://schemas.microsoft.com/office/drawing/2014/main" id="{9703668A-F956-C6E4-48FB-3A76C1EA2AAF}"/>
              </a:ext>
            </a:extLst>
          </p:cNvPr>
          <p:cNvSpPr txBox="1"/>
          <p:nvPr/>
        </p:nvSpPr>
        <p:spPr>
          <a:xfrm>
            <a:off x="644362" y="3231449"/>
            <a:ext cx="1813800" cy="160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All buildings connect to a central core network.</a:t>
            </a:r>
            <a:endParaRPr sz="18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8" name="Google Shape;258;p23">
            <a:extLst>
              <a:ext uri="{FF2B5EF4-FFF2-40B4-BE49-F238E27FC236}">
                <a16:creationId xmlns:a16="http://schemas.microsoft.com/office/drawing/2014/main" id="{25EA7020-EBAB-5ECB-CEE6-240F91993173}"/>
              </a:ext>
            </a:extLst>
          </p:cNvPr>
          <p:cNvSpPr txBox="1"/>
          <p:nvPr/>
        </p:nvSpPr>
        <p:spPr>
          <a:xfrm>
            <a:off x="6610200" y="3344475"/>
            <a:ext cx="1813800" cy="134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Fiber optic cables connect buildings.</a:t>
            </a:r>
            <a:endParaRPr sz="18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537EBDA5-5201-CB83-8EE7-237268F5E710}"/>
              </a:ext>
            </a:extLst>
          </p:cNvPr>
          <p:cNvSpPr/>
          <p:nvPr/>
        </p:nvSpPr>
        <p:spPr>
          <a:xfrm>
            <a:off x="3665100" y="2038275"/>
            <a:ext cx="1813800" cy="18138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Network Topology</a:t>
            </a:r>
            <a:endParaRPr sz="1800" dirty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FF2087A2-59CE-1ACF-5D2E-8461B0350E95}"/>
              </a:ext>
            </a:extLst>
          </p:cNvPr>
          <p:cNvSpPr/>
          <p:nvPr/>
        </p:nvSpPr>
        <p:spPr>
          <a:xfrm>
            <a:off x="3094775" y="163605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B66B7D4F-A4EB-1CD6-1DB4-CCBB01144A0D}"/>
              </a:ext>
            </a:extLst>
          </p:cNvPr>
          <p:cNvSpPr/>
          <p:nvPr/>
        </p:nvSpPr>
        <p:spPr>
          <a:xfrm>
            <a:off x="3094775" y="411150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3">
            <a:extLst>
              <a:ext uri="{FF2B5EF4-FFF2-40B4-BE49-F238E27FC236}">
                <a16:creationId xmlns:a16="http://schemas.microsoft.com/office/drawing/2014/main" id="{66DFB811-CADC-1F7B-3F44-7F0A93F552DB}"/>
              </a:ext>
            </a:extLst>
          </p:cNvPr>
          <p:cNvSpPr/>
          <p:nvPr/>
        </p:nvSpPr>
        <p:spPr>
          <a:xfrm>
            <a:off x="5906425" y="163605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9443884E-CF93-36F3-A1B6-85B45A5BE2FE}"/>
              </a:ext>
            </a:extLst>
          </p:cNvPr>
          <p:cNvSpPr/>
          <p:nvPr/>
        </p:nvSpPr>
        <p:spPr>
          <a:xfrm>
            <a:off x="5906425" y="411150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3">
            <a:extLst>
              <a:ext uri="{FF2B5EF4-FFF2-40B4-BE49-F238E27FC236}">
                <a16:creationId xmlns:a16="http://schemas.microsoft.com/office/drawing/2014/main" id="{27DEEEA5-58DA-111A-EB29-359076469887}"/>
              </a:ext>
            </a:extLst>
          </p:cNvPr>
          <p:cNvCxnSpPr>
            <a:stCxn id="260" idx="6"/>
            <a:endCxn id="259" idx="0"/>
          </p:cNvCxnSpPr>
          <p:nvPr/>
        </p:nvCxnSpPr>
        <p:spPr>
          <a:xfrm>
            <a:off x="3237575" y="170745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3">
            <a:extLst>
              <a:ext uri="{FF2B5EF4-FFF2-40B4-BE49-F238E27FC236}">
                <a16:creationId xmlns:a16="http://schemas.microsoft.com/office/drawing/2014/main" id="{ECB60237-1BE4-DE6E-DA05-E953B8FF348F}"/>
              </a:ext>
            </a:extLst>
          </p:cNvPr>
          <p:cNvCxnSpPr>
            <a:stCxn id="262" idx="2"/>
            <a:endCxn id="259" idx="0"/>
          </p:cNvCxnSpPr>
          <p:nvPr/>
        </p:nvCxnSpPr>
        <p:spPr>
          <a:xfrm flipH="1">
            <a:off x="4572025" y="170745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3">
            <a:extLst>
              <a:ext uri="{FF2B5EF4-FFF2-40B4-BE49-F238E27FC236}">
                <a16:creationId xmlns:a16="http://schemas.microsoft.com/office/drawing/2014/main" id="{8274BA4D-0003-D8CB-1F51-4A40013E73CE}"/>
              </a:ext>
            </a:extLst>
          </p:cNvPr>
          <p:cNvCxnSpPr>
            <a:stCxn id="261" idx="6"/>
            <a:endCxn id="259" idx="4"/>
          </p:cNvCxnSpPr>
          <p:nvPr/>
        </p:nvCxnSpPr>
        <p:spPr>
          <a:xfrm rot="10800000" flipH="1">
            <a:off x="3237575" y="385200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3">
            <a:extLst>
              <a:ext uri="{FF2B5EF4-FFF2-40B4-BE49-F238E27FC236}">
                <a16:creationId xmlns:a16="http://schemas.microsoft.com/office/drawing/2014/main" id="{458E17E1-B229-0A1E-6008-BD8576E36D42}"/>
              </a:ext>
            </a:extLst>
          </p:cNvPr>
          <p:cNvCxnSpPr>
            <a:stCxn id="263" idx="2"/>
            <a:endCxn id="259" idx="4"/>
          </p:cNvCxnSpPr>
          <p:nvPr/>
        </p:nvCxnSpPr>
        <p:spPr>
          <a:xfrm rot="10800000">
            <a:off x="4572025" y="385200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6572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5AF73B-0623-14FC-9464-1D6BA5F8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High-Level Topology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999B2-FA7F-23DF-F9C9-34BC96136F69}"/>
              </a:ext>
            </a:extLst>
          </p:cNvPr>
          <p:cNvSpPr txBox="1"/>
          <p:nvPr/>
        </p:nvSpPr>
        <p:spPr>
          <a:xfrm>
            <a:off x="618473" y="1475722"/>
            <a:ext cx="4572000" cy="15901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 b="1" baseline="0" dirty="0">
                <a:solidFill>
                  <a:schemeClr val="accent2"/>
                </a:solidFill>
                <a:latin typeface="Encode Sans"/>
                <a:ea typeface="Arial"/>
                <a:cs typeface="Arial"/>
              </a:rPr>
              <a:t>Core (Administration Data Room):</a:t>
            </a:r>
            <a:br>
              <a:rPr lang="en-US" sz="1600" b="1" dirty="0">
                <a:solidFill>
                  <a:srgbClr val="FFFFFF"/>
                </a:solidFill>
                <a:latin typeface="Encode Sans"/>
              </a:rPr>
            </a:br>
            <a:r>
              <a:rPr lang="en-US" sz="160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​</a:t>
            </a:r>
            <a:endParaRPr lang="en-US">
              <a:solidFill>
                <a:schemeClr val="accent2"/>
              </a:solidFill>
            </a:endParaRPr>
          </a:p>
          <a:p>
            <a:pPr marL="228600" lvl="1" indent="-228600" rtl="0">
              <a:lnSpc>
                <a:spcPts val="2025"/>
              </a:lnSpc>
              <a:buFont typeface=""/>
              <a:buChar char="•"/>
            </a:pPr>
            <a:r>
              <a:rPr lang="en-US" sz="1600" baseline="0" dirty="0">
                <a:solidFill>
                  <a:schemeClr val="tx1"/>
                </a:solidFill>
                <a:latin typeface="Encode Sans"/>
                <a:ea typeface="Arial"/>
                <a:cs typeface="Arial"/>
              </a:rPr>
              <a:t>2× Layer-3 Core Switches (redundant)</a:t>
            </a:r>
            <a:r>
              <a:rPr lang="en-US" sz="1600" dirty="0">
                <a:solidFill>
                  <a:schemeClr val="tx1"/>
                </a:solidFill>
                <a:latin typeface="Encode Sans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2025"/>
              </a:lnSpc>
              <a:buFont typeface=""/>
              <a:buChar char="•"/>
            </a:pPr>
            <a:r>
              <a:rPr lang="en-US" sz="1600" baseline="0" dirty="0">
                <a:solidFill>
                  <a:schemeClr val="tx1"/>
                </a:solidFill>
                <a:latin typeface="Encode Sans"/>
                <a:ea typeface="Arial"/>
                <a:cs typeface="Arial"/>
              </a:rPr>
              <a:t>Firewall at the edge + ISP Router</a:t>
            </a:r>
            <a:r>
              <a:rPr lang="en-US" sz="1600" dirty="0">
                <a:solidFill>
                  <a:schemeClr val="tx1"/>
                </a:solidFill>
                <a:latin typeface="Encode Sans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2025"/>
              </a:lnSpc>
              <a:buFont typeface=""/>
              <a:buChar char="•"/>
            </a:pPr>
            <a:r>
              <a:rPr lang="en-US" sz="1600" baseline="0" dirty="0">
                <a:solidFill>
                  <a:schemeClr val="tx1"/>
                </a:solidFill>
                <a:latin typeface="Encode Sans"/>
                <a:ea typeface="Arial"/>
                <a:cs typeface="Arial"/>
              </a:rPr>
              <a:t>Wireless Controller + Servers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1CB27-5056-9608-D2E5-6AC501D2201E}"/>
              </a:ext>
            </a:extLst>
          </p:cNvPr>
          <p:cNvSpPr txBox="1"/>
          <p:nvPr/>
        </p:nvSpPr>
        <p:spPr>
          <a:xfrm>
            <a:off x="618472" y="3291997"/>
            <a:ext cx="4572000" cy="8207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rtl="0">
              <a:lnSpc>
                <a:spcPts val="2025"/>
              </a:lnSpc>
            </a:pPr>
            <a:r>
              <a:rPr lang="en-US" sz="1600" b="1" baseline="0" dirty="0">
                <a:solidFill>
                  <a:schemeClr val="accent2"/>
                </a:solidFill>
                <a:latin typeface="Encode Sans"/>
                <a:ea typeface="Arial"/>
                <a:cs typeface="Arial"/>
              </a:rPr>
              <a:t>Distribution/Access (each building):</a:t>
            </a:r>
            <a:r>
              <a:rPr lang="en-US" sz="1600" dirty="0">
                <a:solidFill>
                  <a:schemeClr val="accent2"/>
                </a:solidFill>
                <a:latin typeface="Encode Sans"/>
                <a:ea typeface="Arial"/>
                <a:cs typeface="Arial"/>
              </a:rPr>
              <a:t>​</a:t>
            </a:r>
            <a:endParaRPr lang="en-US"/>
          </a:p>
          <a:p>
            <a:pPr lvl="1">
              <a:lnSpc>
                <a:spcPts val="2025"/>
              </a:lnSpc>
            </a:pPr>
            <a:r>
              <a:rPr lang="en-US" sz="1600" dirty="0">
                <a:solidFill>
                  <a:srgbClr val="FFFFFF"/>
                </a:solidFill>
                <a:latin typeface="Encode Sans"/>
              </a:rPr>
              <a:t>  </a:t>
            </a: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Access switches (PoE) for PCs + APs</a:t>
            </a:r>
          </a:p>
          <a:p>
            <a:pPr algn="ctr"/>
            <a:endParaRPr lang="en-US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69DA424-C6C0-16A0-530B-D6380157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641" b="23786"/>
          <a:stretch>
            <a:fillRect/>
          </a:stretch>
        </p:blipFill>
        <p:spPr>
          <a:xfrm>
            <a:off x="5516151" y="1579954"/>
            <a:ext cx="2641336" cy="26372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803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84D7-8755-B3FB-8265-A9609EDD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FA2BEA-8AC6-DFAC-B85D-3E9ED971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High-Level Topology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B5DE3-C9C2-636D-F25E-AC94F8533909}"/>
              </a:ext>
            </a:extLst>
          </p:cNvPr>
          <p:cNvSpPr txBox="1"/>
          <p:nvPr/>
        </p:nvSpPr>
        <p:spPr>
          <a:xfrm>
            <a:off x="720246" y="1420691"/>
            <a:ext cx="4572000" cy="31290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25"/>
              </a:lnSpc>
            </a:pPr>
            <a:r>
              <a:rPr lang="en-US" sz="1600" b="1" dirty="0">
                <a:solidFill>
                  <a:srgbClr val="FFFFFF"/>
                </a:solidFill>
                <a:latin typeface="Encode Sans"/>
              </a:rPr>
              <a:t>   </a:t>
            </a:r>
            <a:r>
              <a:rPr lang="en-US" sz="1600" b="1" baseline="0" dirty="0">
                <a:solidFill>
                  <a:schemeClr val="accent2"/>
                </a:solidFill>
                <a:latin typeface="Encode Sans"/>
                <a:ea typeface="Arial"/>
                <a:cs typeface="Arial"/>
              </a:rPr>
              <a:t>Inter-building links:</a:t>
            </a: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 </a:t>
            </a:r>
            <a:endParaRPr lang="en-US" dirty="0"/>
          </a:p>
          <a:p>
            <a:pPr>
              <a:lnSpc>
                <a:spcPts val="2025"/>
              </a:lnSpc>
            </a:pPr>
            <a:endParaRPr lang="en-US" sz="1600" dirty="0">
              <a:solidFill>
                <a:srgbClr val="FFFFFF"/>
              </a:solidFill>
              <a:latin typeface="Encode Sans"/>
            </a:endParaRPr>
          </a:p>
          <a:p>
            <a:pPr>
              <a:lnSpc>
                <a:spcPts val="2025"/>
              </a:lnSpc>
            </a:pP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Fiber trunk links from</a:t>
            </a:r>
            <a:r>
              <a:rPr lang="en-US" sz="1600" dirty="0">
                <a:solidFill>
                  <a:srgbClr val="FFFFFF"/>
                </a:solidFill>
                <a:latin typeface="Encode Sans"/>
              </a:rPr>
              <a:t>  </a:t>
            </a: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Admin (core) to each building (star topology)</a:t>
            </a:r>
            <a:r>
              <a:rPr lang="en-US" sz="160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​</a:t>
            </a:r>
            <a:endParaRPr lang="en-US" dirty="0"/>
          </a:p>
          <a:p>
            <a:pPr marL="228600" indent="-228600">
              <a:lnSpc>
                <a:spcPts val="2025"/>
              </a:lnSpc>
              <a:buFont typeface=""/>
              <a:buChar char="•"/>
            </a:pPr>
            <a:endParaRPr lang="en-US" sz="1600" dirty="0">
              <a:solidFill>
                <a:srgbClr val="FFFFFF"/>
              </a:solidFill>
              <a:latin typeface="Encode Sans"/>
            </a:endParaRPr>
          </a:p>
          <a:p>
            <a:pPr>
              <a:lnSpc>
                <a:spcPts val="2025"/>
              </a:lnSpc>
            </a:pPr>
            <a:r>
              <a:rPr lang="en-US" sz="1600" b="1" dirty="0">
                <a:solidFill>
                  <a:srgbClr val="FFFFFF"/>
                </a:solidFill>
                <a:latin typeface="Encode Sans"/>
              </a:rPr>
              <a:t>   </a:t>
            </a:r>
            <a:r>
              <a:rPr lang="en-US" sz="1600" b="1" baseline="0" dirty="0">
                <a:solidFill>
                  <a:schemeClr val="accent2"/>
                </a:solidFill>
                <a:latin typeface="Encode Sans"/>
                <a:ea typeface="Arial"/>
                <a:cs typeface="Arial"/>
              </a:rPr>
              <a:t>Packet Tracer diagram should show</a:t>
            </a:r>
            <a:r>
              <a:rPr lang="en-US" sz="1600" dirty="0">
                <a:solidFill>
                  <a:schemeClr val="accent2"/>
                </a:solidFill>
                <a:latin typeface="Encode Sans"/>
                <a:ea typeface="Arial"/>
                <a:cs typeface="Arial"/>
              </a:rPr>
              <a:t>​</a:t>
            </a:r>
            <a:endParaRPr lang="en-US" sz="1600" dirty="0">
              <a:solidFill>
                <a:schemeClr val="accent2"/>
              </a:solidFill>
              <a:latin typeface="Encode Sans"/>
            </a:endParaRPr>
          </a:p>
          <a:p>
            <a:pPr marL="228600" indent="-228600">
              <a:lnSpc>
                <a:spcPts val="2025"/>
              </a:lnSpc>
              <a:buFont typeface=""/>
              <a:buChar char="•"/>
            </a:pPr>
            <a:endParaRPr lang="en-US" sz="1600" dirty="0">
              <a:solidFill>
                <a:srgbClr val="FFFFFF"/>
              </a:solidFill>
              <a:latin typeface="Encode Sans"/>
            </a:endParaRPr>
          </a:p>
          <a:p>
            <a:pPr>
              <a:lnSpc>
                <a:spcPts val="2025"/>
              </a:lnSpc>
            </a:pPr>
            <a:r>
              <a:rPr lang="en-US" sz="1600" dirty="0">
                <a:solidFill>
                  <a:srgbClr val="FFFFFF"/>
                </a:solidFill>
                <a:latin typeface="Encode Sans"/>
              </a:rPr>
              <a:t> </a:t>
            </a: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ISP ↔ Router ↔ Firewall ↔ Core L3 Switches</a:t>
            </a:r>
            <a:r>
              <a:rPr lang="en-US" sz="160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​</a:t>
            </a:r>
            <a:endParaRPr lang="en-US" dirty="0"/>
          </a:p>
          <a:p>
            <a:pPr lvl="0" rtl="0">
              <a:lnSpc>
                <a:spcPts val="2025"/>
              </a:lnSpc>
            </a:pP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Core ↔ (fiber trunks) ↔ building access switches</a:t>
            </a:r>
            <a:r>
              <a:rPr lang="en-US" sz="160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​</a:t>
            </a:r>
            <a:r>
              <a:rPr lang="en-US" sz="1600" dirty="0">
                <a:solidFill>
                  <a:srgbClr val="FFFFFF"/>
                </a:solidFill>
                <a:latin typeface="Encode Sans"/>
              </a:rPr>
              <a:t> </a:t>
            </a: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VLANs on each building switch, trunk uplinks, </a:t>
            </a:r>
            <a:r>
              <a:rPr lang="en-US" sz="1600" dirty="0">
                <a:solidFill>
                  <a:srgbClr val="FFFFFF"/>
                </a:solidFill>
                <a:latin typeface="Encode Sans"/>
              </a:rPr>
              <a:t>  </a:t>
            </a:r>
            <a:r>
              <a:rPr lang="en-US" sz="1600" baseline="0" dirty="0">
                <a:solidFill>
                  <a:srgbClr val="FFFFFF"/>
                </a:solidFill>
                <a:latin typeface="Encode Sans"/>
                <a:ea typeface="Arial"/>
                <a:cs typeface="Arial"/>
              </a:rPr>
              <a:t>APs mapped to SSIDs/VLANs</a:t>
            </a:r>
          </a:p>
          <a:p>
            <a:pPr algn="ctr"/>
            <a:endParaRPr lang="en-US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0CD829B-84E2-857A-15BA-0021216F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641" b="23786"/>
          <a:stretch>
            <a:fillRect/>
          </a:stretch>
        </p:blipFill>
        <p:spPr>
          <a:xfrm>
            <a:off x="5390085" y="1537932"/>
            <a:ext cx="2641336" cy="26372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28687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Internet Access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830569" y="1423212"/>
            <a:ext cx="2343600" cy="9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Priority given to academic and lab traffic.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578158" y="1540277"/>
            <a:ext cx="2916882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Bandwidth management for fair usage.</a:t>
            </a:r>
            <a:endParaRPr sz="16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3187495" y="3708750"/>
            <a:ext cx="2891705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Guest access is limited.</a:t>
            </a:r>
            <a:endParaRPr sz="18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3063600" y="2650100"/>
            <a:ext cx="3015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What are we working on</a:t>
            </a:r>
            <a:endParaRPr sz="1800" b="1">
              <a:solidFill>
                <a:schemeClr val="dk1"/>
              </a:solidFill>
              <a:latin typeface="Doppio One"/>
              <a:ea typeface="Doppio One"/>
              <a:cs typeface="Doppio One"/>
              <a:sym typeface="Doppio One"/>
            </a:endParaRPr>
          </a:p>
        </p:txBody>
      </p:sp>
      <p:cxnSp>
        <p:nvCxnSpPr>
          <p:cNvPr id="283" name="Google Shape;283;p24"/>
          <p:cNvCxnSpPr>
            <a:cxnSpLocks/>
            <a:stCxn id="282" idx="1"/>
            <a:endCxn id="277" idx="2"/>
          </p:cNvCxnSpPr>
          <p:nvPr/>
        </p:nvCxnSpPr>
        <p:spPr>
          <a:xfrm rot="10800000">
            <a:off x="2036600" y="2160978"/>
            <a:ext cx="1027001" cy="743073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4"/>
          <p:cNvCxnSpPr>
            <a:cxnSpLocks/>
            <a:stCxn id="282" idx="2"/>
          </p:cNvCxnSpPr>
          <p:nvPr/>
        </p:nvCxnSpPr>
        <p:spPr>
          <a:xfrm rot="16200000" flipH="1">
            <a:off x="4233763" y="3495636"/>
            <a:ext cx="675275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4"/>
          <p:cNvCxnSpPr>
            <a:cxnSpLocks/>
            <a:stCxn id="282" idx="3"/>
            <a:endCxn id="274" idx="2"/>
          </p:cNvCxnSpPr>
          <p:nvPr/>
        </p:nvCxnSpPr>
        <p:spPr>
          <a:xfrm flipV="1">
            <a:off x="6079200" y="2397012"/>
            <a:ext cx="923169" cy="507038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4"/>
          <p:cNvSpPr/>
          <p:nvPr/>
        </p:nvSpPr>
        <p:spPr>
          <a:xfrm>
            <a:off x="4164950" y="1286350"/>
            <a:ext cx="813000" cy="8130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cxnSp>
        <p:nvCxnSpPr>
          <p:cNvPr id="287" name="Google Shape;287;p24"/>
          <p:cNvCxnSpPr>
            <a:stCxn id="286" idx="4"/>
            <a:endCxn id="282" idx="0"/>
          </p:cNvCxnSpPr>
          <p:nvPr/>
        </p:nvCxnSpPr>
        <p:spPr>
          <a:xfrm>
            <a:off x="4571450" y="2099350"/>
            <a:ext cx="0" cy="5508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8" name="Google Shape;288;p24"/>
          <p:cNvGrpSpPr/>
          <p:nvPr/>
        </p:nvGrpSpPr>
        <p:grpSpPr>
          <a:xfrm>
            <a:off x="4322226" y="1540277"/>
            <a:ext cx="499533" cy="305136"/>
            <a:chOff x="7009649" y="1541981"/>
            <a:chExt cx="524940" cy="320655"/>
          </a:xfrm>
        </p:grpSpPr>
        <p:sp>
          <p:nvSpPr>
            <p:cNvPr id="289" name="Google Shape;289;p24"/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66E698-9A77-29BC-02A1-6F6CCF40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>
            <a:extLst>
              <a:ext uri="{FF2B5EF4-FFF2-40B4-BE49-F238E27FC236}">
                <a16:creationId xmlns:a16="http://schemas.microsoft.com/office/drawing/2014/main" id="{135BFCEA-6F64-10AE-CD10-58661D9CFB16}"/>
              </a:ext>
            </a:extLst>
          </p:cNvPr>
          <p:cNvSpPr txBox="1"/>
          <p:nvPr/>
        </p:nvSpPr>
        <p:spPr>
          <a:xfrm>
            <a:off x="719999" y="1464675"/>
            <a:ext cx="2241325" cy="101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Different IP ranges for each building.</a:t>
            </a:r>
            <a:endParaRPr sz="24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5F11D4F6-0215-0213-620B-F3EBB031AA0E}"/>
              </a:ext>
            </a:extLst>
          </p:cNvPr>
          <p:cNvSpPr txBox="1"/>
          <p:nvPr/>
        </p:nvSpPr>
        <p:spPr>
          <a:xfrm>
            <a:off x="6182675" y="1491000"/>
            <a:ext cx="2241325" cy="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Improves security and network management.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5" name="Google Shape;255;p23">
            <a:extLst>
              <a:ext uri="{FF2B5EF4-FFF2-40B4-BE49-F238E27FC236}">
                <a16:creationId xmlns:a16="http://schemas.microsoft.com/office/drawing/2014/main" id="{B2CB117B-DD13-5347-3EAE-320399EC87DC}"/>
              </a:ext>
            </a:extLst>
          </p:cNvPr>
          <p:cNvSpPr txBox="1"/>
          <p:nvPr/>
        </p:nvSpPr>
        <p:spPr>
          <a:xfrm>
            <a:off x="719999" y="3995249"/>
            <a:ext cx="2517525" cy="6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VLANs separate traffic between departments</a:t>
            </a:r>
            <a:r>
              <a:rPr lang="en-US"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.</a:t>
            </a:r>
            <a:endParaRPr sz="12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8" name="Google Shape;258;p23">
            <a:extLst>
              <a:ext uri="{FF2B5EF4-FFF2-40B4-BE49-F238E27FC236}">
                <a16:creationId xmlns:a16="http://schemas.microsoft.com/office/drawing/2014/main" id="{FE8CFD6F-611C-CE31-28DE-7DFA84840250}"/>
              </a:ext>
            </a:extLst>
          </p:cNvPr>
          <p:cNvSpPr txBox="1"/>
          <p:nvPr/>
        </p:nvSpPr>
        <p:spPr>
          <a:xfrm>
            <a:off x="6182676" y="3801000"/>
            <a:ext cx="2241324" cy="7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Reduces broadcast traffic.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827B9446-6244-D979-2D1B-61064824E035}"/>
              </a:ext>
            </a:extLst>
          </p:cNvPr>
          <p:cNvSpPr/>
          <p:nvPr/>
        </p:nvSpPr>
        <p:spPr>
          <a:xfrm>
            <a:off x="3665100" y="2038275"/>
            <a:ext cx="1813800" cy="18138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rPr>
              <a:t>IP Addressing &amp; VLANs</a:t>
            </a:r>
            <a:endParaRPr sz="1800" dirty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350D976F-DEE7-58EA-6FDC-4112BD5D2928}"/>
              </a:ext>
            </a:extLst>
          </p:cNvPr>
          <p:cNvSpPr/>
          <p:nvPr/>
        </p:nvSpPr>
        <p:spPr>
          <a:xfrm>
            <a:off x="3094775" y="163605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0DCBADE7-D18C-F08E-BDF8-06F32C0DF14D}"/>
              </a:ext>
            </a:extLst>
          </p:cNvPr>
          <p:cNvSpPr/>
          <p:nvPr/>
        </p:nvSpPr>
        <p:spPr>
          <a:xfrm>
            <a:off x="3094775" y="411150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3">
            <a:extLst>
              <a:ext uri="{FF2B5EF4-FFF2-40B4-BE49-F238E27FC236}">
                <a16:creationId xmlns:a16="http://schemas.microsoft.com/office/drawing/2014/main" id="{A5483722-EEA9-AF0D-42C4-42214198B64E}"/>
              </a:ext>
            </a:extLst>
          </p:cNvPr>
          <p:cNvSpPr/>
          <p:nvPr/>
        </p:nvSpPr>
        <p:spPr>
          <a:xfrm>
            <a:off x="5906425" y="163605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94F9196C-8959-3162-D3BB-B602F1440F2D}"/>
              </a:ext>
            </a:extLst>
          </p:cNvPr>
          <p:cNvSpPr/>
          <p:nvPr/>
        </p:nvSpPr>
        <p:spPr>
          <a:xfrm>
            <a:off x="5906425" y="4111500"/>
            <a:ext cx="142800" cy="142800"/>
          </a:xfrm>
          <a:prstGeom prst="ellipse">
            <a:avLst/>
          </a:prstGeom>
          <a:solidFill>
            <a:srgbClr val="11C7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3">
            <a:extLst>
              <a:ext uri="{FF2B5EF4-FFF2-40B4-BE49-F238E27FC236}">
                <a16:creationId xmlns:a16="http://schemas.microsoft.com/office/drawing/2014/main" id="{51AF6477-33D9-E469-888C-50DD6A7CED92}"/>
              </a:ext>
            </a:extLst>
          </p:cNvPr>
          <p:cNvCxnSpPr>
            <a:stCxn id="260" idx="6"/>
            <a:endCxn id="259" idx="0"/>
          </p:cNvCxnSpPr>
          <p:nvPr/>
        </p:nvCxnSpPr>
        <p:spPr>
          <a:xfrm>
            <a:off x="3237575" y="170745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3">
            <a:extLst>
              <a:ext uri="{FF2B5EF4-FFF2-40B4-BE49-F238E27FC236}">
                <a16:creationId xmlns:a16="http://schemas.microsoft.com/office/drawing/2014/main" id="{7DA0D7C0-E6B3-3862-1FAE-0B8F6D30E0C7}"/>
              </a:ext>
            </a:extLst>
          </p:cNvPr>
          <p:cNvCxnSpPr>
            <a:stCxn id="262" idx="2"/>
            <a:endCxn id="259" idx="0"/>
          </p:cNvCxnSpPr>
          <p:nvPr/>
        </p:nvCxnSpPr>
        <p:spPr>
          <a:xfrm flipH="1">
            <a:off x="4572025" y="170745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3">
            <a:extLst>
              <a:ext uri="{FF2B5EF4-FFF2-40B4-BE49-F238E27FC236}">
                <a16:creationId xmlns:a16="http://schemas.microsoft.com/office/drawing/2014/main" id="{22FD0C39-8D4B-B356-D828-688179DDEB98}"/>
              </a:ext>
            </a:extLst>
          </p:cNvPr>
          <p:cNvCxnSpPr>
            <a:stCxn id="261" idx="6"/>
            <a:endCxn id="259" idx="4"/>
          </p:cNvCxnSpPr>
          <p:nvPr/>
        </p:nvCxnSpPr>
        <p:spPr>
          <a:xfrm rot="10800000" flipH="1">
            <a:off x="3237575" y="385200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3">
            <a:extLst>
              <a:ext uri="{FF2B5EF4-FFF2-40B4-BE49-F238E27FC236}">
                <a16:creationId xmlns:a16="http://schemas.microsoft.com/office/drawing/2014/main" id="{56DECF67-074C-7957-A682-7D178CB4B773}"/>
              </a:ext>
            </a:extLst>
          </p:cNvPr>
          <p:cNvCxnSpPr>
            <a:stCxn id="263" idx="2"/>
            <a:endCxn id="259" idx="4"/>
          </p:cNvCxnSpPr>
          <p:nvPr/>
        </p:nvCxnSpPr>
        <p:spPr>
          <a:xfrm rot="10800000">
            <a:off x="4572025" y="3852000"/>
            <a:ext cx="1334400" cy="33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03469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F91930-DF93-D814-D498-150F87FB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90" y="428263"/>
            <a:ext cx="8264324" cy="4444679"/>
          </a:xfrm>
        </p:spPr>
        <p:txBody>
          <a:bodyPr/>
          <a:lstStyle/>
          <a:p>
            <a:endParaRPr lang="en-US" sz="1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3D48C2-C73C-3372-EB85-250619C36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505343"/>
              </p:ext>
            </p:extLst>
          </p:nvPr>
        </p:nvGraphicFramePr>
        <p:xfrm>
          <a:off x="384026" y="459578"/>
          <a:ext cx="8243301" cy="4381584"/>
        </p:xfrm>
        <a:graphic>
          <a:graphicData uri="http://schemas.openxmlformats.org/drawingml/2006/table">
            <a:tbl>
              <a:tblPr firstRow="1" bandRow="1">
                <a:tableStyleId>{31988482-2AD6-472E-B716-1CEAD55E5BF9}</a:tableStyleId>
              </a:tblPr>
              <a:tblGrid>
                <a:gridCol w="2906519">
                  <a:extLst>
                    <a:ext uri="{9D8B030D-6E8A-4147-A177-3AD203B41FA5}">
                      <a16:colId xmlns:a16="http://schemas.microsoft.com/office/drawing/2014/main" val="3848512363"/>
                    </a:ext>
                  </a:extLst>
                </a:gridCol>
                <a:gridCol w="2668391">
                  <a:extLst>
                    <a:ext uri="{9D8B030D-6E8A-4147-A177-3AD203B41FA5}">
                      <a16:colId xmlns:a16="http://schemas.microsoft.com/office/drawing/2014/main" val="1344273838"/>
                    </a:ext>
                  </a:extLst>
                </a:gridCol>
                <a:gridCol w="2668391">
                  <a:extLst>
                    <a:ext uri="{9D8B030D-6E8A-4147-A177-3AD203B41FA5}">
                      <a16:colId xmlns:a16="http://schemas.microsoft.com/office/drawing/2014/main" val="4095209042"/>
                    </a:ext>
                  </a:extLst>
                </a:gridCol>
              </a:tblGrid>
              <a:tr h="32365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VLAN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055433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ADMIN-STAFF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admin offices PCs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822368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ADMIN-SERVERS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servers/data center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711463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ENG-FACULTY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engineering staff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83992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ENG-LABS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engineering lab PCs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510945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CS-FACULTY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CS staff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343988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CS-LABS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CS lab PCs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631069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LIB-STAFF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library employees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462960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LIB-PUBLIC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library public PCs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701130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STUDENT-WIFI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authenticated students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23956"/>
                  </a:ext>
                </a:extLst>
              </a:tr>
              <a:tr h="35399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GUEST-WIFI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internet only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289784"/>
                  </a:ext>
                </a:extLst>
              </a:tr>
              <a:tr h="38870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MGMT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device management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6578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4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8B072C71-9274-92C8-2FAD-247D2685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>
            <a:extLst>
              <a:ext uri="{FF2B5EF4-FFF2-40B4-BE49-F238E27FC236}">
                <a16:creationId xmlns:a16="http://schemas.microsoft.com/office/drawing/2014/main" id="{55FC6ED0-2AC2-80CB-450D-FD4E52BF6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Building LAN Subnets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3" name="Picture 2" descr="A black and white screen with numbers and numbers&#10;&#10;AI-generated content may be incorrect.">
            <a:extLst>
              <a:ext uri="{FF2B5EF4-FFF2-40B4-BE49-F238E27FC236}">
                <a16:creationId xmlns:a16="http://schemas.microsoft.com/office/drawing/2014/main" id="{42CBDA9B-4624-8E11-9224-CCC9F88DD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170125"/>
            <a:ext cx="7833691" cy="337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22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2A1732B3-C417-B581-D280-34ED6328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>
            <a:extLst>
              <a:ext uri="{FF2B5EF4-FFF2-40B4-BE49-F238E27FC236}">
                <a16:creationId xmlns:a16="http://schemas.microsoft.com/office/drawing/2014/main" id="{265B816A-0A86-710D-1209-CECA9A6896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accent2"/>
                </a:solidFill>
              </a:rPr>
              <a:t>Infrastructure &amp; Point-to-Point Links (/30)</a:t>
            </a:r>
            <a:endParaRPr sz="2400" dirty="0">
              <a:solidFill>
                <a:schemeClr val="accent2"/>
              </a:solidFill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8CF082DB-2A24-83E2-B8E7-08105F7AB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85" y="1170124"/>
            <a:ext cx="8067553" cy="352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1555E11B-542F-8E60-63EF-37719588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>
            <a:extLst>
              <a:ext uri="{FF2B5EF4-FFF2-40B4-BE49-F238E27FC236}">
                <a16:creationId xmlns:a16="http://schemas.microsoft.com/office/drawing/2014/main" id="{2E1474FC-2DA8-9FC8-CE7D-D22900C96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Server Network Subnet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6316A71-6843-BED8-6724-DA1DC8238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851951"/>
            <a:ext cx="7509600" cy="19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05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accent2"/>
                </a:solidFill>
              </a:rPr>
              <a:t>Network Devices Used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188" name="Google Shape;188;p21"/>
          <p:cNvGrpSpPr/>
          <p:nvPr/>
        </p:nvGrpSpPr>
        <p:grpSpPr>
          <a:xfrm>
            <a:off x="719999" y="1343450"/>
            <a:ext cx="3333039" cy="1010821"/>
            <a:chOff x="719999" y="1343450"/>
            <a:chExt cx="3333039" cy="1010821"/>
          </a:xfrm>
        </p:grpSpPr>
        <p:sp>
          <p:nvSpPr>
            <p:cNvPr id="189" name="Google Shape;189;p21"/>
            <p:cNvSpPr/>
            <p:nvPr/>
          </p:nvSpPr>
          <p:spPr>
            <a:xfrm>
              <a:off x="3328538" y="1507019"/>
              <a:ext cx="724500" cy="724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01</a:t>
              </a:r>
              <a:endParaRPr sz="2000"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720000" y="1343450"/>
              <a:ext cx="18138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Routers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719999" y="1747971"/>
              <a:ext cx="2246287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for internet connectivity.</a:t>
              </a:r>
              <a:endParaRPr sz="20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719999" y="2430333"/>
            <a:ext cx="3333089" cy="1010821"/>
            <a:chOff x="719999" y="2430333"/>
            <a:chExt cx="3333089" cy="1010821"/>
          </a:xfrm>
        </p:grpSpPr>
        <p:sp>
          <p:nvSpPr>
            <p:cNvPr id="193" name="Google Shape;193;p21"/>
            <p:cNvSpPr txBox="1"/>
            <p:nvPr/>
          </p:nvSpPr>
          <p:spPr>
            <a:xfrm>
              <a:off x="720000" y="2430333"/>
              <a:ext cx="18138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switches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719999" y="2834854"/>
              <a:ext cx="2246283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J</a:t>
              </a: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Core and access switches for internal networking.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328588" y="2595745"/>
              <a:ext cx="724500" cy="724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02</a:t>
              </a:r>
              <a:endParaRPr sz="2000"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196" name="Google Shape;196;p21"/>
          <p:cNvGrpSpPr/>
          <p:nvPr/>
        </p:nvGrpSpPr>
        <p:grpSpPr>
          <a:xfrm>
            <a:off x="719999" y="3517217"/>
            <a:ext cx="3333089" cy="1010821"/>
            <a:chOff x="719999" y="3517217"/>
            <a:chExt cx="3333089" cy="1010821"/>
          </a:xfrm>
        </p:grpSpPr>
        <p:sp>
          <p:nvSpPr>
            <p:cNvPr id="197" name="Google Shape;197;p21"/>
            <p:cNvSpPr txBox="1"/>
            <p:nvPr/>
          </p:nvSpPr>
          <p:spPr>
            <a:xfrm>
              <a:off x="719999" y="3517217"/>
              <a:ext cx="2714689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Wireless access points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720000" y="3921738"/>
              <a:ext cx="18138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Wireless access points for Wi-Fi coverage.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3328588" y="3684428"/>
              <a:ext cx="724500" cy="724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03</a:t>
              </a:r>
              <a:endParaRPr sz="2000"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200" name="Google Shape;200;p21"/>
          <p:cNvGrpSpPr/>
          <p:nvPr/>
        </p:nvGrpSpPr>
        <p:grpSpPr>
          <a:xfrm>
            <a:off x="5090963" y="1343450"/>
            <a:ext cx="3333037" cy="1010821"/>
            <a:chOff x="5090963" y="1343450"/>
            <a:chExt cx="3333037" cy="1010821"/>
          </a:xfrm>
        </p:grpSpPr>
        <p:sp>
          <p:nvSpPr>
            <p:cNvPr id="201" name="Google Shape;201;p21"/>
            <p:cNvSpPr txBox="1"/>
            <p:nvPr/>
          </p:nvSpPr>
          <p:spPr>
            <a:xfrm>
              <a:off x="6610200" y="1343450"/>
              <a:ext cx="18138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Firewalls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6235012" y="1747971"/>
              <a:ext cx="2188988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Firewalls for security.</a:t>
              </a:r>
              <a:endParaRPr sz="20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5090963" y="1507068"/>
              <a:ext cx="724500" cy="724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04</a:t>
              </a:r>
              <a:endParaRPr sz="2000"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grpSp>
        <p:nvGrpSpPr>
          <p:cNvPr id="204" name="Google Shape;204;p21"/>
          <p:cNvGrpSpPr/>
          <p:nvPr/>
        </p:nvGrpSpPr>
        <p:grpSpPr>
          <a:xfrm>
            <a:off x="5090914" y="3088907"/>
            <a:ext cx="3333037" cy="1010821"/>
            <a:chOff x="5090963" y="2430333"/>
            <a:chExt cx="3333037" cy="1010821"/>
          </a:xfrm>
        </p:grpSpPr>
        <p:sp>
          <p:nvSpPr>
            <p:cNvPr id="205" name="Google Shape;205;p21"/>
            <p:cNvSpPr txBox="1"/>
            <p:nvPr/>
          </p:nvSpPr>
          <p:spPr>
            <a:xfrm>
              <a:off x="6610200" y="2430333"/>
              <a:ext cx="1813800" cy="4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Doppio One"/>
                  <a:ea typeface="Doppio One"/>
                  <a:cs typeface="Doppio One"/>
                  <a:sym typeface="Doppio One"/>
                </a:rPr>
                <a:t>Servers</a:t>
              </a:r>
              <a:endParaRPr sz="1800" dirty="0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5892801" y="2834854"/>
              <a:ext cx="2531199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Servers for data and applications.</a:t>
              </a:r>
              <a:endParaRPr sz="12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5090963" y="2595745"/>
              <a:ext cx="724500" cy="724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accent2"/>
                  </a:solidFill>
                  <a:latin typeface="Encode Sans"/>
                  <a:ea typeface="Encode Sans"/>
                  <a:cs typeface="Encode Sans"/>
                  <a:sym typeface="Encode Sans"/>
                </a:rPr>
                <a:t>05</a:t>
              </a:r>
              <a:endParaRPr sz="2000" b="1">
                <a:solidFill>
                  <a:schemeClr val="accent2"/>
                </a:solidFill>
                <a:latin typeface="Encode Sans"/>
                <a:ea typeface="Encode Sans"/>
                <a:cs typeface="Encode Sans"/>
                <a:sym typeface="Encode Sans"/>
              </a:endParaRPr>
            </a:p>
          </p:txBody>
        </p:sp>
      </p:grpSp>
      <p:cxnSp>
        <p:nvCxnSpPr>
          <p:cNvPr id="212" name="Google Shape;212;p21"/>
          <p:cNvCxnSpPr>
            <a:stCxn id="189" idx="4"/>
            <a:endCxn id="195" idx="0"/>
          </p:cNvCxnSpPr>
          <p:nvPr/>
        </p:nvCxnSpPr>
        <p:spPr>
          <a:xfrm>
            <a:off x="3690788" y="2231519"/>
            <a:ext cx="0" cy="364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1"/>
          <p:cNvCxnSpPr>
            <a:stCxn id="195" idx="4"/>
            <a:endCxn id="199" idx="0"/>
          </p:cNvCxnSpPr>
          <p:nvPr/>
        </p:nvCxnSpPr>
        <p:spPr>
          <a:xfrm>
            <a:off x="3690838" y="3320245"/>
            <a:ext cx="0" cy="3642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1"/>
          <p:cNvCxnSpPr>
            <a:stCxn id="199" idx="7"/>
            <a:endCxn id="203" idx="3"/>
          </p:cNvCxnSpPr>
          <p:nvPr/>
        </p:nvCxnSpPr>
        <p:spPr>
          <a:xfrm rot="10800000" flipH="1">
            <a:off x="3946987" y="2125528"/>
            <a:ext cx="1250100" cy="16650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1"/>
          <p:cNvCxnSpPr>
            <a:stCxn id="203" idx="4"/>
            <a:endCxn id="207" idx="0"/>
          </p:cNvCxnSpPr>
          <p:nvPr/>
        </p:nvCxnSpPr>
        <p:spPr>
          <a:xfrm flipH="1">
            <a:off x="5453164" y="2231568"/>
            <a:ext cx="49" cy="102275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>
          <a:extLst>
            <a:ext uri="{FF2B5EF4-FFF2-40B4-BE49-F238E27FC236}">
              <a16:creationId xmlns:a16="http://schemas.microsoft.com/office/drawing/2014/main" id="{90FFC29B-32A2-674C-2691-23F93DC6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2B9715-732A-3861-748A-C69FF4B6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41" y="454550"/>
            <a:ext cx="7704000" cy="572700"/>
          </a:xfrm>
        </p:spPr>
        <p:txBody>
          <a:bodyPr/>
          <a:lstStyle/>
          <a:p>
            <a:r>
              <a:rPr lang="en-US" b="0" dirty="0">
                <a:solidFill>
                  <a:schemeClr val="accent2"/>
                </a:solidFill>
              </a:rPr>
              <a:t>Cost Calculation with Device Models (EGP)</a:t>
            </a:r>
            <a:endParaRPr lang="en-US">
              <a:solidFill>
                <a:schemeClr val="accent2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80CF83-AA6E-1ACA-2A10-D92A5CEF4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58418"/>
              </p:ext>
            </p:extLst>
          </p:nvPr>
        </p:nvGraphicFramePr>
        <p:xfrm>
          <a:off x="524527" y="1025568"/>
          <a:ext cx="7947237" cy="3615443"/>
        </p:xfrm>
        <a:graphic>
          <a:graphicData uri="http://schemas.openxmlformats.org/drawingml/2006/table">
            <a:tbl>
              <a:tblPr bandRow="1">
                <a:tableStyleId>{31988482-2AD6-472E-B716-1CEAD55E5BF9}</a:tableStyleId>
              </a:tblPr>
              <a:tblGrid>
                <a:gridCol w="1631587">
                  <a:extLst>
                    <a:ext uri="{9D8B030D-6E8A-4147-A177-3AD203B41FA5}">
                      <a16:colId xmlns:a16="http://schemas.microsoft.com/office/drawing/2014/main" val="2811810438"/>
                    </a:ext>
                  </a:extLst>
                </a:gridCol>
                <a:gridCol w="1631587">
                  <a:extLst>
                    <a:ext uri="{9D8B030D-6E8A-4147-A177-3AD203B41FA5}">
                      <a16:colId xmlns:a16="http://schemas.microsoft.com/office/drawing/2014/main" val="2182276004"/>
                    </a:ext>
                  </a:extLst>
                </a:gridCol>
                <a:gridCol w="1631587">
                  <a:extLst>
                    <a:ext uri="{9D8B030D-6E8A-4147-A177-3AD203B41FA5}">
                      <a16:colId xmlns:a16="http://schemas.microsoft.com/office/drawing/2014/main" val="3773861693"/>
                    </a:ext>
                  </a:extLst>
                </a:gridCol>
                <a:gridCol w="1631587">
                  <a:extLst>
                    <a:ext uri="{9D8B030D-6E8A-4147-A177-3AD203B41FA5}">
                      <a16:colId xmlns:a16="http://schemas.microsoft.com/office/drawing/2014/main" val="306643805"/>
                    </a:ext>
                  </a:extLst>
                </a:gridCol>
                <a:gridCol w="1420889">
                  <a:extLst>
                    <a:ext uri="{9D8B030D-6E8A-4147-A177-3AD203B41FA5}">
                      <a16:colId xmlns:a16="http://schemas.microsoft.com/office/drawing/2014/main" val="2188949300"/>
                    </a:ext>
                  </a:extLst>
                </a:gridCol>
              </a:tblGrid>
              <a:tr h="340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Device Type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Model (Real-World Example)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Quantity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Cost (EGP)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096348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Network Devices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Core Layer-3 Switch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Catalyst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3560-24PS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819424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Access Switches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Catalyst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2960-24TT-L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576871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Building Routers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ISR 4331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630956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Main Router (</a:t>
                      </a:r>
                      <a:r>
                        <a:rPr lang="en-US" sz="800" err="1">
                          <a:solidFill>
                            <a:schemeClr val="tx1"/>
                          </a:solidFill>
                        </a:rPr>
                        <a:t>R_main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ISR 4331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10111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ISP Router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2911 ISR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067497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Firewall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ASA 5506-X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332202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Wireless Access Points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Cisco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Aironet 1832i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776780"/>
                  </a:ext>
                </a:extLst>
              </a:tr>
              <a:tr h="3406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Servers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Dell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PowerEdge R350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1,108,200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39323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PCs (300)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Desktop PCs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HP 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200 G4 All-in-One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6,600,000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465936"/>
                  </a:ext>
                </a:extLst>
              </a:tr>
              <a:tr h="24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Cabling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Ethernet Cable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CAT6 (305m box)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678017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Patch Cords &amp; RJ-45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Standard CAT6 accessories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26,200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15609"/>
                  </a:ext>
                </a:extLst>
              </a:tr>
              <a:tr h="340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TOTAL PROJECT COST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7,734,400 EGP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51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67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0D5F-C242-DD16-2C26-8BB21537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4798-72F0-CCF1-6898-6F8326B3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80" y="111760"/>
            <a:ext cx="292332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IP routing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4DD42C2-0C3D-8C70-F0B6-48A78CD2E77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259" t="-813" r="28" b="-923"/>
          <a:stretch>
            <a:fillRect/>
          </a:stretch>
        </p:blipFill>
        <p:spPr>
          <a:xfrm>
            <a:off x="182880" y="914399"/>
            <a:ext cx="8849360" cy="373773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AD7391-0198-4957-BCC9-54C843F8090B}"/>
              </a:ext>
            </a:extLst>
          </p:cNvPr>
          <p:cNvSpPr txBox="1"/>
          <p:nvPr/>
        </p:nvSpPr>
        <p:spPr>
          <a:xfrm>
            <a:off x="280780" y="4652133"/>
            <a:ext cx="8751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Routing implementation is complete and verified.</a:t>
            </a:r>
          </a:p>
        </p:txBody>
      </p:sp>
    </p:spTree>
    <p:extLst>
      <p:ext uri="{BB962C8B-B14F-4D97-AF65-F5344CB8AC3E}">
        <p14:creationId xmlns:p14="http://schemas.microsoft.com/office/powerpoint/2010/main" val="28944241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E6A9-1700-5F2C-412B-780CF46B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D8BB-CD71-C997-F23F-4103CA09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80" y="111760"/>
            <a:ext cx="292332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DHCP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A90491C-1281-07DB-4991-E7CFBE2C9034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900" t="37" r="-1" b="-1281"/>
          <a:stretch>
            <a:fillRect/>
          </a:stretch>
        </p:blipFill>
        <p:spPr>
          <a:xfrm>
            <a:off x="81280" y="915670"/>
            <a:ext cx="8950960" cy="33121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25925C-D854-5EE0-00AD-A76D2229F338}"/>
              </a:ext>
            </a:extLst>
          </p:cNvPr>
          <p:cNvSpPr txBox="1"/>
          <p:nvPr/>
        </p:nvSpPr>
        <p:spPr>
          <a:xfrm>
            <a:off x="280780" y="4652133"/>
            <a:ext cx="8751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Routing implementation is complete and verified.</a:t>
            </a:r>
          </a:p>
        </p:txBody>
      </p:sp>
    </p:spTree>
    <p:extLst>
      <p:ext uri="{BB962C8B-B14F-4D97-AF65-F5344CB8AC3E}">
        <p14:creationId xmlns:p14="http://schemas.microsoft.com/office/powerpoint/2010/main" val="3353696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2E7D-E239-F303-0CD3-E6304809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A123-C851-36AC-B861-2B707799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000" y="14469"/>
            <a:ext cx="113516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ACL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B30F581-6310-7FBB-5751-8E3B1B4C77AC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2834" b="2834"/>
          <a:stretch/>
        </p:blipFill>
        <p:spPr>
          <a:xfrm>
            <a:off x="33240" y="703518"/>
            <a:ext cx="4670840" cy="387991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1B4932-2EC4-059C-3503-6F685B3E5044}"/>
              </a:ext>
            </a:extLst>
          </p:cNvPr>
          <p:cNvSpPr txBox="1"/>
          <p:nvPr/>
        </p:nvSpPr>
        <p:spPr>
          <a:xfrm>
            <a:off x="280780" y="4652133"/>
            <a:ext cx="8273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The implementation of the ACL was successful, achieving the goal of restricting access for the Engineering department while maintaining connectivity for the Administration department.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118A4-A1C9-337A-25EA-F52BC7651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0" y="703518"/>
            <a:ext cx="4406680" cy="387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24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5A40-5A3C-6F22-2CC4-CB0FAC42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00" y="98028"/>
            <a:ext cx="438360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Campus Login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D826EE4-9AD1-53F2-F24A-1C610C423048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10401" b="10401"/>
          <a:stretch>
            <a:fillRect/>
          </a:stretch>
        </p:blipFill>
        <p:spPr>
          <a:xfrm>
            <a:off x="0" y="914400"/>
            <a:ext cx="9144000" cy="4229100"/>
          </a:xfrm>
        </p:spPr>
      </p:pic>
    </p:spTree>
    <p:extLst>
      <p:ext uri="{BB962C8B-B14F-4D97-AF65-F5344CB8AC3E}">
        <p14:creationId xmlns:p14="http://schemas.microsoft.com/office/powerpoint/2010/main" val="28273427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E8D2-DEAD-79D4-F794-3D29B520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DDA4-09A6-AC64-6081-E9FB3C43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00" y="98028"/>
            <a:ext cx="438360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Faculty selection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43AD443-9D7C-9E7F-8851-B58EA32D5A5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6278" b="6278"/>
          <a:stretch/>
        </p:blipFill>
        <p:spPr>
          <a:xfrm>
            <a:off x="0" y="914400"/>
            <a:ext cx="9144000" cy="4229100"/>
          </a:xfrm>
        </p:spPr>
      </p:pic>
    </p:spTree>
    <p:extLst>
      <p:ext uri="{BB962C8B-B14F-4D97-AF65-F5344CB8AC3E}">
        <p14:creationId xmlns:p14="http://schemas.microsoft.com/office/powerpoint/2010/main" val="1362829263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352D-BF4B-BC29-9206-107AA5CD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23D8-CA05-D681-01E9-4DFD28E9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804" y="98028"/>
            <a:ext cx="744252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Computer science Program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3372425-667C-378F-C32F-35AD2A1C46F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6471" b="6471"/>
          <a:stretch/>
        </p:blipFill>
        <p:spPr>
          <a:xfrm>
            <a:off x="0" y="914400"/>
            <a:ext cx="9144000" cy="4229100"/>
          </a:xfrm>
        </p:spPr>
      </p:pic>
    </p:spTree>
    <p:extLst>
      <p:ext uri="{BB962C8B-B14F-4D97-AF65-F5344CB8AC3E}">
        <p14:creationId xmlns:p14="http://schemas.microsoft.com/office/powerpoint/2010/main" val="1018641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4502-4E6E-7091-7880-8EDC161C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0F5B-C98B-B92D-E3AA-E8CD9B6B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813" y="98028"/>
            <a:ext cx="7025833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Engineering Departments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C3690F2-9BAA-6E7C-5D19-2AB994BCBCD4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6342" b="6342"/>
          <a:stretch/>
        </p:blipFill>
        <p:spPr>
          <a:xfrm>
            <a:off x="0" y="914400"/>
            <a:ext cx="9144000" cy="4229100"/>
          </a:xfrm>
        </p:spPr>
      </p:pic>
    </p:spTree>
    <p:extLst>
      <p:ext uri="{BB962C8B-B14F-4D97-AF65-F5344CB8AC3E}">
        <p14:creationId xmlns:p14="http://schemas.microsoft.com/office/powerpoint/2010/main" val="298619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85346-C7DB-0F46-8B99-3015BE71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378B-76B5-7790-09D0-62ED590B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200" y="98028"/>
            <a:ext cx="4383600" cy="68905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Library Services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086267B-0AE9-E6D4-40A7-64FFD4D32928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t="6471" b="6471"/>
          <a:stretch/>
        </p:blipFill>
        <p:spPr>
          <a:xfrm>
            <a:off x="0" y="914400"/>
            <a:ext cx="9144000" cy="363855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457E9D-E49D-9206-3042-7F9051FEE8EB}"/>
              </a:ext>
            </a:extLst>
          </p:cNvPr>
          <p:cNvSpPr txBox="1"/>
          <p:nvPr/>
        </p:nvSpPr>
        <p:spPr>
          <a:xfrm>
            <a:off x="0" y="462028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website demonstrates how the network supports real services used in a university, such as portals and information systems, and validates DNS and server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61856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99B4-AD12-5C23-614C-F9CB772C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F4732D-D08C-6E3C-5897-80924EF1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007057-1793-61E3-7DD9-B53F4C2A7AB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20000" y="1242486"/>
            <a:ext cx="7704138" cy="3595731"/>
          </a:xfrm>
        </p:spPr>
        <p:txBody>
          <a:bodyPr/>
          <a:lstStyle/>
          <a:p>
            <a:r>
              <a:rPr lang="en-US" b="1" dirty="0"/>
              <a:t>Strong separation using VLANs + ACLs (Admin protected, Guest isolated)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Easy scalability (/24 per department, OSPF routing-ready)</a:t>
            </a:r>
          </a:p>
          <a:p>
            <a:endParaRPr lang="en-US" b="1" dirty="0"/>
          </a:p>
          <a:p>
            <a:pPr marL="114300" indent="0">
              <a:lnSpc>
                <a:spcPct val="114999"/>
              </a:lnSpc>
              <a:buNone/>
            </a:pPr>
            <a:endParaRPr lang="en-US" b="1" dirty="0"/>
          </a:p>
          <a:p>
            <a:r>
              <a:rPr lang="en-US" b="1" dirty="0"/>
              <a:t>Centralized services in Admin (servers + controller) with fiber backbone to buildings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727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accent2"/>
                </a:solidFill>
              </a:rPr>
              <a:t>T</a:t>
            </a:r>
            <a:r>
              <a:rPr lang="en-US" sz="3200" dirty="0">
                <a:solidFill>
                  <a:schemeClr val="accent2"/>
                </a:solidFill>
              </a:rPr>
              <a:t>e</a:t>
            </a:r>
            <a:r>
              <a:rPr lang="en" sz="3200" dirty="0">
                <a:solidFill>
                  <a:schemeClr val="accent2"/>
                </a:solidFill>
              </a:rPr>
              <a:t>am members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488" name="Google Shape;488;p47"/>
          <p:cNvSpPr txBox="1"/>
          <p:nvPr/>
        </p:nvSpPr>
        <p:spPr>
          <a:xfrm flipH="1">
            <a:off x="712775" y="13320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Adel sobhy </a:t>
            </a:r>
            <a:br>
              <a:rPr lang="en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23101780</a:t>
            </a:r>
            <a:endParaRPr sz="24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47"/>
          <p:cNvSpPr txBox="1"/>
          <p:nvPr/>
        </p:nvSpPr>
        <p:spPr>
          <a:xfrm flipH="1">
            <a:off x="3534813" y="13320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Yassin Ali Attia</a:t>
            </a:r>
            <a:br>
              <a:rPr lang="en-US" sz="1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23101505</a:t>
            </a:r>
            <a:endParaRPr sz="1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47"/>
          <p:cNvSpPr txBox="1"/>
          <p:nvPr/>
        </p:nvSpPr>
        <p:spPr>
          <a:xfrm flipH="1">
            <a:off x="6356875" y="13320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Youssef Moharm</a:t>
            </a:r>
            <a:br>
              <a:rPr lang="en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23101517</a:t>
            </a:r>
            <a:endParaRPr sz="1600" b="1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47"/>
          <p:cNvSpPr txBox="1"/>
          <p:nvPr/>
        </p:nvSpPr>
        <p:spPr>
          <a:xfrm flipH="1">
            <a:off x="609600" y="2545906"/>
            <a:ext cx="2177049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Mostafa Waleed</a:t>
            </a:r>
            <a:br>
              <a:rPr lang="en-US" sz="1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23101602</a:t>
            </a:r>
            <a:endParaRPr sz="18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47"/>
          <p:cNvSpPr txBox="1"/>
          <p:nvPr/>
        </p:nvSpPr>
        <p:spPr>
          <a:xfrm flipH="1">
            <a:off x="6356874" y="2545913"/>
            <a:ext cx="2457941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Abdelrahman hamed</a:t>
            </a:r>
            <a:br>
              <a:rPr lang="en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23101420</a:t>
            </a:r>
            <a:endParaRPr sz="1600" b="1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47"/>
          <p:cNvSpPr txBox="1"/>
          <p:nvPr/>
        </p:nvSpPr>
        <p:spPr>
          <a:xfrm flipH="1">
            <a:off x="4866805" y="37591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Veronica Kamil</a:t>
            </a:r>
            <a:b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23100810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47"/>
          <p:cNvSpPr txBox="1"/>
          <p:nvPr/>
        </p:nvSpPr>
        <p:spPr>
          <a:xfrm flipH="1">
            <a:off x="1460913" y="37591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Kerolos </a:t>
            </a:r>
            <a:r>
              <a:rPr lang="en-US" sz="20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nader</a:t>
            </a:r>
            <a:br>
              <a:rPr lang="en-US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23101441</a:t>
            </a:r>
          </a:p>
        </p:txBody>
      </p:sp>
      <p:sp>
        <p:nvSpPr>
          <p:cNvPr id="495" name="Google Shape;495;p47"/>
          <p:cNvSpPr txBox="1"/>
          <p:nvPr/>
        </p:nvSpPr>
        <p:spPr>
          <a:xfrm flipH="1">
            <a:off x="3534813" y="254591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 hassan</a:t>
            </a:r>
            <a:br>
              <a:rPr lang="en" sz="24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24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23101422</a:t>
            </a:r>
            <a:endParaRPr sz="2400" b="1" dirty="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6" name="Google Shape;496;p47"/>
          <p:cNvCxnSpPr>
            <a:stCxn id="488" idx="1"/>
            <a:endCxn id="489" idx="3"/>
          </p:cNvCxnSpPr>
          <p:nvPr/>
        </p:nvCxnSpPr>
        <p:spPr>
          <a:xfrm>
            <a:off x="2786675" y="1754113"/>
            <a:ext cx="748200" cy="0"/>
          </a:xfrm>
          <a:prstGeom prst="straightConnector1">
            <a:avLst/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7" name="Google Shape;497;p47"/>
          <p:cNvCxnSpPr>
            <a:stCxn id="489" idx="1"/>
            <a:endCxn id="490" idx="3"/>
          </p:cNvCxnSpPr>
          <p:nvPr/>
        </p:nvCxnSpPr>
        <p:spPr>
          <a:xfrm>
            <a:off x="5608713" y="1754113"/>
            <a:ext cx="748200" cy="0"/>
          </a:xfrm>
          <a:prstGeom prst="straightConnector1">
            <a:avLst/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8" name="Google Shape;498;p47"/>
          <p:cNvCxnSpPr>
            <a:cxnSpLocks/>
            <a:stCxn id="490" idx="2"/>
            <a:endCxn id="491" idx="0"/>
          </p:cNvCxnSpPr>
          <p:nvPr/>
        </p:nvCxnSpPr>
        <p:spPr>
          <a:xfrm rot="5400000">
            <a:off x="4361129" y="-486791"/>
            <a:ext cx="369693" cy="569570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9" name="Google Shape;499;p47"/>
          <p:cNvCxnSpPr>
            <a:cxnSpLocks/>
            <a:stCxn id="495" idx="1"/>
            <a:endCxn id="492" idx="3"/>
          </p:cNvCxnSpPr>
          <p:nvPr/>
        </p:nvCxnSpPr>
        <p:spPr>
          <a:xfrm>
            <a:off x="5608713" y="2968013"/>
            <a:ext cx="748161" cy="127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0" name="Google Shape;500;p47"/>
          <p:cNvCxnSpPr>
            <a:cxnSpLocks/>
            <a:stCxn id="491" idx="1"/>
            <a:endCxn id="495" idx="3"/>
          </p:cNvCxnSpPr>
          <p:nvPr/>
        </p:nvCxnSpPr>
        <p:spPr>
          <a:xfrm>
            <a:off x="2786649" y="2968006"/>
            <a:ext cx="748164" cy="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1" name="Google Shape;501;p47"/>
          <p:cNvCxnSpPr>
            <a:cxnSpLocks/>
            <a:stCxn id="492" idx="2"/>
            <a:endCxn id="494" idx="0"/>
          </p:cNvCxnSpPr>
          <p:nvPr/>
        </p:nvCxnSpPr>
        <p:spPr>
          <a:xfrm rot="5400000">
            <a:off x="4857354" y="1030623"/>
            <a:ext cx="369000" cy="508798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2" name="Google Shape;502;p47"/>
          <p:cNvCxnSpPr>
            <a:stCxn id="494" idx="1"/>
            <a:endCxn id="493" idx="3"/>
          </p:cNvCxnSpPr>
          <p:nvPr/>
        </p:nvCxnSpPr>
        <p:spPr>
          <a:xfrm>
            <a:off x="3534813" y="4181213"/>
            <a:ext cx="1331992" cy="127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diamond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6771D5C-4D95-10B5-BE02-F9B95505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>
            <a:extLst>
              <a:ext uri="{FF2B5EF4-FFF2-40B4-BE49-F238E27FC236}">
                <a16:creationId xmlns:a16="http://schemas.microsoft.com/office/drawing/2014/main" id="{F509A364-BEA0-7EC6-8E8A-0273BC7E4A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20000" y="597425"/>
            <a:ext cx="77040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000" dirty="0"/>
              <a:t>ANY QUESTIONS ?</a:t>
            </a:r>
            <a:endParaRPr sz="3000" dirty="0"/>
          </a:p>
        </p:txBody>
      </p:sp>
      <p:sp>
        <p:nvSpPr>
          <p:cNvPr id="2" name="Google Shape;85;p18">
            <a:extLst>
              <a:ext uri="{FF2B5EF4-FFF2-40B4-BE49-F238E27FC236}">
                <a16:creationId xmlns:a16="http://schemas.microsoft.com/office/drawing/2014/main" id="{C3D679AD-F33D-3DDD-F793-AF5EE5D60597}"/>
              </a:ext>
            </a:extLst>
          </p:cNvPr>
          <p:cNvSpPr txBox="1">
            <a:spLocks/>
          </p:cNvSpPr>
          <p:nvPr/>
        </p:nvSpPr>
        <p:spPr>
          <a:xfrm>
            <a:off x="720000" y="1862850"/>
            <a:ext cx="77040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r>
              <a:rPr lang="en-US" sz="9600" dirty="0">
                <a:solidFill>
                  <a:schemeClr val="accent2"/>
                </a:solidFill>
              </a:rPr>
              <a:t>THANK YOU</a:t>
            </a:r>
          </a:p>
          <a:p>
            <a:br>
              <a:rPr lang="en-US" sz="9600" dirty="0">
                <a:solidFill>
                  <a:schemeClr val="accent2"/>
                </a:solidFill>
              </a:rPr>
            </a:br>
            <a:endParaRPr lang="en-US" sz="9600" dirty="0">
              <a:solidFill>
                <a:schemeClr val="accent2"/>
              </a:solidFill>
            </a:endParaRPr>
          </a:p>
        </p:txBody>
      </p:sp>
      <p:sp>
        <p:nvSpPr>
          <p:cNvPr id="3" name="Google Shape;85;p18">
            <a:extLst>
              <a:ext uri="{FF2B5EF4-FFF2-40B4-BE49-F238E27FC236}">
                <a16:creationId xmlns:a16="http://schemas.microsoft.com/office/drawing/2014/main" id="{D18E97BE-E720-067A-3B07-ECFF816E7686}"/>
              </a:ext>
            </a:extLst>
          </p:cNvPr>
          <p:cNvSpPr txBox="1">
            <a:spLocks/>
          </p:cNvSpPr>
          <p:nvPr/>
        </p:nvSpPr>
        <p:spPr>
          <a:xfrm>
            <a:off x="4299" y="4048609"/>
            <a:ext cx="4567701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 i="0" u="none" strike="noStrike" cap="none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pPr algn="ctr"/>
            <a:br>
              <a:rPr lang="en-US" sz="1800" dirty="0">
                <a:solidFill>
                  <a:schemeClr val="accent2"/>
                </a:solidFill>
              </a:rPr>
            </a:br>
            <a:r>
              <a:rPr lang="en-US" sz="1800" dirty="0">
                <a:solidFill>
                  <a:schemeClr val="accent2"/>
                </a:solidFill>
              </a:rPr>
              <a:t>super visor doc / Essam Abdellatif </a:t>
            </a:r>
          </a:p>
        </p:txBody>
      </p:sp>
    </p:spTree>
    <p:extLst>
      <p:ext uri="{BB962C8B-B14F-4D97-AF65-F5344CB8AC3E}">
        <p14:creationId xmlns:p14="http://schemas.microsoft.com/office/powerpoint/2010/main" val="960733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mputer Networking Project Proposal Infographics by Slidesgo">
  <a:themeElements>
    <a:clrScheme name="Simple Light">
      <a:dk1>
        <a:srgbClr val="FFFFFF"/>
      </a:dk1>
      <a:lt1>
        <a:srgbClr val="000000"/>
      </a:lt1>
      <a:dk2>
        <a:srgbClr val="171717"/>
      </a:dk2>
      <a:lt2>
        <a:srgbClr val="434343"/>
      </a:lt2>
      <a:accent1>
        <a:srgbClr val="CCCCCC"/>
      </a:accent1>
      <a:accent2>
        <a:srgbClr val="11C7D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1209</Words>
  <Application>Microsoft Office PowerPoint</Application>
  <PresentationFormat>On-screen Show (16:9)</PresentationFormat>
  <Paragraphs>334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Bebas Neue</vt:lpstr>
      <vt:lpstr>Roboto Condensed Light</vt:lpstr>
      <vt:lpstr>Aptos</vt:lpstr>
      <vt:lpstr>Poppins</vt:lpstr>
      <vt:lpstr>Anaheim</vt:lpstr>
      <vt:lpstr>Open Sans</vt:lpstr>
      <vt:lpstr>Encode Sans</vt:lpstr>
      <vt:lpstr>Doppio One</vt:lpstr>
      <vt:lpstr>Nunito Light</vt:lpstr>
      <vt:lpstr>Computer Networking Project Proposal Infographics by Slidesgo</vt:lpstr>
      <vt:lpstr>Computer Networking  New Technical College Campus</vt:lpstr>
      <vt:lpstr>About Modern Technical College Campus</vt:lpstr>
      <vt:lpstr>Network Design Goals</vt:lpstr>
      <vt:lpstr>Modern Technical College Campus buildings</vt:lpstr>
      <vt:lpstr>Administration Building  </vt:lpstr>
      <vt:lpstr>Engineering Building  </vt:lpstr>
      <vt:lpstr>Computer Science Building   </vt:lpstr>
      <vt:lpstr>Library Building</vt:lpstr>
      <vt:lpstr>Campus Buildings &amp; Users</vt:lpstr>
      <vt:lpstr>Network Topology design</vt:lpstr>
      <vt:lpstr>Users / Devices per Building</vt:lpstr>
      <vt:lpstr>Building LAN Subnets</vt:lpstr>
      <vt:lpstr>Main Topology</vt:lpstr>
      <vt:lpstr>High-Level Topology</vt:lpstr>
      <vt:lpstr>High-Level Topology</vt:lpstr>
      <vt:lpstr>Internet Access</vt:lpstr>
      <vt:lpstr>PowerPoint Presentation</vt:lpstr>
      <vt:lpstr>PowerPoint Presentation</vt:lpstr>
      <vt:lpstr>Building LAN Subnets</vt:lpstr>
      <vt:lpstr>Infrastructure &amp; Point-to-Point Links (/30)</vt:lpstr>
      <vt:lpstr>Server Network Subnet</vt:lpstr>
      <vt:lpstr>Network Devices Used</vt:lpstr>
      <vt:lpstr>Cost Calculation with Device Models (EGP)</vt:lpstr>
      <vt:lpstr>IP routing</vt:lpstr>
      <vt:lpstr>DHCP</vt:lpstr>
      <vt:lpstr>ACL </vt:lpstr>
      <vt:lpstr>Campus Login </vt:lpstr>
      <vt:lpstr>Faculty selection </vt:lpstr>
      <vt:lpstr>Computer science Program </vt:lpstr>
      <vt:lpstr>Engineering Departments</vt:lpstr>
      <vt:lpstr>Library Services</vt:lpstr>
      <vt:lpstr>Conclusion</vt:lpstr>
      <vt:lpstr>Team members</vt:lpstr>
      <vt:lpstr>ANY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VENOM👨‍💻🕸️</dc:creator>
  <cp:lastModifiedBy>youssef moharm</cp:lastModifiedBy>
  <cp:revision>239</cp:revision>
  <dcterms:modified xsi:type="dcterms:W3CDTF">2025-12-21T00:48:01Z</dcterms:modified>
</cp:coreProperties>
</file>